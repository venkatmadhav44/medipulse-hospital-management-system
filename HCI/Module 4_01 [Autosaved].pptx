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57" r:id="rId3"/>
    <p:sldId id="258" r:id="rId4"/>
    <p:sldId id="315" r:id="rId5"/>
    <p:sldId id="260"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4" r:id="rId19"/>
    <p:sldId id="310" r:id="rId20"/>
    <p:sldId id="272" r:id="rId21"/>
    <p:sldId id="273" r:id="rId22"/>
    <p:sldId id="275" r:id="rId23"/>
    <p:sldId id="276" r:id="rId24"/>
    <p:sldId id="311" r:id="rId25"/>
    <p:sldId id="312" r:id="rId26"/>
    <p:sldId id="278" r:id="rId27"/>
    <p:sldId id="313" r:id="rId28"/>
    <p:sldId id="314" r:id="rId29"/>
    <p:sldId id="279" r:id="rId30"/>
    <p:sldId id="280" r:id="rId31"/>
    <p:sldId id="281" r:id="rId32"/>
    <p:sldId id="282" r:id="rId33"/>
    <p:sldId id="284" r:id="rId34"/>
    <p:sldId id="283" r:id="rId35"/>
    <p:sldId id="285" r:id="rId36"/>
    <p:sldId id="286" r:id="rId37"/>
    <p:sldId id="287" r:id="rId38"/>
    <p:sldId id="288" r:id="rId39"/>
    <p:sldId id="289" r:id="rId40"/>
    <p:sldId id="290" r:id="rId41"/>
    <p:sldId id="291" r:id="rId42"/>
    <p:sldId id="316"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p:scale>
          <a:sx n="70" d="100"/>
          <a:sy n="70" d="100"/>
        </p:scale>
        <p:origin x="1204"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BFFC9B-8EDD-461B-8B75-ABED396134DD}" type="datetimeFigureOut">
              <a:rPr lang="en-US" smtClean="0"/>
              <a:pPr/>
              <a:t>9/7/2026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7A0DA0-393C-4E29-8614-C25635C77A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57A0DA0-393C-4E29-8614-C25635C77A53}"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C58D6D-1E47-4BF7-8789-6B2B53D7F01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58D6D-1E47-4BF7-8789-6B2B53D7F01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C58D6D-1E47-4BF7-8789-6B2B53D7F01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C58D6D-1E47-4BF7-8789-6B2B53D7F019}"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C58D6D-1E47-4BF7-8789-6B2B53D7F019}" type="datetimeFigureOut">
              <a:rPr lang="en-US" smtClean="0"/>
              <a:pPr/>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C58D6D-1E47-4BF7-8789-6B2B53D7F019}" type="datetimeFigureOut">
              <a:rPr lang="en-US" smtClean="0"/>
              <a:pPr/>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C58D6D-1E47-4BF7-8789-6B2B53D7F019}" type="datetimeFigureOut">
              <a:rPr lang="en-US" smtClean="0"/>
              <a:pPr/>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C58D6D-1E47-4BF7-8789-6B2B53D7F019}"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C58D6D-1E47-4BF7-8789-6B2B53D7F019}"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58D6D-1E47-4BF7-8789-6B2B53D7F01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58D6D-1E47-4BF7-8789-6B2B53D7F01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E5FB61-4FC6-42F8-9823-92849093AED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C58D6D-1E47-4BF7-8789-6B2B53D7F019}" type="datetimeFigureOut">
              <a:rPr lang="en-US" smtClean="0"/>
              <a:pPr/>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E5FB61-4FC6-42F8-9823-92849093AED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Module 4</a:t>
            </a:r>
            <a:endParaRPr lang="en-US" dirty="0"/>
          </a:p>
        </p:txBody>
      </p:sp>
      <p:sp>
        <p:nvSpPr>
          <p:cNvPr id="3" name="Subtitle 2"/>
          <p:cNvSpPr>
            <a:spLocks noGrp="1"/>
          </p:cNvSpPr>
          <p:nvPr>
            <p:ph type="subTitle" idx="1"/>
          </p:nvPr>
        </p:nvSpPr>
        <p:spPr/>
        <p:txBody>
          <a:bodyPr/>
          <a:lstStyle/>
          <a:p>
            <a:r>
              <a:rPr lang="en-US" b="1" dirty="0"/>
              <a:t>INTERACTION DESIGN MODELS 	</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457200" y="1295400"/>
            <a:ext cx="8229600" cy="5181600"/>
          </a:xfrm>
        </p:spPr>
        <p:txBody>
          <a:bodyPr>
            <a:normAutofit fontScale="92500"/>
          </a:bodyPr>
          <a:lstStyle/>
          <a:p>
            <a:r>
              <a:rPr lang="en-US" dirty="0">
                <a:solidFill>
                  <a:srgbClr val="00B050"/>
                </a:solidFill>
              </a:rPr>
              <a:t>Predictive models </a:t>
            </a:r>
            <a:r>
              <a:rPr lang="en-US" dirty="0"/>
              <a:t>such as the Model Human Processor (MHP) and the Keyboard Level Model (KLM), are a priori (pre-experience) models </a:t>
            </a:r>
          </a:p>
          <a:p>
            <a:pPr lvl="1"/>
            <a:r>
              <a:rPr lang="en-US" dirty="0"/>
              <a:t>They give approximations of user actions before real users are brought into the testing environment. </a:t>
            </a:r>
          </a:p>
          <a:p>
            <a:r>
              <a:rPr lang="en-US" dirty="0"/>
              <a:t> </a:t>
            </a:r>
            <a:r>
              <a:rPr lang="en-US" dirty="0">
                <a:solidFill>
                  <a:srgbClr val="00B050"/>
                </a:solidFill>
              </a:rPr>
              <a:t>Descriptive models</a:t>
            </a:r>
            <a:r>
              <a:rPr lang="en-US" dirty="0"/>
              <a:t> such as state networks and the Three-State Model, provide a framework for thinking about user interaction </a:t>
            </a:r>
          </a:p>
          <a:p>
            <a:pPr lvl="1"/>
            <a:r>
              <a:rPr lang="en-US" dirty="0"/>
              <a:t>They can help us to understand how people interact with dynamic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Human Processor (MHP)</a:t>
            </a:r>
          </a:p>
        </p:txBody>
      </p:sp>
      <p:sp>
        <p:nvSpPr>
          <p:cNvPr id="3" name="Content Placeholder 2"/>
          <p:cNvSpPr>
            <a:spLocks noGrp="1"/>
          </p:cNvSpPr>
          <p:nvPr>
            <p:ph idx="1"/>
          </p:nvPr>
        </p:nvSpPr>
        <p:spPr>
          <a:xfrm>
            <a:off x="457200" y="1524000"/>
            <a:ext cx="8382000" cy="5334000"/>
          </a:xfrm>
        </p:spPr>
        <p:txBody>
          <a:bodyPr>
            <a:normAutofit/>
          </a:bodyPr>
          <a:lstStyle/>
          <a:p>
            <a:r>
              <a:rPr lang="en-US" dirty="0"/>
              <a:t>The MHP is a predictive model and is described by a set of memories and processors that function according to a set of principles (principles of operation).</a:t>
            </a:r>
          </a:p>
          <a:p>
            <a:r>
              <a:rPr lang="en-US" dirty="0"/>
              <a:t>MHP helps in designing user-friendly interfaces by understanding human cognitive capabilities and limitations.</a:t>
            </a:r>
          </a:p>
          <a:p>
            <a:r>
              <a:rPr lang="en-US" dirty="0"/>
              <a:t>The Model Human Processor can make general predictions about human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EFB9-50DD-43BA-B18D-F20411D3DFD1}"/>
              </a:ext>
            </a:extLst>
          </p:cNvPr>
          <p:cNvSpPr>
            <a:spLocks noGrp="1"/>
          </p:cNvSpPr>
          <p:nvPr>
            <p:ph type="title"/>
          </p:nvPr>
        </p:nvSpPr>
        <p:spPr>
          <a:xfrm>
            <a:off x="457200" y="274638"/>
            <a:ext cx="8229600" cy="563562"/>
          </a:xfrm>
        </p:spPr>
        <p:txBody>
          <a:bodyPr>
            <a:normAutofit fontScale="90000"/>
          </a:bodyPr>
          <a:lstStyle/>
          <a:p>
            <a:r>
              <a:rPr lang="en-IN" dirty="0"/>
              <a:t>Key Components of MHP</a:t>
            </a:r>
          </a:p>
        </p:txBody>
      </p:sp>
      <p:sp>
        <p:nvSpPr>
          <p:cNvPr id="3" name="Content Placeholder 2">
            <a:extLst>
              <a:ext uri="{FF2B5EF4-FFF2-40B4-BE49-F238E27FC236}">
                <a16:creationId xmlns:a16="http://schemas.microsoft.com/office/drawing/2014/main" id="{4A1E8847-6F55-6296-833C-D2C32D4E2157}"/>
              </a:ext>
            </a:extLst>
          </p:cNvPr>
          <p:cNvSpPr>
            <a:spLocks noGrp="1"/>
          </p:cNvSpPr>
          <p:nvPr>
            <p:ph idx="1"/>
          </p:nvPr>
        </p:nvSpPr>
        <p:spPr>
          <a:xfrm>
            <a:off x="457200" y="1143000"/>
            <a:ext cx="8229600" cy="5715000"/>
          </a:xfrm>
        </p:spPr>
        <p:txBody>
          <a:bodyPr>
            <a:normAutofit fontScale="77500" lnSpcReduction="20000"/>
          </a:bodyPr>
          <a:lstStyle/>
          <a:p>
            <a:r>
              <a:rPr lang="en-US" dirty="0"/>
              <a:t>MHP consists of three primary subsystems, each with its own processor and memory:</a:t>
            </a:r>
          </a:p>
          <a:p>
            <a:pPr>
              <a:buFont typeface="+mj-lt"/>
              <a:buAutoNum type="arabicPeriod"/>
            </a:pPr>
            <a:r>
              <a:rPr lang="en-US" b="1" dirty="0"/>
              <a:t>Perceptual System</a:t>
            </a:r>
            <a:endParaRPr lang="en-US" dirty="0"/>
          </a:p>
          <a:p>
            <a:pPr marL="742950" lvl="1" indent="-285750">
              <a:buFont typeface="+mj-lt"/>
              <a:buAutoNum type="arabicPeriod"/>
            </a:pPr>
            <a:r>
              <a:rPr lang="en-US" dirty="0"/>
              <a:t>Processes </a:t>
            </a:r>
            <a:r>
              <a:rPr lang="en-US" b="1" dirty="0"/>
              <a:t>sensory inputs</a:t>
            </a:r>
            <a:r>
              <a:rPr lang="en-US" dirty="0"/>
              <a:t> (vision, hearing, touch, taste).</a:t>
            </a:r>
          </a:p>
          <a:p>
            <a:pPr marL="742950" lvl="1" indent="-285750">
              <a:buFont typeface="+mj-lt"/>
              <a:buAutoNum type="arabicPeriod"/>
            </a:pPr>
            <a:r>
              <a:rPr lang="en-US" dirty="0"/>
              <a:t>Converts external stimuli into meaningful patterns.</a:t>
            </a:r>
          </a:p>
          <a:p>
            <a:pPr marL="742950" lvl="1" indent="-285750">
              <a:buFont typeface="+mj-lt"/>
              <a:buAutoNum type="arabicPeriod"/>
            </a:pPr>
            <a:r>
              <a:rPr lang="en-US" b="1" dirty="0"/>
              <a:t>Key factors:</a:t>
            </a:r>
            <a:r>
              <a:rPr lang="en-US" dirty="0"/>
              <a:t> Visual acuity, auditory perception, and haptic feedback.</a:t>
            </a:r>
          </a:p>
          <a:p>
            <a:pPr>
              <a:buFont typeface="+mj-lt"/>
              <a:buAutoNum type="arabicPeriod"/>
            </a:pPr>
            <a:r>
              <a:rPr lang="en-US" b="1" dirty="0"/>
              <a:t>Cognitive System</a:t>
            </a:r>
            <a:endParaRPr lang="en-US" dirty="0"/>
          </a:p>
          <a:p>
            <a:pPr marL="742950" lvl="1" indent="-285750">
              <a:buFont typeface="+mj-lt"/>
              <a:buAutoNum type="arabicPeriod"/>
            </a:pPr>
            <a:r>
              <a:rPr lang="en-US" dirty="0"/>
              <a:t>Interprets information and makes decisions.</a:t>
            </a:r>
          </a:p>
          <a:p>
            <a:pPr marL="742950" lvl="1" indent="-285750">
              <a:buFont typeface="+mj-lt"/>
              <a:buAutoNum type="arabicPeriod"/>
            </a:pPr>
            <a:r>
              <a:rPr lang="en-US" dirty="0"/>
              <a:t>Retrieves information from memory.</a:t>
            </a:r>
          </a:p>
          <a:p>
            <a:pPr marL="742950" lvl="1" indent="-285750">
              <a:buFont typeface="+mj-lt"/>
              <a:buAutoNum type="arabicPeriod"/>
            </a:pPr>
            <a:r>
              <a:rPr lang="en-US" b="1" dirty="0"/>
              <a:t>Key functions:</a:t>
            </a:r>
            <a:r>
              <a:rPr lang="en-US" dirty="0"/>
              <a:t> Thinking, reasoning, problem-solving, and learning.</a:t>
            </a:r>
          </a:p>
          <a:p>
            <a:pPr>
              <a:buFont typeface="+mj-lt"/>
              <a:buAutoNum type="arabicPeriod"/>
            </a:pPr>
            <a:r>
              <a:rPr lang="en-US" b="1" dirty="0"/>
              <a:t>Motor System</a:t>
            </a:r>
            <a:endParaRPr lang="en-US" dirty="0"/>
          </a:p>
          <a:p>
            <a:pPr marL="742950" lvl="1" indent="-285750">
              <a:buFont typeface="+mj-lt"/>
              <a:buAutoNum type="arabicPeriod"/>
            </a:pPr>
            <a:r>
              <a:rPr lang="en-US" dirty="0"/>
              <a:t>Executes physical actions based on cognitive decisions.</a:t>
            </a:r>
          </a:p>
          <a:p>
            <a:pPr marL="742950" lvl="1" indent="-285750">
              <a:buFont typeface="+mj-lt"/>
              <a:buAutoNum type="arabicPeriod"/>
            </a:pPr>
            <a:r>
              <a:rPr lang="en-US" dirty="0"/>
              <a:t>Involves muscle movements for tasks like typing, clicking, or gestures.</a:t>
            </a:r>
          </a:p>
          <a:p>
            <a:pPr marL="742950" lvl="1" indent="-285750">
              <a:buFont typeface="+mj-lt"/>
              <a:buAutoNum type="arabicPeriod"/>
            </a:pPr>
            <a:r>
              <a:rPr lang="en-US" b="1" dirty="0"/>
              <a:t>Key factors:</a:t>
            </a:r>
            <a:r>
              <a:rPr lang="en-US" dirty="0"/>
              <a:t> Reaction time, muscle memory, and coordination.</a:t>
            </a:r>
          </a:p>
          <a:p>
            <a:endParaRPr lang="en-IN" dirty="0"/>
          </a:p>
        </p:txBody>
      </p:sp>
    </p:spTree>
    <p:extLst>
      <p:ext uri="{BB962C8B-B14F-4D97-AF65-F5344CB8AC3E}">
        <p14:creationId xmlns:p14="http://schemas.microsoft.com/office/powerpoint/2010/main" val="273963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Human Processor (MHP) </a:t>
            </a:r>
          </a:p>
        </p:txBody>
      </p:sp>
      <p:pic>
        <p:nvPicPr>
          <p:cNvPr id="1026" name="Picture 2"/>
          <p:cNvPicPr>
            <a:picLocks noGrp="1" noChangeAspect="1" noChangeArrowheads="1"/>
          </p:cNvPicPr>
          <p:nvPr>
            <p:ph idx="1"/>
          </p:nvPr>
        </p:nvPicPr>
        <p:blipFill>
          <a:blip r:embed="rId2"/>
          <a:srcRect/>
          <a:stretch>
            <a:fillRect/>
          </a:stretch>
        </p:blipFill>
        <p:spPr bwMode="auto">
          <a:xfrm>
            <a:off x="890587" y="1625222"/>
            <a:ext cx="7362825" cy="495814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Model Human Processor (MHP) </a:t>
            </a:r>
          </a:p>
        </p:txBody>
      </p:sp>
      <p:sp>
        <p:nvSpPr>
          <p:cNvPr id="3" name="Content Placeholder 2"/>
          <p:cNvSpPr>
            <a:spLocks noGrp="1"/>
          </p:cNvSpPr>
          <p:nvPr>
            <p:ph idx="1"/>
          </p:nvPr>
        </p:nvSpPr>
        <p:spPr>
          <a:xfrm>
            <a:off x="457200" y="1219200"/>
            <a:ext cx="8229600" cy="5410200"/>
          </a:xfrm>
        </p:spPr>
        <p:txBody>
          <a:bodyPr>
            <a:normAutofit fontScale="85000" lnSpcReduction="20000"/>
          </a:bodyPr>
          <a:lstStyle/>
          <a:p>
            <a:r>
              <a:rPr lang="en-US" dirty="0"/>
              <a:t>Perceptual system (sensory image stores) </a:t>
            </a:r>
          </a:p>
          <a:p>
            <a:pPr lvl="1"/>
            <a:r>
              <a:rPr lang="en-US" dirty="0"/>
              <a:t>Sensors </a:t>
            </a:r>
          </a:p>
          <a:p>
            <a:pPr lvl="2"/>
            <a:r>
              <a:rPr lang="en-US" dirty="0"/>
              <a:t>eyes, ears, touch, taste </a:t>
            </a:r>
          </a:p>
          <a:p>
            <a:pPr lvl="1"/>
            <a:r>
              <a:rPr lang="en-US" dirty="0"/>
              <a:t>Buffers </a:t>
            </a:r>
          </a:p>
          <a:p>
            <a:pPr lvl="2"/>
            <a:r>
              <a:rPr lang="en-US" dirty="0"/>
              <a:t>Visual memory store (VIS) </a:t>
            </a:r>
          </a:p>
          <a:p>
            <a:pPr lvl="2"/>
            <a:r>
              <a:rPr lang="en-US" dirty="0"/>
              <a:t>Auditory memory store (AIS) </a:t>
            </a:r>
          </a:p>
          <a:p>
            <a:pPr lvl="2"/>
            <a:r>
              <a:rPr lang="en-US" dirty="0"/>
              <a:t>Haptic Memory Store (HIS) </a:t>
            </a:r>
          </a:p>
          <a:p>
            <a:pPr lvl="2"/>
            <a:r>
              <a:rPr lang="en-US" dirty="0"/>
              <a:t>Taste Memory Store (TIS) </a:t>
            </a:r>
          </a:p>
          <a:p>
            <a:r>
              <a:rPr lang="en-US" dirty="0"/>
              <a:t>Cognitive system </a:t>
            </a:r>
          </a:p>
          <a:p>
            <a:pPr lvl="2"/>
            <a:r>
              <a:rPr lang="en-US" dirty="0"/>
              <a:t>Working memory (WM) </a:t>
            </a:r>
          </a:p>
          <a:p>
            <a:pPr lvl="2"/>
            <a:r>
              <a:rPr lang="en-US" dirty="0"/>
              <a:t>Short-term memory </a:t>
            </a:r>
          </a:p>
          <a:p>
            <a:pPr lvl="2"/>
            <a:r>
              <a:rPr lang="en-US" dirty="0"/>
              <a:t>Long-term memory (LTM) </a:t>
            </a:r>
          </a:p>
          <a:p>
            <a:r>
              <a:rPr lang="en-US" dirty="0"/>
              <a:t>Motor system </a:t>
            </a:r>
          </a:p>
          <a:p>
            <a:pPr lvl="2"/>
            <a:r>
              <a:rPr lang="en-US" dirty="0"/>
              <a:t>arm-hand-finger system </a:t>
            </a:r>
          </a:p>
          <a:p>
            <a:pPr lvl="2"/>
            <a:r>
              <a:rPr lang="en-US" dirty="0"/>
              <a:t>head-eye system </a:t>
            </a:r>
          </a:p>
          <a:p>
            <a:pPr lvl="2"/>
            <a:r>
              <a:rPr lang="en-US" dirty="0"/>
              <a:t>leg-foot-toe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MHP – Working Memory</a:t>
            </a:r>
          </a:p>
        </p:txBody>
      </p:sp>
      <p:sp>
        <p:nvSpPr>
          <p:cNvPr id="3" name="Content Placeholder 2"/>
          <p:cNvSpPr>
            <a:spLocks noGrp="1"/>
          </p:cNvSpPr>
          <p:nvPr>
            <p:ph idx="1"/>
          </p:nvPr>
        </p:nvSpPr>
        <p:spPr>
          <a:xfrm>
            <a:off x="304800" y="1066800"/>
            <a:ext cx="8382000" cy="5638800"/>
          </a:xfrm>
        </p:spPr>
        <p:txBody>
          <a:bodyPr>
            <a:normAutofit fontScale="85000" lnSpcReduction="10000"/>
          </a:bodyPr>
          <a:lstStyle/>
          <a:p>
            <a:r>
              <a:rPr lang="en-US" dirty="0"/>
              <a:t>WM consists of a subset of “activated” elements from LTM (long term memory) </a:t>
            </a:r>
          </a:p>
          <a:p>
            <a:r>
              <a:rPr lang="en-US" dirty="0"/>
              <a:t>The SISs (Sensory Image Store, VIS, AIS..) encode only the non-symbolic physical parameters of stimuli. </a:t>
            </a:r>
          </a:p>
          <a:p>
            <a:r>
              <a:rPr lang="en-US" dirty="0"/>
              <a:t>The Sensory Image Store (SIS) captures raw sensory data before converting it into symbols.</a:t>
            </a:r>
          </a:p>
          <a:p>
            <a:pPr lvl="1">
              <a:buFont typeface="Arial" panose="020B0604020202020204" pitchFamily="34" charset="0"/>
              <a:buChar char="•"/>
            </a:pPr>
            <a:r>
              <a:rPr lang="en-US" dirty="0"/>
              <a:t>Ex: VIS processes images/icons before recognizing them as meaningful symbols.</a:t>
            </a:r>
          </a:p>
          <a:p>
            <a:pPr lvl="1">
              <a:buFont typeface="Arial" panose="020B0604020202020204" pitchFamily="34" charset="0"/>
              <a:buChar char="•"/>
            </a:pPr>
            <a:r>
              <a:rPr lang="en-US" dirty="0"/>
              <a:t>AIS holds sounds before users interpret them as words or commands.</a:t>
            </a:r>
          </a:p>
          <a:p>
            <a:r>
              <a:rPr lang="en-US" dirty="0"/>
              <a:t>Shortly after seeing or hearing a stimulus, WM converts it into a symbolic form, making it easier to process.</a:t>
            </a:r>
          </a:p>
          <a:p>
            <a:pPr lvl="1">
              <a:buFont typeface="Arial" panose="020B0604020202020204" pitchFamily="34" charset="0"/>
              <a:buChar char="•"/>
            </a:pPr>
            <a:r>
              <a:rPr lang="en-US" dirty="0"/>
              <a:t>Ex: Seeing a red button with a trash icon → Recognizing </a:t>
            </a:r>
          </a:p>
          <a:p>
            <a:pPr marL="457200" lvl="1" indent="0">
              <a:buNone/>
            </a:pPr>
            <a:r>
              <a:rPr lang="en-US" dirty="0"/>
              <a:t>it as a delete action.</a:t>
            </a:r>
          </a:p>
          <a:p>
            <a:endParaRPr lang="en-US" dirty="0"/>
          </a:p>
        </p:txBody>
      </p:sp>
      <p:pic>
        <p:nvPicPr>
          <p:cNvPr id="5" name="Picture 4">
            <a:extLst>
              <a:ext uri="{FF2B5EF4-FFF2-40B4-BE49-F238E27FC236}">
                <a16:creationId xmlns:a16="http://schemas.microsoft.com/office/drawing/2014/main" id="{BA4C02FA-C9FA-1D04-6FF0-FE69E379F0C6}"/>
              </a:ext>
            </a:extLst>
          </p:cNvPr>
          <p:cNvPicPr>
            <a:picLocks noChangeAspect="1"/>
          </p:cNvPicPr>
          <p:nvPr/>
        </p:nvPicPr>
        <p:blipFill>
          <a:blip r:embed="rId2"/>
          <a:stretch>
            <a:fillRect/>
          </a:stretch>
        </p:blipFill>
        <p:spPr>
          <a:xfrm>
            <a:off x="8227970" y="5921829"/>
            <a:ext cx="611230" cy="76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MHP – Working Memory</a:t>
            </a:r>
          </a:p>
        </p:txBody>
      </p:sp>
      <p:sp>
        <p:nvSpPr>
          <p:cNvPr id="3" name="Content Placeholder 2"/>
          <p:cNvSpPr>
            <a:spLocks noGrp="1"/>
          </p:cNvSpPr>
          <p:nvPr>
            <p:ph idx="1"/>
          </p:nvPr>
        </p:nvSpPr>
        <p:spPr>
          <a:xfrm>
            <a:off x="457200" y="1219200"/>
            <a:ext cx="8229600" cy="5364162"/>
          </a:xfrm>
        </p:spPr>
        <p:txBody>
          <a:bodyPr>
            <a:normAutofit fontScale="85000" lnSpcReduction="20000"/>
          </a:bodyPr>
          <a:lstStyle/>
          <a:p>
            <a:r>
              <a:rPr lang="en-US" dirty="0"/>
              <a:t>Working Memory (WM) holds "activated elements" from Long-Term Memory (LTM)..</a:t>
            </a:r>
          </a:p>
          <a:p>
            <a:r>
              <a:rPr lang="en-US" dirty="0"/>
              <a:t>The activated elements from LTM are called chunks. </a:t>
            </a:r>
          </a:p>
          <a:p>
            <a:pPr lvl="1"/>
            <a:r>
              <a:rPr lang="en-US" dirty="0"/>
              <a:t>Chunks are meaningful units of information grouped together for easier processing</a:t>
            </a:r>
          </a:p>
          <a:p>
            <a:pPr lvl="1"/>
            <a:r>
              <a:rPr lang="en-US" dirty="0"/>
              <a:t>Chunks can be composed of smaller units like the letters in a word </a:t>
            </a:r>
          </a:p>
          <a:p>
            <a:pPr lvl="1"/>
            <a:r>
              <a:rPr lang="en-US" dirty="0"/>
              <a:t>A chunk might also consist of several words, as in a well-known phrase</a:t>
            </a:r>
          </a:p>
          <a:p>
            <a:r>
              <a:rPr lang="en-US" dirty="0"/>
              <a:t>Chunks in WM can interfere with each other due to LTM associations </a:t>
            </a:r>
          </a:p>
          <a:p>
            <a:r>
              <a:rPr lang="en-US" dirty="0"/>
              <a:t>Similar chunks stored in LTM can create confusion in WM due to associations.</a:t>
            </a:r>
          </a:p>
          <a:p>
            <a:pPr lvl="1"/>
            <a:r>
              <a:rPr lang="en-US" dirty="0"/>
              <a:t>Example: If a UI uses similar icons for "Save" and "Submit," users may mix them up.</a:t>
            </a:r>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MHP – Long-Term Memory</a:t>
            </a:r>
          </a:p>
        </p:txBody>
      </p:sp>
      <p:sp>
        <p:nvSpPr>
          <p:cNvPr id="3" name="Content Placeholder 2"/>
          <p:cNvSpPr>
            <a:spLocks noGrp="1"/>
          </p:cNvSpPr>
          <p:nvPr>
            <p:ph idx="1"/>
          </p:nvPr>
        </p:nvSpPr>
        <p:spPr/>
        <p:txBody>
          <a:bodyPr>
            <a:normAutofit lnSpcReduction="10000"/>
          </a:bodyPr>
          <a:lstStyle/>
          <a:p>
            <a:r>
              <a:rPr lang="en-US" dirty="0"/>
              <a:t>The cognitive processor can add items to WM but not to LTM </a:t>
            </a:r>
          </a:p>
          <a:p>
            <a:r>
              <a:rPr lang="en-US" dirty="0"/>
              <a:t>The WM must interact with LTM over a significant length of time before an item can be stored in LTM </a:t>
            </a:r>
          </a:p>
          <a:p>
            <a:r>
              <a:rPr lang="en-US" dirty="0"/>
              <a:t>This increases the number of cues that can be used to retrieve the item later </a:t>
            </a:r>
          </a:p>
          <a:p>
            <a:r>
              <a:rPr lang="en-US" dirty="0"/>
              <a:t>Items with numerous associations have a greater probability of being retrieved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MHP – Processor Timing </a:t>
            </a:r>
          </a:p>
        </p:txBody>
      </p:sp>
      <p:sp>
        <p:nvSpPr>
          <p:cNvPr id="3" name="Content Placeholder 2"/>
          <p:cNvSpPr>
            <a:spLocks noGrp="1"/>
          </p:cNvSpPr>
          <p:nvPr>
            <p:ph idx="1"/>
          </p:nvPr>
        </p:nvSpPr>
        <p:spPr/>
        <p:txBody>
          <a:bodyPr>
            <a:normAutofit fontScale="92500"/>
          </a:bodyPr>
          <a:lstStyle/>
          <a:p>
            <a:r>
              <a:rPr lang="en-US" dirty="0"/>
              <a:t>Perceptual—The perceptual system captures physical sensations by way of the visual and auditory receptor channels </a:t>
            </a:r>
          </a:p>
          <a:p>
            <a:r>
              <a:rPr lang="en-US" dirty="0"/>
              <a:t>Perceptual decay is shorter for the visual channel than for the auditory channel </a:t>
            </a:r>
          </a:p>
          <a:p>
            <a:r>
              <a:rPr lang="en-US" dirty="0"/>
              <a:t>Perceptual processor cycle time is variable according to the nature of the stimuli Perceptual </a:t>
            </a:r>
          </a:p>
          <a:p>
            <a:pPr>
              <a:buNone/>
            </a:pPr>
            <a:r>
              <a:rPr lang="en-US" dirty="0"/>
              <a:t>		</a:t>
            </a:r>
            <a:r>
              <a:rPr lang="en-US" dirty="0">
                <a:solidFill>
                  <a:srgbClr val="0070C0"/>
                </a:solidFill>
              </a:rPr>
              <a:t>Processor cycle time = [50-200] </a:t>
            </a:r>
            <a:r>
              <a:rPr lang="en-US" dirty="0" err="1">
                <a:solidFill>
                  <a:srgbClr val="0070C0"/>
                </a:solidFill>
              </a:rPr>
              <a:t>msecs</a:t>
            </a:r>
            <a:r>
              <a:rPr lang="en-US" dirty="0">
                <a:solidFill>
                  <a:srgbClr val="0070C0"/>
                </a:solidFill>
              </a:rPr>
              <a:t> (approx. 0.2 sec)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MHP – Processor Timing</a:t>
            </a:r>
          </a:p>
        </p:txBody>
      </p:sp>
      <p:sp>
        <p:nvSpPr>
          <p:cNvPr id="3" name="Content Placeholder 2"/>
          <p:cNvSpPr>
            <a:spLocks noGrp="1"/>
          </p:cNvSpPr>
          <p:nvPr>
            <p:ph idx="1"/>
          </p:nvPr>
        </p:nvSpPr>
        <p:spPr/>
        <p:txBody>
          <a:bodyPr/>
          <a:lstStyle/>
          <a:p>
            <a:r>
              <a:rPr lang="en-US" dirty="0"/>
              <a:t>Cognitive—The cognitive system bridges the perceptual and motor systems </a:t>
            </a:r>
          </a:p>
          <a:p>
            <a:r>
              <a:rPr lang="en-US" dirty="0"/>
              <a:t>It can function as a simple conduit or it can involve complex processes, such as learning, fact retrieval, and problem solving </a:t>
            </a:r>
          </a:p>
          <a:p>
            <a:r>
              <a:rPr lang="en-US" dirty="0"/>
              <a:t>Cognitive coding in the WM is predominantly visual and auditory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MHP – Processor Timing</a:t>
            </a:r>
          </a:p>
        </p:txBody>
      </p:sp>
      <p:sp>
        <p:nvSpPr>
          <p:cNvPr id="3" name="Content Placeholder 2"/>
          <p:cNvSpPr>
            <a:spLocks noGrp="1"/>
          </p:cNvSpPr>
          <p:nvPr>
            <p:ph idx="1"/>
          </p:nvPr>
        </p:nvSpPr>
        <p:spPr>
          <a:xfrm>
            <a:off x="457200" y="1371600"/>
            <a:ext cx="8229600" cy="5257800"/>
          </a:xfrm>
        </p:spPr>
        <p:txBody>
          <a:bodyPr>
            <a:normAutofit fontScale="92500" lnSpcReduction="20000"/>
          </a:bodyPr>
          <a:lstStyle/>
          <a:p>
            <a:r>
              <a:rPr lang="en-US" dirty="0"/>
              <a:t>Cognitive coding in LTM is involved with associations and is considered to be predominantly semantic </a:t>
            </a:r>
          </a:p>
          <a:p>
            <a:r>
              <a:rPr lang="en-US" dirty="0"/>
              <a:t>Cognitive decay time of WM requires a large range </a:t>
            </a:r>
          </a:p>
          <a:p>
            <a:r>
              <a:rPr lang="en-US" dirty="0"/>
              <a:t>Cognitive decay is highly sensitive to the number of chunks involved in the recalled item</a:t>
            </a:r>
          </a:p>
          <a:p>
            <a:r>
              <a:rPr lang="en-US" dirty="0"/>
              <a:t>Learning occurs through cognitive memory structures, which perceive, process, store for short- or long-term recall and retrieve information, located in the brain. Learning occurs through internal processing of information.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MHP – Processor Timing</a:t>
            </a:r>
          </a:p>
        </p:txBody>
      </p:sp>
      <p:sp>
        <p:nvSpPr>
          <p:cNvPr id="3" name="Content Placeholder 2"/>
          <p:cNvSpPr>
            <a:spLocks noGrp="1"/>
          </p:cNvSpPr>
          <p:nvPr>
            <p:ph idx="1"/>
          </p:nvPr>
        </p:nvSpPr>
        <p:spPr/>
        <p:txBody>
          <a:bodyPr/>
          <a:lstStyle/>
          <a:p>
            <a:r>
              <a:rPr lang="en-US" dirty="0"/>
              <a:t>Cognitive decay of LTM is considered infinite </a:t>
            </a:r>
          </a:p>
          <a:p>
            <a:r>
              <a:rPr lang="en-US" dirty="0"/>
              <a:t>Cognitive processor cycle time is variable according to the nature of the stimuli </a:t>
            </a:r>
          </a:p>
          <a:p>
            <a:r>
              <a:rPr lang="en-US" dirty="0"/>
              <a:t> </a:t>
            </a:r>
            <a:r>
              <a:rPr lang="en-US" dirty="0">
                <a:solidFill>
                  <a:srgbClr val="0070C0"/>
                </a:solidFill>
              </a:rPr>
              <a:t>Motor</a:t>
            </a:r>
            <a:r>
              <a:rPr lang="en-US" dirty="0"/>
              <a:t>—The motor system converts thought into action </a:t>
            </a:r>
          </a:p>
          <a:p>
            <a:r>
              <a:rPr lang="en-US" dirty="0"/>
              <a:t>Motor processor cycle time is calculated in units of discrete micro-movements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dirty="0"/>
              <a:t>Cognition Example</a:t>
            </a:r>
            <a:endParaRPr lang="en-US" dirty="0"/>
          </a:p>
        </p:txBody>
      </p:sp>
      <p:sp>
        <p:nvSpPr>
          <p:cNvPr id="3" name="Content Placeholder 2"/>
          <p:cNvSpPr>
            <a:spLocks noGrp="1"/>
          </p:cNvSpPr>
          <p:nvPr>
            <p:ph idx="1"/>
          </p:nvPr>
        </p:nvSpPr>
        <p:spPr>
          <a:xfrm>
            <a:off x="457200" y="1066800"/>
            <a:ext cx="8229600" cy="4525963"/>
          </a:xfrm>
        </p:spPr>
        <p:txBody>
          <a:bodyPr/>
          <a:lstStyle/>
          <a:p>
            <a:r>
              <a:rPr lang="en-US" b="1" dirty="0"/>
              <a:t>Perception/LTM interaction</a:t>
            </a:r>
            <a:br>
              <a:rPr lang="en-US" b="1" dirty="0"/>
            </a:br>
            <a:r>
              <a:rPr lang="en-US" b="1" dirty="0"/>
              <a:t>Read out the </a:t>
            </a:r>
            <a:r>
              <a:rPr lang="en-US" b="1" dirty="0" err="1"/>
              <a:t>colours</a:t>
            </a:r>
            <a:r>
              <a:rPr lang="en-US" b="1" dirty="0"/>
              <a:t> and time it T1</a:t>
            </a:r>
            <a:endParaRPr lang="en-US" dirty="0"/>
          </a:p>
        </p:txBody>
      </p:sp>
      <p:pic>
        <p:nvPicPr>
          <p:cNvPr id="1026" name="Picture 2"/>
          <p:cNvPicPr>
            <a:picLocks noChangeAspect="1" noChangeArrowheads="1"/>
          </p:cNvPicPr>
          <p:nvPr/>
        </p:nvPicPr>
        <p:blipFill>
          <a:blip r:embed="rId2"/>
          <a:srcRect/>
          <a:stretch>
            <a:fillRect/>
          </a:stretch>
        </p:blipFill>
        <p:spPr bwMode="auto">
          <a:xfrm>
            <a:off x="3124200" y="2228850"/>
            <a:ext cx="2886075" cy="46291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a:t>
            </a:r>
          </a:p>
        </p:txBody>
      </p:sp>
      <p:sp>
        <p:nvSpPr>
          <p:cNvPr id="3" name="Content Placeholder 2"/>
          <p:cNvSpPr>
            <a:spLocks noGrp="1"/>
          </p:cNvSpPr>
          <p:nvPr>
            <p:ph idx="1"/>
          </p:nvPr>
        </p:nvSpPr>
        <p:spPr>
          <a:xfrm>
            <a:off x="457200" y="1447800"/>
            <a:ext cx="8229600" cy="4525963"/>
          </a:xfrm>
        </p:spPr>
        <p:txBody>
          <a:bodyPr/>
          <a:lstStyle/>
          <a:p>
            <a:r>
              <a:rPr lang="en-US" b="1" dirty="0"/>
              <a:t>Perception Speed: Time it, T2, T1 &gt; T2</a:t>
            </a:r>
            <a:endParaRPr lang="en-US" dirty="0"/>
          </a:p>
        </p:txBody>
      </p:sp>
      <p:pic>
        <p:nvPicPr>
          <p:cNvPr id="2050" name="Picture 2"/>
          <p:cNvPicPr>
            <a:picLocks noChangeAspect="1" noChangeArrowheads="1"/>
          </p:cNvPicPr>
          <p:nvPr/>
        </p:nvPicPr>
        <p:blipFill>
          <a:blip r:embed="rId2"/>
          <a:srcRect/>
          <a:stretch>
            <a:fillRect/>
          </a:stretch>
        </p:blipFill>
        <p:spPr bwMode="auto">
          <a:xfrm>
            <a:off x="3352800" y="2209800"/>
            <a:ext cx="2324100" cy="444817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Cont..</a:t>
            </a:r>
          </a:p>
        </p:txBody>
      </p:sp>
      <p:sp>
        <p:nvSpPr>
          <p:cNvPr id="3" name="Content Placeholder 2"/>
          <p:cNvSpPr>
            <a:spLocks noGrp="1"/>
          </p:cNvSpPr>
          <p:nvPr>
            <p:ph idx="1"/>
          </p:nvPr>
        </p:nvSpPr>
        <p:spPr/>
        <p:txBody>
          <a:bodyPr/>
          <a:lstStyle/>
          <a:p>
            <a:r>
              <a:rPr lang="en-US" b="1" dirty="0"/>
              <a:t>Memory is Associative</a:t>
            </a:r>
            <a:endParaRPr lang="en-US" dirty="0"/>
          </a:p>
        </p:txBody>
      </p:sp>
      <p:pic>
        <p:nvPicPr>
          <p:cNvPr id="3074" name="Picture 2"/>
          <p:cNvPicPr>
            <a:picLocks noChangeAspect="1" noChangeArrowheads="1"/>
          </p:cNvPicPr>
          <p:nvPr/>
        </p:nvPicPr>
        <p:blipFill>
          <a:blip r:embed="rId2"/>
          <a:srcRect/>
          <a:stretch>
            <a:fillRect/>
          </a:stretch>
        </p:blipFill>
        <p:spPr bwMode="auto">
          <a:xfrm>
            <a:off x="1447800" y="2819400"/>
            <a:ext cx="6210300" cy="241935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 Human Processor (MHP)</a:t>
            </a:r>
            <a:endParaRPr lang="en-US" dirty="0"/>
          </a:p>
        </p:txBody>
      </p:sp>
      <p:pic>
        <p:nvPicPr>
          <p:cNvPr id="4" name="Picture 2"/>
          <p:cNvPicPr>
            <a:picLocks noGrp="1" noChangeAspect="1" noChangeArrowheads="1"/>
          </p:cNvPicPr>
          <p:nvPr>
            <p:ph idx="1"/>
          </p:nvPr>
        </p:nvPicPr>
        <p:blipFill>
          <a:blip r:embed="rId2"/>
          <a:srcRect/>
          <a:stretch>
            <a:fillRect/>
          </a:stretch>
        </p:blipFill>
        <p:spPr bwMode="auto">
          <a:xfrm>
            <a:off x="1095375" y="1901031"/>
            <a:ext cx="6953250" cy="39243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 Human Processor (MHP)</a:t>
            </a:r>
            <a:endParaRPr lang="en-US" dirty="0"/>
          </a:p>
        </p:txBody>
      </p:sp>
      <p:pic>
        <p:nvPicPr>
          <p:cNvPr id="5123" name="Picture 3"/>
          <p:cNvPicPr>
            <a:picLocks noChangeAspect="1" noChangeArrowheads="1"/>
          </p:cNvPicPr>
          <p:nvPr/>
        </p:nvPicPr>
        <p:blipFill>
          <a:blip r:embed="rId2"/>
          <a:srcRect/>
          <a:stretch>
            <a:fillRect/>
          </a:stretch>
        </p:blipFill>
        <p:spPr bwMode="auto">
          <a:xfrm>
            <a:off x="990600" y="1600200"/>
            <a:ext cx="7391400" cy="4729917"/>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 Human Processor (MHP)</a:t>
            </a:r>
            <a:endParaRPr lang="en-US" dirty="0"/>
          </a:p>
        </p:txBody>
      </p:sp>
      <p:pic>
        <p:nvPicPr>
          <p:cNvPr id="46082" name="Picture 2" descr="SVG version of Human Processor Model"/>
          <p:cNvPicPr>
            <a:picLocks noChangeAspect="1" noChangeArrowheads="1"/>
          </p:cNvPicPr>
          <p:nvPr/>
        </p:nvPicPr>
        <p:blipFill>
          <a:blip r:embed="rId2"/>
          <a:srcRect/>
          <a:stretch>
            <a:fillRect/>
          </a:stretch>
        </p:blipFill>
        <p:spPr bwMode="auto">
          <a:xfrm>
            <a:off x="1219200" y="1295400"/>
            <a:ext cx="6858000" cy="55626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Timing values: Human Processor Model</a:t>
            </a:r>
            <a:endParaRPr lang="en-US" sz="3600" dirty="0"/>
          </a:p>
        </p:txBody>
      </p:sp>
      <p:pic>
        <p:nvPicPr>
          <p:cNvPr id="4098" name="Picture 2"/>
          <p:cNvPicPr>
            <a:picLocks noGrp="1" noChangeAspect="1" noChangeArrowheads="1"/>
          </p:cNvPicPr>
          <p:nvPr>
            <p:ph idx="1"/>
          </p:nvPr>
        </p:nvPicPr>
        <p:blipFill>
          <a:blip r:embed="rId2"/>
          <a:srcRect/>
          <a:stretch>
            <a:fillRect/>
          </a:stretch>
        </p:blipFill>
        <p:spPr bwMode="auto">
          <a:xfrm>
            <a:off x="793291" y="1384379"/>
            <a:ext cx="7664909" cy="5245021"/>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MHP – Principles of Operation</a:t>
            </a:r>
            <a:endParaRPr lang="en-US" sz="3600" dirty="0"/>
          </a:p>
        </p:txBody>
      </p:sp>
      <p:pic>
        <p:nvPicPr>
          <p:cNvPr id="6147" name="Picture 3"/>
          <p:cNvPicPr>
            <a:picLocks noChangeAspect="1" noChangeArrowheads="1"/>
          </p:cNvPicPr>
          <p:nvPr/>
        </p:nvPicPr>
        <p:blipFill>
          <a:blip r:embed="rId2"/>
          <a:srcRect/>
          <a:stretch>
            <a:fillRect/>
          </a:stretch>
        </p:blipFill>
        <p:spPr bwMode="auto">
          <a:xfrm>
            <a:off x="533400" y="1600200"/>
            <a:ext cx="8048090" cy="39624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MHP – Principles of Operation</a:t>
            </a:r>
            <a:endParaRPr lang="en-US" sz="3600" dirty="0"/>
          </a:p>
        </p:txBody>
      </p:sp>
      <p:pic>
        <p:nvPicPr>
          <p:cNvPr id="7170" name="Picture 2"/>
          <p:cNvPicPr>
            <a:picLocks noGrp="1" noChangeAspect="1" noChangeArrowheads="1"/>
          </p:cNvPicPr>
          <p:nvPr>
            <p:ph idx="1"/>
          </p:nvPr>
        </p:nvPicPr>
        <p:blipFill>
          <a:blip r:embed="rId3"/>
          <a:srcRect/>
          <a:stretch>
            <a:fillRect/>
          </a:stretch>
        </p:blipFill>
        <p:spPr bwMode="auto">
          <a:xfrm>
            <a:off x="533400" y="1752600"/>
            <a:ext cx="8134597" cy="36576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MHP – Principles of Operation</a:t>
            </a:r>
            <a:endParaRPr lang="en-US" sz="3600" dirty="0"/>
          </a:p>
        </p:txBody>
      </p:sp>
      <p:sp>
        <p:nvSpPr>
          <p:cNvPr id="3" name="Content Placeholder 2"/>
          <p:cNvSpPr>
            <a:spLocks noGrp="1"/>
          </p:cNvSpPr>
          <p:nvPr>
            <p:ph idx="1"/>
          </p:nvPr>
        </p:nvSpPr>
        <p:spPr>
          <a:xfrm>
            <a:off x="457200" y="1295400"/>
            <a:ext cx="8382000" cy="5334000"/>
          </a:xfrm>
        </p:spPr>
        <p:txBody>
          <a:bodyPr>
            <a:normAutofit lnSpcReduction="10000"/>
          </a:bodyPr>
          <a:lstStyle/>
          <a:p>
            <a:pPr>
              <a:buNone/>
            </a:pPr>
            <a:r>
              <a:rPr lang="en-US" b="1" dirty="0">
                <a:solidFill>
                  <a:srgbClr val="FF0000"/>
                </a:solidFill>
              </a:rPr>
              <a:t>P4: Cognitive Processor Rate</a:t>
            </a:r>
            <a:endParaRPr lang="en-US" dirty="0">
              <a:solidFill>
                <a:srgbClr val="FF0000"/>
              </a:solidFill>
            </a:endParaRPr>
          </a:p>
          <a:p>
            <a:r>
              <a:rPr lang="en-US" b="1" dirty="0"/>
              <a:t>Variable Rate Principle</a:t>
            </a:r>
            <a:endParaRPr lang="en-US" dirty="0"/>
          </a:p>
          <a:p>
            <a:r>
              <a:rPr lang="en-US" b="1" dirty="0"/>
              <a:t>Cycle time </a:t>
            </a:r>
            <a:r>
              <a:rPr lang="en-US" b="1" dirty="0" err="1"/>
              <a:t>Tc</a:t>
            </a:r>
            <a:r>
              <a:rPr lang="en-US" b="1" dirty="0"/>
              <a:t> is shorter when greater effort is induced by increased task demands or information loads; it also diminishes with practice.</a:t>
            </a:r>
            <a:endParaRPr lang="en-US" dirty="0"/>
          </a:p>
          <a:p>
            <a:r>
              <a:rPr lang="en-US" b="1" dirty="0"/>
              <a:t>Cognitive processing becomes faster</a:t>
            </a:r>
            <a:endParaRPr lang="en-US" dirty="0"/>
          </a:p>
          <a:p>
            <a:pPr lvl="1"/>
            <a:r>
              <a:rPr lang="en-US" b="1" dirty="0"/>
              <a:t>Under increased task demands (e.g. panic situations)</a:t>
            </a:r>
            <a:endParaRPr lang="en-US" dirty="0"/>
          </a:p>
          <a:p>
            <a:pPr lvl="1"/>
            <a:r>
              <a:rPr lang="en-US" b="1" dirty="0"/>
              <a:t>After practice</a:t>
            </a:r>
            <a:endParaRPr lang="en-US" dirty="0"/>
          </a:p>
          <a:p>
            <a:pPr>
              <a:buNone/>
            </a:pPr>
            <a:r>
              <a:rPr lang="en-US" b="1" dirty="0"/>
              <a:t>	</a:t>
            </a:r>
            <a:endParaRPr lang="en-US" dirty="0"/>
          </a:p>
          <a:p>
            <a:pP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MHP – Principles of Operation</a:t>
            </a:r>
            <a:endParaRPr lang="en-US" dirty="0"/>
          </a:p>
        </p:txBody>
      </p:sp>
      <p:sp>
        <p:nvSpPr>
          <p:cNvPr id="3" name="Content Placeholder 2"/>
          <p:cNvSpPr>
            <a:spLocks noGrp="1"/>
          </p:cNvSpPr>
          <p:nvPr>
            <p:ph idx="1"/>
          </p:nvPr>
        </p:nvSpPr>
        <p:spPr>
          <a:xfrm>
            <a:off x="457200" y="1219200"/>
            <a:ext cx="8229600" cy="5410200"/>
          </a:xfrm>
        </p:spPr>
        <p:txBody>
          <a:bodyPr>
            <a:normAutofit fontScale="77500" lnSpcReduction="20000"/>
          </a:bodyPr>
          <a:lstStyle/>
          <a:p>
            <a:pPr>
              <a:buNone/>
            </a:pPr>
            <a:r>
              <a:rPr lang="en-US" sz="4100" b="1" dirty="0"/>
              <a:t>P5 : </a:t>
            </a:r>
            <a:r>
              <a:rPr lang="en-US" sz="4100" b="1" dirty="0" err="1"/>
              <a:t>Fitt’s</a:t>
            </a:r>
            <a:r>
              <a:rPr lang="en-US" sz="4100" b="1" dirty="0"/>
              <a:t> Law</a:t>
            </a:r>
          </a:p>
          <a:p>
            <a:r>
              <a:rPr lang="en-US" dirty="0"/>
              <a:t>The relationship between the time it takes a </a:t>
            </a:r>
            <a:r>
              <a:rPr lang="en-US" b="1" dirty="0"/>
              <a:t>pointer</a:t>
            </a:r>
            <a:r>
              <a:rPr lang="en-US" dirty="0"/>
              <a:t> (such as a mouse cursor, a human finger, or a hand) to move to a particular </a:t>
            </a:r>
            <a:r>
              <a:rPr lang="en-US" b="1" dirty="0"/>
              <a:t>target</a:t>
            </a:r>
            <a:r>
              <a:rPr lang="en-US" dirty="0"/>
              <a:t> (e.g., physical or digital button, a physical object) in order to interact with it in some way (e.g., by clicking or tapping it, grasping it, etc.)</a:t>
            </a:r>
          </a:p>
          <a:p>
            <a:endParaRPr lang="en-US" dirty="0"/>
          </a:p>
          <a:p>
            <a:endParaRPr lang="en-US" dirty="0"/>
          </a:p>
          <a:p>
            <a:endParaRPr lang="en-US" dirty="0"/>
          </a:p>
          <a:p>
            <a:endParaRPr lang="en-US" dirty="0"/>
          </a:p>
          <a:p>
            <a:endParaRPr lang="en-US" dirty="0"/>
          </a:p>
          <a:p>
            <a:r>
              <a:rPr lang="en-US" i="1" dirty="0"/>
              <a:t>D</a:t>
            </a:r>
            <a:r>
              <a:rPr lang="en-US" dirty="0"/>
              <a:t> is the distance to the target, </a:t>
            </a:r>
            <a:r>
              <a:rPr lang="en-US" i="1" dirty="0"/>
              <a:t>w</a:t>
            </a:r>
            <a:r>
              <a:rPr lang="en-US" dirty="0"/>
              <a:t> is the width of the target (technically, measured along the axis of movement), and </a:t>
            </a:r>
            <a:r>
              <a:rPr lang="en-US" i="1" dirty="0"/>
              <a:t>a</a:t>
            </a:r>
            <a:r>
              <a:rPr lang="en-US" dirty="0"/>
              <a:t> and </a:t>
            </a:r>
            <a:r>
              <a:rPr lang="en-US" i="1" dirty="0"/>
              <a:t>b</a:t>
            </a:r>
            <a:r>
              <a:rPr lang="en-US" dirty="0"/>
              <a:t> are constants that vary depending on the type of pointer (e.g., mouse, finger, etc.).</a:t>
            </a:r>
          </a:p>
          <a:p>
            <a:endParaRPr lang="en-US" dirty="0"/>
          </a:p>
        </p:txBody>
      </p:sp>
      <p:pic>
        <p:nvPicPr>
          <p:cNvPr id="4" name="Picture 2"/>
          <p:cNvPicPr>
            <a:picLocks noChangeAspect="1" noChangeArrowheads="1"/>
          </p:cNvPicPr>
          <p:nvPr/>
        </p:nvPicPr>
        <p:blipFill>
          <a:blip r:embed="rId2"/>
          <a:srcRect/>
          <a:stretch>
            <a:fillRect/>
          </a:stretch>
        </p:blipFill>
        <p:spPr bwMode="auto">
          <a:xfrm>
            <a:off x="1371600" y="3657600"/>
            <a:ext cx="2714625" cy="1047750"/>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a:stretch>
            <a:fillRect/>
          </a:stretch>
        </p:blipFill>
        <p:spPr bwMode="auto">
          <a:xfrm>
            <a:off x="4514872" y="3514724"/>
            <a:ext cx="2852726" cy="1160431"/>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MHP – Principles of Operation</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a:t>P6: Power Law of Practice</a:t>
            </a:r>
          </a:p>
          <a:p>
            <a:r>
              <a:rPr lang="en-US" dirty="0"/>
              <a:t>The time T</a:t>
            </a:r>
            <a:r>
              <a:rPr lang="en-US" baseline="-25000" dirty="0"/>
              <a:t>n</a:t>
            </a:r>
            <a:r>
              <a:rPr lang="en-US" dirty="0"/>
              <a:t> to perform a task on the n</a:t>
            </a:r>
            <a:r>
              <a:rPr lang="en-US" baseline="30000" dirty="0"/>
              <a:t>th</a:t>
            </a:r>
            <a:r>
              <a:rPr lang="en-US" dirty="0"/>
              <a:t> trial follows a power law.</a:t>
            </a:r>
          </a:p>
          <a:p>
            <a:pPr>
              <a:buNone/>
            </a:pPr>
            <a:r>
              <a:rPr lang="en-US" dirty="0"/>
              <a:t>Performance Gain: due to repeated practice</a:t>
            </a:r>
          </a:p>
          <a:p>
            <a:pPr>
              <a:buNone/>
            </a:pPr>
            <a:r>
              <a:rPr lang="en-US" b="1" dirty="0"/>
              <a:t> </a:t>
            </a:r>
          </a:p>
          <a:p>
            <a:pPr>
              <a:buNone/>
            </a:pPr>
            <a:endParaRPr lang="en-US" dirty="0"/>
          </a:p>
          <a:p>
            <a:pPr lvl="1"/>
            <a:r>
              <a:rPr lang="en-US" b="1" dirty="0"/>
              <a:t>where n is the number of attempts,</a:t>
            </a:r>
            <a:endParaRPr lang="en-US" dirty="0"/>
          </a:p>
          <a:p>
            <a:pPr lvl="1"/>
            <a:r>
              <a:rPr lang="en-US" b="1" dirty="0"/>
              <a:t>T</a:t>
            </a:r>
            <a:r>
              <a:rPr lang="en-US" b="1" baseline="-25000" dirty="0"/>
              <a:t>1</a:t>
            </a:r>
            <a:r>
              <a:rPr lang="en-US" b="1" dirty="0"/>
              <a:t> the initial time,</a:t>
            </a:r>
            <a:endParaRPr lang="en-US" dirty="0"/>
          </a:p>
          <a:p>
            <a:pPr lvl="1"/>
            <a:r>
              <a:rPr lang="en-US" b="1" dirty="0" err="1"/>
              <a:t>T</a:t>
            </a:r>
            <a:r>
              <a:rPr lang="en-US" b="1" baseline="-25000" dirty="0" err="1"/>
              <a:t>n</a:t>
            </a:r>
            <a:r>
              <a:rPr lang="en-US" b="1" dirty="0"/>
              <a:t> the time at the n</a:t>
            </a:r>
            <a:r>
              <a:rPr lang="en-US" b="1" baseline="30000" dirty="0"/>
              <a:t>th</a:t>
            </a:r>
            <a:r>
              <a:rPr lang="en-US" b="1" dirty="0"/>
              <a:t> repetition.</a:t>
            </a:r>
            <a:endParaRPr lang="en-US" dirty="0"/>
          </a:p>
        </p:txBody>
      </p:sp>
      <p:pic>
        <p:nvPicPr>
          <p:cNvPr id="4" name="Picture 3"/>
          <p:cNvPicPr>
            <a:picLocks noChangeAspect="1" noChangeArrowheads="1"/>
          </p:cNvPicPr>
          <p:nvPr/>
        </p:nvPicPr>
        <p:blipFill>
          <a:blip r:embed="rId2"/>
          <a:srcRect/>
          <a:stretch>
            <a:fillRect/>
          </a:stretch>
        </p:blipFill>
        <p:spPr bwMode="auto">
          <a:xfrm>
            <a:off x="2133600" y="3733800"/>
            <a:ext cx="3838575" cy="6096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457200" y="274638"/>
            <a:ext cx="8229600" cy="792162"/>
          </a:xfrm>
        </p:spPr>
        <p:txBody>
          <a:bodyPr>
            <a:normAutofit/>
          </a:bodyPr>
          <a:lstStyle/>
          <a:p>
            <a:r>
              <a:rPr lang="en-US" sz="3600" b="1" dirty="0"/>
              <a:t>MHP – Principles of Operation</a:t>
            </a:r>
            <a:endParaRPr lang="en-US" sz="3600" dirty="0"/>
          </a:p>
        </p:txBody>
      </p:sp>
      <p:sp>
        <p:nvSpPr>
          <p:cNvPr id="249859" name="Rectangle 3"/>
          <p:cNvSpPr>
            <a:spLocks noGrp="1" noChangeArrowheads="1"/>
          </p:cNvSpPr>
          <p:nvPr>
            <p:ph type="body" idx="1"/>
          </p:nvPr>
        </p:nvSpPr>
        <p:spPr>
          <a:xfrm>
            <a:off x="457200" y="1143000"/>
            <a:ext cx="8229600" cy="5334000"/>
          </a:xfrm>
        </p:spPr>
        <p:txBody>
          <a:bodyPr>
            <a:normAutofit lnSpcReduction="10000"/>
          </a:bodyPr>
          <a:lstStyle/>
          <a:p>
            <a:pPr>
              <a:buNone/>
            </a:pPr>
            <a:r>
              <a:rPr lang="en-US" b="1" dirty="0"/>
              <a:t>P7: Uncertainty Principle</a:t>
            </a:r>
          </a:p>
          <a:p>
            <a:pPr marL="342900" lvl="1" indent="-342900">
              <a:buFont typeface="Arial" pitchFamily="34" charset="0"/>
              <a:buChar char="•"/>
            </a:pPr>
            <a:r>
              <a:rPr lang="en-US" sz="2200" dirty="0"/>
              <a:t>Decision time increases with the uncertainty about the judgment to be made, requires more cognitive cycles</a:t>
            </a:r>
          </a:p>
          <a:p>
            <a:r>
              <a:rPr lang="en-US" b="1" dirty="0"/>
              <a:t>Hicks Law - Choice Reaction Time</a:t>
            </a:r>
          </a:p>
          <a:p>
            <a:pPr lvl="1"/>
            <a:r>
              <a:rPr lang="en-US" dirty="0"/>
              <a:t>Models human reaction time under uncertainty</a:t>
            </a:r>
          </a:p>
          <a:p>
            <a:pPr lvl="1"/>
            <a:r>
              <a:rPr lang="en-US" dirty="0"/>
              <a:t>Decision time T increases with uncertainty about the judgment or decision to be made</a:t>
            </a:r>
          </a:p>
          <a:p>
            <a:pPr lvl="1"/>
            <a:r>
              <a:rPr lang="en-US" dirty="0"/>
              <a:t>T = </a:t>
            </a:r>
            <a:r>
              <a:rPr lang="en-US" dirty="0" err="1"/>
              <a:t>I</a:t>
            </a:r>
            <a:r>
              <a:rPr lang="en-US" baseline="-25000" dirty="0" err="1"/>
              <a:t>c</a:t>
            </a:r>
            <a:r>
              <a:rPr lang="en-US" dirty="0" err="1"/>
              <a:t>H</a:t>
            </a:r>
            <a:r>
              <a:rPr lang="en-US" dirty="0"/>
              <a:t>, where H is the entropy of the decision and </a:t>
            </a:r>
            <a:r>
              <a:rPr lang="en-US" dirty="0" err="1"/>
              <a:t>I</a:t>
            </a:r>
            <a:r>
              <a:rPr lang="en-US" baseline="-25000" dirty="0" err="1"/>
              <a:t>c</a:t>
            </a:r>
            <a:r>
              <a:rPr lang="en-US" baseline="-25000" dirty="0"/>
              <a:t> </a:t>
            </a:r>
            <a:r>
              <a:rPr lang="en-US" dirty="0"/>
              <a:t>= 150 [0 – 157].</a:t>
            </a:r>
          </a:p>
          <a:p>
            <a:pPr lvl="1"/>
            <a:r>
              <a:rPr lang="en-US" dirty="0"/>
              <a:t>H = log</a:t>
            </a:r>
            <a:r>
              <a:rPr lang="en-US" baseline="-25000" dirty="0"/>
              <a:t>2</a:t>
            </a:r>
            <a:r>
              <a:rPr lang="en-US" dirty="0"/>
              <a:t>(n + 1), if n probabilities are equal</a:t>
            </a:r>
          </a:p>
          <a:p>
            <a:pPr lvl="1"/>
            <a:r>
              <a:rPr lang="en-US" dirty="0"/>
              <a:t> For, n probabilities are different, p</a:t>
            </a:r>
            <a:r>
              <a:rPr lang="en-US" baseline="-25000" dirty="0"/>
              <a:t>i</a:t>
            </a:r>
            <a:r>
              <a:rPr lang="en-US" dirty="0"/>
              <a:t> of occurrence</a:t>
            </a:r>
          </a:p>
          <a:p>
            <a:pPr lvl="1"/>
            <a:r>
              <a:rPr lang="en-US" dirty="0"/>
              <a:t> </a:t>
            </a:r>
          </a:p>
          <a:p>
            <a:pPr lvl="1"/>
            <a:endParaRPr lang="en-US" dirty="0"/>
          </a:p>
          <a:p>
            <a:pPr lvl="1"/>
            <a:endParaRPr lang="en-US" dirty="0"/>
          </a:p>
        </p:txBody>
      </p:sp>
      <p:graphicFrame>
        <p:nvGraphicFramePr>
          <p:cNvPr id="249860" name="Object 4"/>
          <p:cNvGraphicFramePr>
            <a:graphicFrameLocks noGrp="1" noChangeAspect="1"/>
          </p:cNvGraphicFramePr>
          <p:nvPr>
            <p:ph sz="half" idx="4294967295"/>
          </p:nvPr>
        </p:nvGraphicFramePr>
        <p:xfrm>
          <a:off x="3200400" y="6096000"/>
          <a:ext cx="2576513" cy="609600"/>
        </p:xfrm>
        <a:graphic>
          <a:graphicData uri="http://schemas.openxmlformats.org/presentationml/2006/ole">
            <mc:AlternateContent xmlns:mc="http://schemas.openxmlformats.org/markup-compatibility/2006">
              <mc:Choice xmlns:v="urn:schemas-microsoft-com:vml" Requires="v">
                <p:oleObj name="Equation" r:id="rId2" imgW="1447560" imgH="342720" progId="Equation.3">
                  <p:embed/>
                </p:oleObj>
              </mc:Choice>
              <mc:Fallback>
                <p:oleObj name="Equation" r:id="rId2" imgW="1447560" imgH="342720" progId="Equation.3">
                  <p:embed/>
                  <p:pic>
                    <p:nvPicPr>
                      <p:cNvPr id="24986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6096000"/>
                        <a:ext cx="2576513"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MHP – Principles of Operation</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buNone/>
            </a:pPr>
            <a:r>
              <a:rPr lang="en-US" dirty="0"/>
              <a:t>P8 : Rationality Principle</a:t>
            </a:r>
          </a:p>
          <a:p>
            <a:r>
              <a:rPr lang="en-US" dirty="0"/>
              <a:t>People act so as to attain their goals through rational action, given the structure of the task and their inputs of information and bounded by limitations on their knowledge and processing abilities:</a:t>
            </a:r>
          </a:p>
          <a:p>
            <a:pPr>
              <a:buNone/>
            </a:pPr>
            <a:r>
              <a:rPr lang="en-US" dirty="0"/>
              <a:t>   </a:t>
            </a:r>
            <a:r>
              <a:rPr lang="en-US" b="1" dirty="0">
                <a:solidFill>
                  <a:srgbClr val="0070C0"/>
                </a:solidFill>
              </a:rPr>
              <a:t>goals + task + operators + inputs + knowledge + processing limits -&gt; behavior</a:t>
            </a:r>
          </a:p>
          <a:p>
            <a:r>
              <a:rPr lang="en-US" dirty="0"/>
              <a:t>Rational action -&gt; Emotion and motivation</a:t>
            </a:r>
          </a:p>
          <a:p>
            <a:r>
              <a:rPr lang="en-US" dirty="0"/>
              <a:t>individuals use their self-interests to make choices that will provide them with the greatest benefit.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MHP – Principles of Operation</a:t>
            </a:r>
            <a:endParaRPr lang="en-US" dirty="0"/>
          </a:p>
        </p:txBody>
      </p:sp>
      <p:sp>
        <p:nvSpPr>
          <p:cNvPr id="3" name="Content Placeholder 2"/>
          <p:cNvSpPr>
            <a:spLocks noGrp="1"/>
          </p:cNvSpPr>
          <p:nvPr>
            <p:ph idx="1"/>
          </p:nvPr>
        </p:nvSpPr>
        <p:spPr/>
        <p:txBody>
          <a:bodyPr/>
          <a:lstStyle/>
          <a:p>
            <a:pPr>
              <a:buNone/>
            </a:pPr>
            <a:r>
              <a:rPr lang="en-US" dirty="0"/>
              <a:t>P9 : Problem Space Principle</a:t>
            </a:r>
          </a:p>
          <a:p>
            <a:r>
              <a:rPr lang="en-US" dirty="0"/>
              <a:t>The rational activity in which people engage to solve a problem can be described in terms of </a:t>
            </a:r>
          </a:p>
          <a:p>
            <a:pPr marL="971550" lvl="1" indent="-514350">
              <a:buFont typeface="+mj-lt"/>
              <a:buAutoNum type="arabicPeriod"/>
            </a:pPr>
            <a:r>
              <a:rPr lang="en-US" dirty="0"/>
              <a:t>a set of states of knowledge</a:t>
            </a:r>
          </a:p>
          <a:p>
            <a:pPr marL="971550" lvl="1" indent="-514350">
              <a:buFont typeface="+mj-lt"/>
              <a:buAutoNum type="arabicPeriod"/>
            </a:pPr>
            <a:r>
              <a:rPr lang="en-US" dirty="0"/>
              <a:t>operators for changing one state into another</a:t>
            </a:r>
          </a:p>
          <a:p>
            <a:pPr marL="971550" lvl="1" indent="-514350">
              <a:buFont typeface="+mj-lt"/>
              <a:buAutoNum type="arabicPeriod"/>
            </a:pPr>
            <a:r>
              <a:rPr lang="en-US" dirty="0"/>
              <a:t>constraints on applying operators</a:t>
            </a:r>
          </a:p>
          <a:p>
            <a:pPr marL="971550" lvl="1" indent="-514350">
              <a:buFont typeface="+mj-lt"/>
              <a:buAutoNum type="arabicPeriod"/>
            </a:pPr>
            <a:r>
              <a:rPr lang="en-US" dirty="0"/>
              <a:t>control knowledge for deciding which operator to apply next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Keyboard Level Model (KLM)</a:t>
            </a:r>
            <a:endParaRPr lang="en-US" dirty="0"/>
          </a:p>
        </p:txBody>
      </p:sp>
      <p:sp>
        <p:nvSpPr>
          <p:cNvPr id="3" name="Content Placeholder 2"/>
          <p:cNvSpPr>
            <a:spLocks noGrp="1"/>
          </p:cNvSpPr>
          <p:nvPr>
            <p:ph idx="1"/>
          </p:nvPr>
        </p:nvSpPr>
        <p:spPr/>
        <p:txBody>
          <a:bodyPr/>
          <a:lstStyle/>
          <a:p>
            <a:r>
              <a:rPr lang="en-US" dirty="0"/>
              <a:t>The KLM is a practical design tool that can </a:t>
            </a:r>
            <a:r>
              <a:rPr lang="en-US" dirty="0">
                <a:solidFill>
                  <a:srgbClr val="0070C0"/>
                </a:solidFill>
              </a:rPr>
              <a:t>capture and calculate the physical actions </a:t>
            </a:r>
            <a:r>
              <a:rPr lang="en-US" dirty="0"/>
              <a:t>a user will have to carry out to complete specific tasks</a:t>
            </a:r>
          </a:p>
          <a:p>
            <a:r>
              <a:rPr lang="en-US" dirty="0"/>
              <a:t>The KLM can be used to determine the most efficient method and its suitability for specific contexts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Keyboard Level Model (KLM)</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Given:</a:t>
            </a:r>
          </a:p>
          <a:p>
            <a:pPr>
              <a:buNone/>
            </a:pPr>
            <a:r>
              <a:rPr lang="en-US" dirty="0"/>
              <a:t>	– A task (possibly involving several subtasks)</a:t>
            </a:r>
          </a:p>
          <a:p>
            <a:pPr>
              <a:buNone/>
            </a:pPr>
            <a:r>
              <a:rPr lang="en-US" dirty="0"/>
              <a:t>	– The command language of a system</a:t>
            </a:r>
          </a:p>
          <a:p>
            <a:pPr>
              <a:buNone/>
            </a:pPr>
            <a:r>
              <a:rPr lang="en-US" dirty="0"/>
              <a:t>	– The motor skill parameter of the user</a:t>
            </a:r>
          </a:p>
          <a:p>
            <a:pPr>
              <a:buNone/>
            </a:pPr>
            <a:r>
              <a:rPr lang="en-US" dirty="0"/>
              <a:t>	– The response time parameters</a:t>
            </a:r>
          </a:p>
          <a:p>
            <a:r>
              <a:rPr lang="en-US" b="1" dirty="0"/>
              <a:t>Predict: </a:t>
            </a:r>
            <a:r>
              <a:rPr lang="en-US" dirty="0"/>
              <a:t>The time an expert user will take to execute the task using the system</a:t>
            </a:r>
          </a:p>
          <a:p>
            <a:pPr>
              <a:buNone/>
            </a:pPr>
            <a:r>
              <a:rPr lang="en-US" dirty="0"/>
              <a:t>		– Provided that he or she uses the method without error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Keyboard Level Model (KLM)</a:t>
            </a:r>
            <a:endParaRPr lang="en-US" dirty="0"/>
          </a:p>
        </p:txBody>
      </p:sp>
      <p:sp>
        <p:nvSpPr>
          <p:cNvPr id="3" name="Content Placeholder 2"/>
          <p:cNvSpPr>
            <a:spLocks noGrp="1"/>
          </p:cNvSpPr>
          <p:nvPr>
            <p:ph idx="1"/>
          </p:nvPr>
        </p:nvSpPr>
        <p:spPr/>
        <p:txBody>
          <a:bodyPr/>
          <a:lstStyle/>
          <a:p>
            <a:r>
              <a:rPr lang="en-US" dirty="0"/>
              <a:t>The KLM is comprised of:</a:t>
            </a:r>
          </a:p>
          <a:p>
            <a:pPr lvl="1">
              <a:buNone/>
            </a:pPr>
            <a:r>
              <a:rPr lang="en-US" dirty="0"/>
              <a:t>– Operators</a:t>
            </a:r>
          </a:p>
          <a:p>
            <a:pPr lvl="1">
              <a:buNone/>
            </a:pPr>
            <a:r>
              <a:rPr lang="en-US" dirty="0"/>
              <a:t>– Encoding methods</a:t>
            </a:r>
          </a:p>
          <a:p>
            <a:pPr lvl="1">
              <a:buNone/>
            </a:pPr>
            <a:r>
              <a:rPr lang="en-US" dirty="0"/>
              <a:t>– Heuristics for the placement of mental </a:t>
            </a:r>
            <a:r>
              <a:rPr lang="en-US" b="1" dirty="0"/>
              <a:t>(M) </a:t>
            </a:r>
            <a:r>
              <a:rPr lang="en-US" dirty="0"/>
              <a:t>operators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KLM - </a:t>
            </a:r>
            <a:r>
              <a:rPr lang="en-US" b="1" i="1" dirty="0"/>
              <a:t>Operators</a:t>
            </a:r>
            <a:endParaRPr lang="en-US" dirty="0"/>
          </a:p>
        </p:txBody>
      </p:sp>
      <p:pic>
        <p:nvPicPr>
          <p:cNvPr id="10242" name="Picture 2"/>
          <p:cNvPicPr>
            <a:picLocks noGrp="1" noChangeAspect="1" noChangeArrowheads="1"/>
          </p:cNvPicPr>
          <p:nvPr>
            <p:ph idx="1"/>
          </p:nvPr>
        </p:nvPicPr>
        <p:blipFill>
          <a:blip r:embed="rId2"/>
          <a:srcRect/>
          <a:stretch>
            <a:fillRect/>
          </a:stretch>
        </p:blipFill>
        <p:spPr bwMode="auto">
          <a:xfrm>
            <a:off x="533400" y="1524000"/>
            <a:ext cx="8178975" cy="41148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895600" cy="1143000"/>
          </a:xfrm>
        </p:spPr>
        <p:txBody>
          <a:bodyPr/>
          <a:lstStyle/>
          <a:p>
            <a:endParaRPr lang="en-US" dirty="0"/>
          </a:p>
        </p:txBody>
      </p:sp>
      <p:pic>
        <p:nvPicPr>
          <p:cNvPr id="11266" name="Picture 2"/>
          <p:cNvPicPr>
            <a:picLocks noGrp="1" noChangeAspect="1" noChangeArrowheads="1"/>
          </p:cNvPicPr>
          <p:nvPr>
            <p:ph idx="1"/>
          </p:nvPr>
        </p:nvPicPr>
        <p:blipFill>
          <a:blip r:embed="rId2"/>
          <a:srcRect/>
          <a:stretch>
            <a:fillRect/>
          </a:stretch>
        </p:blipFill>
        <p:spPr bwMode="auto">
          <a:xfrm>
            <a:off x="457200" y="304800"/>
            <a:ext cx="8458200" cy="62484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KLM – </a:t>
            </a:r>
            <a:r>
              <a:rPr lang="en-US" b="1" i="1" dirty="0"/>
              <a:t>Encoding Methods</a:t>
            </a:r>
            <a:endParaRPr lang="en-US" dirty="0"/>
          </a:p>
        </p:txBody>
      </p:sp>
      <p:sp>
        <p:nvSpPr>
          <p:cNvPr id="3" name="Content Placeholder 2"/>
          <p:cNvSpPr>
            <a:spLocks noGrp="1"/>
          </p:cNvSpPr>
          <p:nvPr>
            <p:ph idx="1"/>
          </p:nvPr>
        </p:nvSpPr>
        <p:spPr>
          <a:xfrm>
            <a:off x="533400" y="1295400"/>
            <a:ext cx="8382000" cy="5486400"/>
          </a:xfrm>
        </p:spPr>
        <p:txBody>
          <a:bodyPr>
            <a:normAutofit fontScale="92500" lnSpcReduction="10000"/>
          </a:bodyPr>
          <a:lstStyle/>
          <a:p>
            <a:r>
              <a:rPr lang="en-US" sz="2800" dirty="0"/>
              <a:t>Encoding methods define how the operators involved in a task are to be written, e.g., </a:t>
            </a:r>
            <a:r>
              <a:rPr lang="en-US" sz="2800" b="1" dirty="0"/>
              <a:t>‘ipconfig’ </a:t>
            </a:r>
            <a:r>
              <a:rPr lang="en-US" sz="2800" dirty="0"/>
              <a:t>with Command Line Interface in a command window:</a:t>
            </a:r>
          </a:p>
          <a:p>
            <a:pPr marL="0" indent="0">
              <a:buNone/>
            </a:pPr>
            <a:r>
              <a:rPr lang="en-IN" sz="2800" dirty="0"/>
              <a:t>	MK[</a:t>
            </a:r>
            <a:r>
              <a:rPr lang="en-IN" sz="2800" dirty="0" err="1"/>
              <a:t>i</a:t>
            </a:r>
            <a:r>
              <a:rPr lang="en-IN" sz="2800" dirty="0"/>
              <a:t>]K[p]K[c]K[o]K[n]K[f]K[</a:t>
            </a:r>
            <a:r>
              <a:rPr lang="en-IN" sz="2800" dirty="0" err="1"/>
              <a:t>i</a:t>
            </a:r>
            <a:r>
              <a:rPr lang="en-IN" sz="2800" dirty="0"/>
              <a:t>]K[g]K[RETURN]</a:t>
            </a:r>
          </a:p>
          <a:p>
            <a:r>
              <a:rPr lang="en-IN" sz="2800" dirty="0"/>
              <a:t>It would be encoded in the short-hand version as</a:t>
            </a:r>
          </a:p>
          <a:p>
            <a:pPr marL="0" indent="0">
              <a:buNone/>
            </a:pPr>
            <a:r>
              <a:rPr lang="en-IN" sz="2800" dirty="0"/>
              <a:t>		</a:t>
            </a:r>
            <a:r>
              <a:rPr lang="en-IN" sz="2800" dirty="0">
                <a:highlight>
                  <a:srgbClr val="FFFF00"/>
                </a:highlight>
              </a:rPr>
              <a:t>M 9K[ipconfig RETURN]</a:t>
            </a:r>
          </a:p>
          <a:p>
            <a:r>
              <a:rPr lang="en-IN" sz="2800" dirty="0"/>
              <a:t>This results in a timing of </a:t>
            </a:r>
            <a:r>
              <a:rPr lang="en-IN" sz="2800" dirty="0">
                <a:highlight>
                  <a:srgbClr val="FFFF00"/>
                </a:highlight>
              </a:rPr>
              <a:t>1.35+9*0.20 = 2.95</a:t>
            </a:r>
            <a:r>
              <a:rPr lang="en-IN" sz="2800" dirty="0"/>
              <a:t> seconds for an average skilled typist.</a:t>
            </a:r>
          </a:p>
          <a:p>
            <a:r>
              <a:rPr lang="en-IN" sz="2800" dirty="0"/>
              <a:t>Using Windows: Network -&gt; Repair option (Home wireless) </a:t>
            </a:r>
          </a:p>
          <a:p>
            <a:pPr marL="0" indent="0">
              <a:buNone/>
            </a:pPr>
            <a:r>
              <a:rPr lang="en-IN" sz="2800" dirty="0"/>
              <a:t>H[mouse]MP[Network Icon]K[Right click]P[Prepare]K[Left Click]</a:t>
            </a:r>
          </a:p>
          <a:p>
            <a:pPr marL="0" indent="0">
              <a:buNone/>
            </a:pPr>
            <a:r>
              <a:rPr lang="en-IN" sz="2800" dirty="0">
                <a:highlight>
                  <a:srgbClr val="FFFF00"/>
                </a:highlight>
              </a:rPr>
              <a:t>Time = 4.35 secs.</a:t>
            </a:r>
          </a:p>
          <a:p>
            <a:endParaRPr lang="en-US" sz="2800" dirty="0"/>
          </a:p>
          <a:p>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895600" cy="563562"/>
          </a:xfrm>
        </p:spPr>
        <p:txBody>
          <a:bodyPr>
            <a:noAutofit/>
          </a:bodyPr>
          <a:lstStyle/>
          <a:p>
            <a:r>
              <a:rPr lang="en-US" sz="3200" b="1" dirty="0"/>
              <a:t>KLM Example 2</a:t>
            </a:r>
            <a:endParaRPr lang="en-US" sz="3200" dirty="0"/>
          </a:p>
        </p:txBody>
      </p:sp>
      <p:sp>
        <p:nvSpPr>
          <p:cNvPr id="3" name="Content Placeholder 2"/>
          <p:cNvSpPr>
            <a:spLocks noGrp="1"/>
          </p:cNvSpPr>
          <p:nvPr>
            <p:ph idx="1"/>
          </p:nvPr>
        </p:nvSpPr>
        <p:spPr>
          <a:xfrm>
            <a:off x="457200" y="1066800"/>
            <a:ext cx="8458200" cy="5715000"/>
          </a:xfrm>
        </p:spPr>
        <p:txBody>
          <a:bodyPr>
            <a:normAutofit fontScale="85000" lnSpcReduction="20000"/>
          </a:bodyPr>
          <a:lstStyle/>
          <a:p>
            <a:r>
              <a:rPr lang="en-US" dirty="0"/>
              <a:t>Consider the scenario of correcting a </a:t>
            </a:r>
          </a:p>
          <a:p>
            <a:pPr>
              <a:buNone/>
            </a:pPr>
            <a:r>
              <a:rPr lang="en-US" b="1" dirty="0"/>
              <a:t>				</a:t>
            </a:r>
            <a:r>
              <a:rPr lang="en-US" b="1" dirty="0" err="1">
                <a:solidFill>
                  <a:srgbClr val="FF0000"/>
                </a:solidFill>
              </a:rPr>
              <a:t>mirtake</a:t>
            </a:r>
            <a:r>
              <a:rPr lang="en-US" b="1" dirty="0">
                <a:solidFill>
                  <a:srgbClr val="FF0000"/>
                </a:solidFill>
              </a:rPr>
              <a:t> -&gt; mistake</a:t>
            </a:r>
          </a:p>
          <a:p>
            <a:r>
              <a:rPr lang="en-US" dirty="0"/>
              <a:t>Move hand to mouse </a:t>
            </a:r>
            <a:r>
              <a:rPr lang="en-US" dirty="0">
                <a:solidFill>
                  <a:srgbClr val="0070C0"/>
                </a:solidFill>
              </a:rPr>
              <a:t>H[mouse]</a:t>
            </a:r>
          </a:p>
          <a:p>
            <a:r>
              <a:rPr lang="en-US" dirty="0"/>
              <a:t>Position mouse after the bad char </a:t>
            </a:r>
            <a:r>
              <a:rPr lang="en-US" dirty="0">
                <a:solidFill>
                  <a:srgbClr val="0070C0"/>
                </a:solidFill>
              </a:rPr>
              <a:t>PK[Left] </a:t>
            </a:r>
            <a:r>
              <a:rPr lang="en-US" sz="2400" dirty="0">
                <a:solidFill>
                  <a:schemeClr val="accent6">
                    <a:lumMod val="50000"/>
                  </a:schemeClr>
                </a:solidFill>
              </a:rPr>
              <a:t>//Pointing &amp; Clicking to Move the Cursor Left</a:t>
            </a:r>
            <a:endParaRPr lang="en-US" dirty="0">
              <a:solidFill>
                <a:schemeClr val="accent6">
                  <a:lumMod val="50000"/>
                </a:schemeClr>
              </a:solidFill>
            </a:endParaRPr>
          </a:p>
          <a:p>
            <a:r>
              <a:rPr lang="en-US" dirty="0"/>
              <a:t>Return to keyboard </a:t>
            </a:r>
            <a:r>
              <a:rPr lang="en-US" dirty="0">
                <a:solidFill>
                  <a:srgbClr val="0070C0"/>
                </a:solidFill>
              </a:rPr>
              <a:t>H[keyboard]</a:t>
            </a:r>
          </a:p>
          <a:p>
            <a:r>
              <a:rPr lang="en-US" dirty="0"/>
              <a:t>Delete bad char </a:t>
            </a:r>
            <a:r>
              <a:rPr lang="en-US" dirty="0">
                <a:solidFill>
                  <a:srgbClr val="0070C0"/>
                </a:solidFill>
              </a:rPr>
              <a:t>MK[backspace]</a:t>
            </a:r>
          </a:p>
          <a:p>
            <a:r>
              <a:rPr lang="en-US" dirty="0"/>
              <a:t>Type in new char </a:t>
            </a:r>
            <a:r>
              <a:rPr lang="en-US" dirty="0">
                <a:solidFill>
                  <a:srgbClr val="0070C0"/>
                </a:solidFill>
              </a:rPr>
              <a:t>K[char]</a:t>
            </a:r>
          </a:p>
          <a:p>
            <a:r>
              <a:rPr lang="en-US" dirty="0"/>
              <a:t>Reposition the insertion point to the original position </a:t>
            </a:r>
            <a:r>
              <a:rPr lang="en-US" dirty="0">
                <a:solidFill>
                  <a:srgbClr val="0070C0"/>
                </a:solidFill>
              </a:rPr>
              <a:t>H[mouse]MPK[Left]</a:t>
            </a:r>
          </a:p>
          <a:p>
            <a:pPr marL="800100" lvl="2" indent="0">
              <a:buNone/>
            </a:pPr>
            <a:r>
              <a:rPr lang="en-US" sz="2800" dirty="0">
                <a:solidFill>
                  <a:srgbClr val="0070C0"/>
                </a:solidFill>
              </a:rPr>
              <a:t>Total time = 3*h+2*p+2*k+2*k+2*m</a:t>
            </a:r>
          </a:p>
          <a:p>
            <a:pPr marL="800100" lvl="2" indent="0">
              <a:buNone/>
            </a:pPr>
            <a:r>
              <a:rPr lang="en-US" sz="2800" dirty="0">
                <a:solidFill>
                  <a:srgbClr val="0070C0"/>
                </a:solidFill>
              </a:rPr>
              <a:t>		    =3*0.4+2(1.1+0.08+0.20+1.35)</a:t>
            </a:r>
          </a:p>
          <a:p>
            <a:pPr marL="800100" lvl="2" indent="0">
              <a:buNone/>
            </a:pPr>
            <a:r>
              <a:rPr lang="en-US" sz="2800" dirty="0">
                <a:solidFill>
                  <a:srgbClr val="0070C0"/>
                </a:solidFill>
              </a:rPr>
              <a:t>		    =1.2+2(2.73)</a:t>
            </a:r>
          </a:p>
          <a:p>
            <a:pPr marL="800100" lvl="2" indent="0">
              <a:buNone/>
            </a:pPr>
            <a:r>
              <a:rPr lang="en-US" sz="2800" dirty="0">
                <a:solidFill>
                  <a:srgbClr val="0070C0"/>
                </a:solidFill>
              </a:rPr>
              <a:t>                   =1.2+5.46</a:t>
            </a:r>
          </a:p>
          <a:p>
            <a:pPr marL="800100" lvl="2" indent="0">
              <a:buNone/>
            </a:pPr>
            <a:r>
              <a:rPr lang="en-US" sz="2800" dirty="0">
                <a:solidFill>
                  <a:srgbClr val="0070C0"/>
                </a:solidFill>
              </a:rPr>
              <a:t>                   =6.66 secs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Calculation of P: Pointing and Positioning Time</a:t>
            </a:r>
            <a:endParaRPr lang="en-US" sz="3200" dirty="0"/>
          </a:p>
        </p:txBody>
      </p:sp>
      <p:sp>
        <p:nvSpPr>
          <p:cNvPr id="3" name="Content Placeholder 2"/>
          <p:cNvSpPr>
            <a:spLocks noGrp="1"/>
          </p:cNvSpPr>
          <p:nvPr>
            <p:ph idx="1"/>
          </p:nvPr>
        </p:nvSpPr>
        <p:spPr>
          <a:xfrm>
            <a:off x="457200" y="1143000"/>
            <a:ext cx="8534400" cy="4983163"/>
          </a:xfrm>
        </p:spPr>
        <p:txBody>
          <a:bodyPr>
            <a:normAutofit/>
          </a:bodyPr>
          <a:lstStyle/>
          <a:p>
            <a:r>
              <a:rPr lang="en-US" sz="2800" dirty="0"/>
              <a:t>Based on Experimentation, average P = 1.1 </a:t>
            </a:r>
            <a:r>
              <a:rPr lang="en-US" sz="2800" dirty="0" err="1"/>
              <a:t>secs</a:t>
            </a:r>
            <a:endParaRPr lang="en-US" sz="2800" dirty="0"/>
          </a:p>
          <a:p>
            <a:endParaRPr lang="en-US" sz="2800" dirty="0"/>
          </a:p>
          <a:p>
            <a:endParaRPr lang="en-US" sz="2800" dirty="0"/>
          </a:p>
          <a:p>
            <a:pPr lvl="1">
              <a:buNone/>
            </a:pPr>
            <a:r>
              <a:rPr lang="en-US" sz="2400" dirty="0"/>
              <a:t>A = distance from the target</a:t>
            </a:r>
          </a:p>
          <a:p>
            <a:pPr lvl="1">
              <a:buNone/>
            </a:pPr>
            <a:r>
              <a:rPr lang="en-US" sz="2400" dirty="0"/>
              <a:t>W = Width (cross-section) of the target</a:t>
            </a:r>
          </a:p>
          <a:p>
            <a:pPr lvl="1">
              <a:buNone/>
            </a:pPr>
            <a:r>
              <a:rPr lang="en-US" sz="2400" dirty="0"/>
              <a:t>a= 0, b = 0.1, </a:t>
            </a:r>
            <a:r>
              <a:rPr lang="en-US" sz="1800" dirty="0"/>
              <a:t>a and b are constants that depend on the choice of input device and are usually determined empirically by regression analysis</a:t>
            </a:r>
            <a:r>
              <a:rPr lang="en-US" sz="2400" dirty="0"/>
              <a:t>. </a:t>
            </a:r>
            <a:endParaRPr lang="en-US" sz="2000" i="1" dirty="0"/>
          </a:p>
          <a:p>
            <a:r>
              <a:rPr lang="en-US" sz="2400" dirty="0"/>
              <a:t>Example: Suppose the mouse is in the middle of a 19 cm screen and we have to move to a 2 cm wide tool bar at the top of the screen then the time taken will be,</a:t>
            </a:r>
            <a:endParaRPr lang="en-US" sz="2800" dirty="0"/>
          </a:p>
        </p:txBody>
      </p:sp>
      <p:pic>
        <p:nvPicPr>
          <p:cNvPr id="14338" name="Picture 2"/>
          <p:cNvPicPr>
            <a:picLocks noChangeAspect="1" noChangeArrowheads="1"/>
          </p:cNvPicPr>
          <p:nvPr/>
        </p:nvPicPr>
        <p:blipFill>
          <a:blip r:embed="rId2"/>
          <a:srcRect/>
          <a:stretch>
            <a:fillRect/>
          </a:stretch>
        </p:blipFill>
        <p:spPr bwMode="auto">
          <a:xfrm>
            <a:off x="1676400" y="1752600"/>
            <a:ext cx="4629150" cy="781050"/>
          </a:xfrm>
          <a:prstGeom prst="rect">
            <a:avLst/>
          </a:prstGeom>
          <a:noFill/>
          <a:ln w="9525">
            <a:noFill/>
            <a:miter lim="800000"/>
            <a:headEnd/>
            <a:tailEnd/>
          </a:ln>
          <a:effectLst/>
        </p:spPr>
      </p:pic>
      <p:pic>
        <p:nvPicPr>
          <p:cNvPr id="14339" name="Picture 3"/>
          <p:cNvPicPr>
            <a:picLocks noChangeAspect="1" noChangeArrowheads="1"/>
          </p:cNvPicPr>
          <p:nvPr/>
        </p:nvPicPr>
        <p:blipFill>
          <a:blip r:embed="rId3"/>
          <a:srcRect/>
          <a:stretch>
            <a:fillRect/>
          </a:stretch>
        </p:blipFill>
        <p:spPr bwMode="auto">
          <a:xfrm>
            <a:off x="1524000" y="5562601"/>
            <a:ext cx="6021659" cy="609599"/>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Menu selection: Macintosh OS vs. Windows</a:t>
            </a:r>
            <a:endParaRPr lang="en-US" sz="3200" dirty="0"/>
          </a:p>
        </p:txBody>
      </p:sp>
      <p:sp>
        <p:nvSpPr>
          <p:cNvPr id="3" name="Content Placeholder 2"/>
          <p:cNvSpPr>
            <a:spLocks noGrp="1"/>
          </p:cNvSpPr>
          <p:nvPr>
            <p:ph idx="1"/>
          </p:nvPr>
        </p:nvSpPr>
        <p:spPr>
          <a:xfrm>
            <a:off x="304800" y="1371600"/>
            <a:ext cx="5105400" cy="5181600"/>
          </a:xfrm>
        </p:spPr>
        <p:txBody>
          <a:bodyPr>
            <a:normAutofit lnSpcReduction="10000"/>
          </a:bodyPr>
          <a:lstStyle/>
          <a:p>
            <a:pPr>
              <a:buNone/>
            </a:pPr>
            <a:r>
              <a:rPr lang="en-US" b="1" dirty="0"/>
              <a:t>Menu placement:</a:t>
            </a:r>
          </a:p>
          <a:p>
            <a:r>
              <a:rPr lang="en-US" b="1" dirty="0"/>
              <a:t>Macintosh: </a:t>
            </a:r>
            <a:r>
              <a:rPr lang="en-US" dirty="0"/>
              <a:t>Aligned with the edge (No offset) </a:t>
            </a:r>
            <a:r>
              <a:rPr lang="en-US" b="1" dirty="0"/>
              <a:t>-&gt;</a:t>
            </a:r>
          </a:p>
          <a:p>
            <a:pPr lvl="1"/>
            <a:r>
              <a:rPr lang="en-US" dirty="0"/>
              <a:t>Users need not be very accurate when hitting the target. Typically, they stop 50 mm from the edge</a:t>
            </a:r>
          </a:p>
          <a:p>
            <a:r>
              <a:rPr lang="en-US" b="1" dirty="0"/>
              <a:t>Windows: </a:t>
            </a:r>
            <a:r>
              <a:rPr lang="en-US" dirty="0"/>
              <a:t>Offset by the Title bar (pull down) </a:t>
            </a:r>
            <a:r>
              <a:rPr lang="en-US" b="1" dirty="0"/>
              <a:t>-&gt;</a:t>
            </a:r>
          </a:p>
          <a:p>
            <a:pPr lvl="1"/>
            <a:r>
              <a:rPr lang="en-US" dirty="0"/>
              <a:t>Need more accuracy as the Width of target is 5 mm.</a:t>
            </a:r>
          </a:p>
        </p:txBody>
      </p:sp>
      <p:pic>
        <p:nvPicPr>
          <p:cNvPr id="15362" name="Picture 2"/>
          <p:cNvPicPr>
            <a:picLocks noChangeAspect="1" noChangeArrowheads="1"/>
          </p:cNvPicPr>
          <p:nvPr/>
        </p:nvPicPr>
        <p:blipFill>
          <a:blip r:embed="rId2"/>
          <a:srcRect/>
          <a:stretch>
            <a:fillRect/>
          </a:stretch>
        </p:blipFill>
        <p:spPr bwMode="auto">
          <a:xfrm>
            <a:off x="5334000" y="1219200"/>
            <a:ext cx="3540430" cy="52578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Menu selection: Macintosh OS vs. Windows</a:t>
            </a:r>
            <a:endParaRPr lang="en-US" sz="3200" dirty="0"/>
          </a:p>
        </p:txBody>
      </p:sp>
      <p:pic>
        <p:nvPicPr>
          <p:cNvPr id="16386" name="Picture 2"/>
          <p:cNvPicPr>
            <a:picLocks noGrp="1" noChangeAspect="1" noChangeArrowheads="1"/>
          </p:cNvPicPr>
          <p:nvPr>
            <p:ph idx="1"/>
          </p:nvPr>
        </p:nvPicPr>
        <p:blipFill>
          <a:blip r:embed="rId2"/>
          <a:srcRect/>
          <a:stretch>
            <a:fillRect/>
          </a:stretch>
        </p:blipFill>
        <p:spPr bwMode="auto">
          <a:xfrm>
            <a:off x="589227" y="1905000"/>
            <a:ext cx="8038941" cy="34290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KLM – </a:t>
            </a:r>
            <a:r>
              <a:rPr lang="en-US" sz="3200" b="1" i="1" dirty="0"/>
              <a:t>Heuristics for M Operator Placement</a:t>
            </a:r>
            <a:endParaRPr lang="en-US" sz="3200" dirty="0"/>
          </a:p>
        </p:txBody>
      </p:sp>
      <p:sp>
        <p:nvSpPr>
          <p:cNvPr id="3" name="Content Placeholder 2"/>
          <p:cNvSpPr>
            <a:spLocks noGrp="1"/>
          </p:cNvSpPr>
          <p:nvPr>
            <p:ph idx="1"/>
          </p:nvPr>
        </p:nvSpPr>
        <p:spPr/>
        <p:txBody>
          <a:bodyPr>
            <a:normAutofit/>
          </a:bodyPr>
          <a:lstStyle/>
          <a:p>
            <a:r>
              <a:rPr lang="en-US" dirty="0"/>
              <a:t>The KLM operators can be placed into one of two groups— </a:t>
            </a:r>
            <a:r>
              <a:rPr lang="en-US" dirty="0">
                <a:solidFill>
                  <a:srgbClr val="0070C0"/>
                </a:solidFill>
              </a:rPr>
              <a:t>physical or cognitive</a:t>
            </a:r>
            <a:r>
              <a:rPr lang="en-US" dirty="0"/>
              <a:t>.</a:t>
            </a:r>
          </a:p>
          <a:p>
            <a:r>
              <a:rPr lang="en-US" dirty="0"/>
              <a:t>The physical operators are defined by the chosen method of operation, such as clicking an icon or entering a command string.</a:t>
            </a:r>
          </a:p>
          <a:p>
            <a:r>
              <a:rPr lang="en-US" dirty="0"/>
              <a:t>The cognitive operators are governed by the set of heuristics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Rules for keeping/deleting the M operator</a:t>
            </a:r>
            <a:endParaRPr lang="en-US" sz="3600" dirty="0"/>
          </a:p>
        </p:txBody>
      </p:sp>
      <p:sp>
        <p:nvSpPr>
          <p:cNvPr id="3" name="Content Placeholder 2"/>
          <p:cNvSpPr>
            <a:spLocks noGrp="1"/>
          </p:cNvSpPr>
          <p:nvPr>
            <p:ph idx="1"/>
          </p:nvPr>
        </p:nvSpPr>
        <p:spPr/>
        <p:txBody>
          <a:bodyPr>
            <a:normAutofit fontScale="92500"/>
          </a:bodyPr>
          <a:lstStyle/>
          <a:p>
            <a:r>
              <a:rPr lang="en-US" b="1" dirty="0"/>
              <a:t>Rule 0:</a:t>
            </a:r>
          </a:p>
          <a:p>
            <a:pPr lvl="1"/>
            <a:r>
              <a:rPr lang="en-US" b="1" dirty="0"/>
              <a:t>Place M in front of all K where you want to enter new text and all P (mouse) that selects commands.</a:t>
            </a:r>
          </a:p>
          <a:p>
            <a:r>
              <a:rPr lang="en-US" b="1" dirty="0"/>
              <a:t>Rule 1:</a:t>
            </a:r>
          </a:p>
          <a:p>
            <a:pPr lvl="1"/>
            <a:r>
              <a:rPr lang="en-US" b="1" dirty="0"/>
              <a:t>If M is also associated with the previous operator, then delete it, e.g. </a:t>
            </a:r>
            <a:r>
              <a:rPr lang="en-US" b="1" dirty="0">
                <a:solidFill>
                  <a:srgbClr val="0070C0"/>
                </a:solidFill>
              </a:rPr>
              <a:t>PMK -&gt; PK</a:t>
            </a:r>
          </a:p>
          <a:p>
            <a:r>
              <a:rPr lang="en-US" b="1" dirty="0"/>
              <a:t>Rule 2:</a:t>
            </a:r>
          </a:p>
          <a:p>
            <a:pPr lvl="1"/>
            <a:r>
              <a:rPr lang="en-US" b="1" dirty="0"/>
              <a:t>If there is a string of M then delete all except the first.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15962"/>
            <a:ext cx="8839200" cy="5989638"/>
          </a:xfrm>
        </p:spPr>
        <p:txBody>
          <a:bodyPr>
            <a:normAutofit/>
          </a:bodyPr>
          <a:lstStyle/>
          <a:p>
            <a:r>
              <a:rPr lang="en-US" sz="2400" b="1" dirty="0"/>
              <a:t>Rule 3:</a:t>
            </a:r>
          </a:p>
          <a:p>
            <a:pPr lvl="1"/>
            <a:r>
              <a:rPr lang="en-US" sz="2200" b="1" dirty="0"/>
              <a:t>If K is a redundant terminator then delete the M in front of it, e.g.</a:t>
            </a:r>
          </a:p>
          <a:p>
            <a:pPr>
              <a:buNone/>
            </a:pPr>
            <a:r>
              <a:rPr lang="en-US" sz="2400" b="1" dirty="0"/>
              <a:t>	</a:t>
            </a:r>
            <a:r>
              <a:rPr lang="en-US" sz="2400" b="1" dirty="0">
                <a:solidFill>
                  <a:srgbClr val="0070C0"/>
                </a:solidFill>
              </a:rPr>
              <a:t>	M&lt;command&gt; K M&lt;argument&gt; K  -&gt;</a:t>
            </a:r>
          </a:p>
          <a:p>
            <a:pPr>
              <a:buNone/>
            </a:pPr>
            <a:r>
              <a:rPr lang="en-US" sz="2400" dirty="0">
                <a:solidFill>
                  <a:srgbClr val="0070C0"/>
                </a:solidFill>
              </a:rPr>
              <a:t>			</a:t>
            </a:r>
            <a:r>
              <a:rPr lang="en-US" sz="2400" b="1" dirty="0">
                <a:solidFill>
                  <a:srgbClr val="0070C0"/>
                </a:solidFill>
              </a:rPr>
              <a:t>M&lt;command&gt; K &lt;argument&gt; K</a:t>
            </a:r>
          </a:p>
          <a:p>
            <a:pPr>
              <a:buNone/>
            </a:pPr>
            <a:r>
              <a:rPr lang="en-US" sz="2400" b="1" dirty="0">
                <a:solidFill>
                  <a:srgbClr val="0070C0"/>
                </a:solidFill>
              </a:rPr>
              <a:t>       </a:t>
            </a:r>
            <a:r>
              <a:rPr lang="en-US" sz="2400" b="1" dirty="0"/>
              <a:t>Example:</a:t>
            </a:r>
          </a:p>
          <a:p>
            <a:pPr>
              <a:buNone/>
            </a:pPr>
            <a:r>
              <a:rPr lang="en-US" sz="2400" b="1" dirty="0"/>
              <a:t>		</a:t>
            </a:r>
            <a:r>
              <a:rPr lang="en-US" sz="2400" b="1" dirty="0" err="1"/>
              <a:t>Mstrcpy</a:t>
            </a:r>
            <a:r>
              <a:rPr lang="en-US" sz="2400" b="1" dirty="0"/>
              <a:t> K Ms1 K Ms2 K =&gt; </a:t>
            </a:r>
            <a:r>
              <a:rPr lang="en-US" sz="2400" b="1" dirty="0" err="1"/>
              <a:t>Mstrcpy</a:t>
            </a:r>
            <a:r>
              <a:rPr lang="en-US" sz="2400" b="1" dirty="0"/>
              <a:t> K s1 K s2 K</a:t>
            </a:r>
          </a:p>
        </p:txBody>
      </p:sp>
      <p:sp>
        <p:nvSpPr>
          <p:cNvPr id="4" name="Title 1"/>
          <p:cNvSpPr>
            <a:spLocks noGrp="1"/>
          </p:cNvSpPr>
          <p:nvPr>
            <p:ph type="title"/>
          </p:nvPr>
        </p:nvSpPr>
        <p:spPr>
          <a:xfrm>
            <a:off x="457200" y="152400"/>
            <a:ext cx="8229600" cy="563562"/>
          </a:xfrm>
        </p:spPr>
        <p:txBody>
          <a:bodyPr>
            <a:normAutofit fontScale="90000"/>
          </a:bodyPr>
          <a:lstStyle/>
          <a:p>
            <a:r>
              <a:rPr lang="en-US" sz="3600" b="1" dirty="0"/>
              <a:t>Rules for keeping/deleting the M operator</a:t>
            </a:r>
            <a:endParaRPr lang="en-US" sz="3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15962"/>
            <a:ext cx="8839200" cy="5989638"/>
          </a:xfrm>
        </p:spPr>
        <p:txBody>
          <a:bodyPr>
            <a:normAutofit lnSpcReduction="10000"/>
          </a:bodyPr>
          <a:lstStyle/>
          <a:p>
            <a:r>
              <a:rPr lang="en-US" sz="2400" b="1" dirty="0"/>
              <a:t>Rule 4:</a:t>
            </a:r>
          </a:p>
          <a:p>
            <a:pPr lvl="1"/>
            <a:r>
              <a:rPr lang="en-US" sz="2000" b="1" dirty="0"/>
              <a:t>Delete M, if K terminates a command string. Keep M, if K terminates an argument string, e.g.</a:t>
            </a:r>
            <a:endParaRPr lang="en-US" sz="1600" b="1" dirty="0"/>
          </a:p>
          <a:p>
            <a:pPr lvl="1">
              <a:buNone/>
            </a:pPr>
            <a:r>
              <a:rPr lang="en-US" sz="1600" b="1" dirty="0">
                <a:solidFill>
                  <a:srgbClr val="0070C0"/>
                </a:solidFill>
              </a:rPr>
              <a:t>		</a:t>
            </a:r>
            <a:r>
              <a:rPr lang="en-US" sz="2400" b="1" dirty="0">
                <a:solidFill>
                  <a:srgbClr val="0070C0"/>
                </a:solidFill>
              </a:rPr>
              <a:t>M&lt;command&gt; K     </a:t>
            </a:r>
            <a:r>
              <a:rPr lang="en-US" sz="2400" b="1" dirty="0">
                <a:solidFill>
                  <a:srgbClr val="002060"/>
                </a:solidFill>
              </a:rPr>
              <a:t>-&gt;</a:t>
            </a:r>
            <a:r>
              <a:rPr lang="en-US" sz="2400" b="1" dirty="0">
                <a:solidFill>
                  <a:srgbClr val="0070C0"/>
                </a:solidFill>
              </a:rPr>
              <a:t>        &lt;command&gt; K</a:t>
            </a:r>
          </a:p>
          <a:p>
            <a:pPr lvl="1">
              <a:buNone/>
            </a:pPr>
            <a:r>
              <a:rPr lang="en-US" sz="2400" b="1" dirty="0"/>
              <a:t>Example: </a:t>
            </a:r>
          </a:p>
          <a:p>
            <a:pPr lvl="1">
              <a:buNone/>
            </a:pPr>
            <a:r>
              <a:rPr lang="en-US" sz="2400" b="1" dirty="0"/>
              <a:t>- </a:t>
            </a:r>
            <a:r>
              <a:rPr lang="en-US" sz="2400" dirty="0"/>
              <a:t>Typing </a:t>
            </a:r>
            <a:r>
              <a:rPr lang="en-US" b="1" dirty="0">
                <a:solidFill>
                  <a:srgbClr val="C00000"/>
                </a:solidFill>
              </a:rPr>
              <a:t>ls</a:t>
            </a:r>
            <a:r>
              <a:rPr lang="en-US" sz="2400" dirty="0"/>
              <a:t> in a command-line interface and </a:t>
            </a:r>
            <a:r>
              <a:rPr lang="en-US" sz="2400"/>
              <a:t>pressing Enter (used to list files).</a:t>
            </a:r>
            <a:endParaRPr lang="en-US" sz="2400" dirty="0"/>
          </a:p>
          <a:p>
            <a:pPr lvl="1">
              <a:buNone/>
            </a:pPr>
            <a:r>
              <a:rPr lang="en-US" sz="2400" dirty="0"/>
              <a:t>- Here, Enter (K) executes the command directly, and no additional cognitive effort is needed.</a:t>
            </a:r>
          </a:p>
          <a:p>
            <a:pPr lvl="1">
              <a:buNone/>
            </a:pPr>
            <a:r>
              <a:rPr lang="en-US" sz="2400" b="1" dirty="0">
                <a:solidFill>
                  <a:srgbClr val="0070C0"/>
                </a:solidFill>
              </a:rPr>
              <a:t>		M&lt;argument&gt; K     -&gt;       M &lt;argument&gt; K</a:t>
            </a:r>
          </a:p>
          <a:p>
            <a:pPr lvl="1">
              <a:buNone/>
            </a:pPr>
            <a:r>
              <a:rPr lang="en-US" sz="2400" b="1" dirty="0"/>
              <a:t>Example: </a:t>
            </a:r>
          </a:p>
          <a:p>
            <a:pPr lvl="1">
              <a:buNone/>
            </a:pPr>
            <a:r>
              <a:rPr lang="en-US" sz="2400" b="1" dirty="0"/>
              <a:t>- </a:t>
            </a:r>
            <a:r>
              <a:rPr lang="en-US" sz="2400" dirty="0"/>
              <a:t>Typing </a:t>
            </a:r>
            <a:r>
              <a:rPr lang="en-US" sz="2400" b="1" dirty="0">
                <a:solidFill>
                  <a:srgbClr val="C00000"/>
                </a:solidFill>
              </a:rPr>
              <a:t>del filename.txt </a:t>
            </a:r>
            <a:r>
              <a:rPr lang="en-US" sz="2400" dirty="0"/>
              <a:t>and pressing Enter.</a:t>
            </a:r>
          </a:p>
          <a:p>
            <a:pPr lvl="1">
              <a:buNone/>
            </a:pPr>
            <a:r>
              <a:rPr lang="en-US" sz="2400" dirty="0"/>
              <a:t>- The user thinks before pressing Enter (K) to confirm deletion.</a:t>
            </a:r>
          </a:p>
          <a:p>
            <a:pPr lvl="1">
              <a:buNone/>
            </a:pPr>
            <a:r>
              <a:rPr lang="en-US" sz="2400" dirty="0"/>
              <a:t>- Here, M is retained because the user processes the impact of the argument.</a:t>
            </a:r>
          </a:p>
        </p:txBody>
      </p:sp>
      <p:sp>
        <p:nvSpPr>
          <p:cNvPr id="4" name="Title 1"/>
          <p:cNvSpPr>
            <a:spLocks noGrp="1"/>
          </p:cNvSpPr>
          <p:nvPr>
            <p:ph type="title"/>
          </p:nvPr>
        </p:nvSpPr>
        <p:spPr>
          <a:xfrm>
            <a:off x="457200" y="152400"/>
            <a:ext cx="8229600" cy="563562"/>
          </a:xfrm>
        </p:spPr>
        <p:txBody>
          <a:bodyPr>
            <a:normAutofit fontScale="90000"/>
          </a:bodyPr>
          <a:lstStyle/>
          <a:p>
            <a:r>
              <a:rPr lang="en-US" sz="3600" b="1" dirty="0"/>
              <a:t>Rules for keeping/deleting the M operator</a:t>
            </a:r>
            <a:endParaRPr lang="en-US" sz="3600" dirty="0"/>
          </a:p>
        </p:txBody>
      </p:sp>
    </p:spTree>
    <p:extLst>
      <p:ext uri="{BB962C8B-B14F-4D97-AF65-F5344CB8AC3E}">
        <p14:creationId xmlns:p14="http://schemas.microsoft.com/office/powerpoint/2010/main" val="2446674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the KLM Does Not Do</a:t>
            </a: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dirty="0"/>
              <a:t>The KLM was not designed to consider the following:</a:t>
            </a:r>
          </a:p>
          <a:p>
            <a:pPr lvl="2">
              <a:buNone/>
            </a:pPr>
            <a:r>
              <a:rPr lang="en-US" sz="3200" dirty="0">
                <a:solidFill>
                  <a:srgbClr val="0070C0"/>
                </a:solidFill>
              </a:rPr>
              <a:t>– </a:t>
            </a:r>
            <a:r>
              <a:rPr lang="en-US" sz="3200" b="1" dirty="0">
                <a:solidFill>
                  <a:srgbClr val="0070C0"/>
                </a:solidFill>
              </a:rPr>
              <a:t>Errors</a:t>
            </a:r>
          </a:p>
          <a:p>
            <a:pPr lvl="2">
              <a:buNone/>
            </a:pPr>
            <a:r>
              <a:rPr lang="en-US" sz="3200" dirty="0">
                <a:solidFill>
                  <a:srgbClr val="0070C0"/>
                </a:solidFill>
              </a:rPr>
              <a:t>– </a:t>
            </a:r>
            <a:r>
              <a:rPr lang="en-US" sz="3200" b="1" dirty="0">
                <a:solidFill>
                  <a:srgbClr val="0070C0"/>
                </a:solidFill>
              </a:rPr>
              <a:t>Learning</a:t>
            </a:r>
          </a:p>
          <a:p>
            <a:pPr lvl="2">
              <a:buNone/>
            </a:pPr>
            <a:r>
              <a:rPr lang="en-US" sz="3200" dirty="0">
                <a:solidFill>
                  <a:srgbClr val="0070C0"/>
                </a:solidFill>
              </a:rPr>
              <a:t>– </a:t>
            </a:r>
            <a:r>
              <a:rPr lang="en-US" sz="3200" b="1" dirty="0">
                <a:solidFill>
                  <a:srgbClr val="0070C0"/>
                </a:solidFill>
              </a:rPr>
              <a:t>Functionality</a:t>
            </a:r>
          </a:p>
          <a:p>
            <a:pPr lvl="2">
              <a:buNone/>
            </a:pPr>
            <a:r>
              <a:rPr lang="en-US" sz="3200" dirty="0">
                <a:solidFill>
                  <a:srgbClr val="0070C0"/>
                </a:solidFill>
              </a:rPr>
              <a:t>– </a:t>
            </a:r>
            <a:r>
              <a:rPr lang="en-US" sz="3200" b="1" dirty="0">
                <a:solidFill>
                  <a:srgbClr val="0070C0"/>
                </a:solidFill>
              </a:rPr>
              <a:t>Recall</a:t>
            </a:r>
          </a:p>
          <a:p>
            <a:pPr lvl="2">
              <a:buNone/>
            </a:pPr>
            <a:r>
              <a:rPr lang="en-US" sz="3200" dirty="0">
                <a:solidFill>
                  <a:srgbClr val="0070C0"/>
                </a:solidFill>
              </a:rPr>
              <a:t>– </a:t>
            </a:r>
            <a:r>
              <a:rPr lang="en-US" sz="3200" b="1" dirty="0">
                <a:solidFill>
                  <a:srgbClr val="0070C0"/>
                </a:solidFill>
              </a:rPr>
              <a:t>Concentration</a:t>
            </a:r>
          </a:p>
          <a:p>
            <a:pPr lvl="2">
              <a:buNone/>
            </a:pPr>
            <a:r>
              <a:rPr lang="en-US" sz="3200" dirty="0">
                <a:solidFill>
                  <a:srgbClr val="0070C0"/>
                </a:solidFill>
              </a:rPr>
              <a:t>– </a:t>
            </a:r>
            <a:r>
              <a:rPr lang="en-US" sz="3200" b="1" dirty="0">
                <a:solidFill>
                  <a:srgbClr val="0070C0"/>
                </a:solidFill>
              </a:rPr>
              <a:t>Fatigue</a:t>
            </a:r>
          </a:p>
          <a:p>
            <a:pPr lvl="2">
              <a:buNone/>
            </a:pPr>
            <a:r>
              <a:rPr lang="en-US" sz="3200" dirty="0">
                <a:solidFill>
                  <a:srgbClr val="0070C0"/>
                </a:solidFill>
              </a:rPr>
              <a:t>– </a:t>
            </a:r>
            <a:r>
              <a:rPr lang="en-US" sz="3200" b="1" dirty="0">
                <a:solidFill>
                  <a:srgbClr val="0070C0"/>
                </a:solidFill>
              </a:rPr>
              <a:t>Acceptability</a:t>
            </a:r>
            <a:endParaRPr lang="en-US" sz="3200" dirty="0">
              <a:solidFill>
                <a:srgbClr val="0070C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for the KLM</a:t>
            </a:r>
            <a:endParaRPr lang="en-US" dirty="0"/>
          </a:p>
        </p:txBody>
      </p:sp>
      <p:sp>
        <p:nvSpPr>
          <p:cNvPr id="3" name="Content Placeholder 2"/>
          <p:cNvSpPr>
            <a:spLocks noGrp="1"/>
          </p:cNvSpPr>
          <p:nvPr>
            <p:ph idx="1"/>
          </p:nvPr>
        </p:nvSpPr>
        <p:spPr/>
        <p:txBody>
          <a:bodyPr>
            <a:normAutofit/>
          </a:bodyPr>
          <a:lstStyle/>
          <a:p>
            <a:r>
              <a:rPr lang="en-US" dirty="0"/>
              <a:t>Case 1 (Mouse-Driven Text Editor)</a:t>
            </a:r>
          </a:p>
          <a:p>
            <a:pPr lvl="1"/>
            <a:r>
              <a:rPr lang="en-US" dirty="0"/>
              <a:t>During the development of the Xerox Star KLMs served as expert proxies</a:t>
            </a:r>
          </a:p>
          <a:p>
            <a:r>
              <a:rPr lang="en-US" dirty="0"/>
              <a:t>Case 2 (Directory Assistance Workstation)</a:t>
            </a:r>
          </a:p>
          <a:p>
            <a:pPr lvl="1"/>
            <a:r>
              <a:rPr lang="en-US" dirty="0"/>
              <a:t>The KLM clarified the tradeoffs between the number of keystrokes entered in the query and the number of returned fields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GOMS- Goals, Operators, Methods, Selection</a:t>
            </a:r>
            <a:endParaRPr lang="en-US" sz="3200" dirty="0"/>
          </a:p>
        </p:txBody>
      </p:sp>
      <p:sp>
        <p:nvSpPr>
          <p:cNvPr id="3" name="Content Placeholder 2"/>
          <p:cNvSpPr>
            <a:spLocks noGrp="1"/>
          </p:cNvSpPr>
          <p:nvPr>
            <p:ph idx="1"/>
          </p:nvPr>
        </p:nvSpPr>
        <p:spPr>
          <a:xfrm>
            <a:off x="457200" y="1371600"/>
            <a:ext cx="8229600" cy="5029200"/>
          </a:xfrm>
        </p:spPr>
        <p:txBody>
          <a:bodyPr/>
          <a:lstStyle/>
          <a:p>
            <a:r>
              <a:rPr lang="en-US" dirty="0"/>
              <a:t>Goal/task models can be used to explore the methods people use to accomplish their goals</a:t>
            </a:r>
          </a:p>
          <a:p>
            <a:r>
              <a:rPr lang="en-US" dirty="0"/>
              <a:t>Card et al. suggested that user interaction could be described by defining the sequential actions a person undertakes to accomplish a task.</a:t>
            </a:r>
          </a:p>
        </p:txBody>
      </p:sp>
      <p:pic>
        <p:nvPicPr>
          <p:cNvPr id="17410" name="Picture 2"/>
          <p:cNvPicPr>
            <a:picLocks noChangeAspect="1" noChangeArrowheads="1"/>
          </p:cNvPicPr>
          <p:nvPr/>
        </p:nvPicPr>
        <p:blipFill>
          <a:blip r:embed="rId2"/>
          <a:srcRect/>
          <a:stretch>
            <a:fillRect/>
          </a:stretch>
        </p:blipFill>
        <p:spPr bwMode="auto">
          <a:xfrm>
            <a:off x="609600" y="4495800"/>
            <a:ext cx="8140505" cy="213360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GOMS Component</a:t>
            </a:r>
          </a:p>
        </p:txBody>
      </p:sp>
      <p:sp>
        <p:nvSpPr>
          <p:cNvPr id="3" name="Content Placeholder 2"/>
          <p:cNvSpPr>
            <a:spLocks noGrp="1"/>
          </p:cNvSpPr>
          <p:nvPr>
            <p:ph idx="1"/>
          </p:nvPr>
        </p:nvSpPr>
        <p:spPr>
          <a:xfrm>
            <a:off x="457200" y="1295400"/>
            <a:ext cx="8229600" cy="5029200"/>
          </a:xfrm>
        </p:spPr>
        <p:txBody>
          <a:bodyPr>
            <a:normAutofit/>
          </a:bodyPr>
          <a:lstStyle/>
          <a:p>
            <a:r>
              <a:rPr lang="en-US" dirty="0">
                <a:solidFill>
                  <a:srgbClr val="FF0000"/>
                </a:solidFill>
              </a:rPr>
              <a:t>Goals</a:t>
            </a:r>
            <a:r>
              <a:rPr lang="en-US" dirty="0"/>
              <a:t> - Tasks are deconstructed as a set of goals and </a:t>
            </a:r>
            <a:r>
              <a:rPr lang="en-US" dirty="0" err="1"/>
              <a:t>subgoals</a:t>
            </a:r>
            <a:r>
              <a:rPr lang="en-US" dirty="0"/>
              <a:t>.</a:t>
            </a:r>
          </a:p>
          <a:p>
            <a:r>
              <a:rPr lang="en-US" dirty="0">
                <a:solidFill>
                  <a:srgbClr val="FF0000"/>
                </a:solidFill>
              </a:rPr>
              <a:t>Operators </a:t>
            </a:r>
            <a:r>
              <a:rPr lang="en-US" dirty="0"/>
              <a:t>- Tasks can only be carried out by undertaking specific actions.</a:t>
            </a:r>
          </a:p>
          <a:p>
            <a:r>
              <a:rPr lang="en-US" dirty="0">
                <a:solidFill>
                  <a:srgbClr val="FF0000"/>
                </a:solidFill>
              </a:rPr>
              <a:t>Methods</a:t>
            </a:r>
            <a:r>
              <a:rPr lang="en-US" dirty="0"/>
              <a:t> - Represent ways of achieving a goal</a:t>
            </a:r>
          </a:p>
          <a:p>
            <a:pPr lvl="1"/>
            <a:r>
              <a:rPr lang="en-US" dirty="0"/>
              <a:t>Comprised of operators that facilitate method completion</a:t>
            </a:r>
          </a:p>
          <a:p>
            <a:r>
              <a:rPr lang="en-US" dirty="0">
                <a:solidFill>
                  <a:srgbClr val="FF0000"/>
                </a:solidFill>
              </a:rPr>
              <a:t>Selection Rules </a:t>
            </a:r>
            <a:r>
              <a:rPr lang="en-US" dirty="0"/>
              <a:t>- The method that the user chooses is determined by selection rules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GOMS – </a:t>
            </a:r>
            <a:r>
              <a:rPr lang="en-US" b="1" i="1" dirty="0"/>
              <a:t>CMN-GOMS</a:t>
            </a:r>
            <a:endParaRPr lang="en-US" dirty="0"/>
          </a:p>
        </p:txBody>
      </p:sp>
      <p:sp>
        <p:nvSpPr>
          <p:cNvPr id="3" name="Content Placeholder 2"/>
          <p:cNvSpPr>
            <a:spLocks noGrp="1"/>
          </p:cNvSpPr>
          <p:nvPr>
            <p:ph idx="1"/>
          </p:nvPr>
        </p:nvSpPr>
        <p:spPr/>
        <p:txBody>
          <a:bodyPr>
            <a:normAutofit fontScale="92500" lnSpcReduction="10000"/>
          </a:bodyPr>
          <a:lstStyle/>
          <a:p>
            <a:r>
              <a:rPr lang="en-US" dirty="0"/>
              <a:t>CMN-GOMS can predict behavior and assess memory requirements</a:t>
            </a:r>
          </a:p>
          <a:p>
            <a:r>
              <a:rPr lang="en-US" dirty="0"/>
              <a:t>CMN-GOMS (named after Card, Moran, &amp; Newell) –a detailed expansion of the general GOMS model</a:t>
            </a:r>
          </a:p>
          <a:p>
            <a:pPr lvl="1"/>
            <a:r>
              <a:rPr lang="en-US" dirty="0"/>
              <a:t>Includes specific analysis procedures and notation descriptions</a:t>
            </a:r>
          </a:p>
          <a:p>
            <a:r>
              <a:rPr lang="en-US" dirty="0"/>
              <a:t>Can judge memory requirements (the depth of the nested goal structures)</a:t>
            </a:r>
          </a:p>
          <a:p>
            <a:r>
              <a:rPr lang="en-US" dirty="0"/>
              <a:t>Provides insight into user performance measures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GOMS – </a:t>
            </a:r>
            <a:r>
              <a:rPr lang="en-US" b="1" i="1" dirty="0"/>
              <a:t>Other GOMS Models</a:t>
            </a:r>
            <a:endParaRPr lang="en-US" dirty="0"/>
          </a:p>
        </p:txBody>
      </p:sp>
      <p:sp>
        <p:nvSpPr>
          <p:cNvPr id="3" name="Content Placeholder 2"/>
          <p:cNvSpPr>
            <a:spLocks noGrp="1"/>
          </p:cNvSpPr>
          <p:nvPr>
            <p:ph idx="1"/>
          </p:nvPr>
        </p:nvSpPr>
        <p:spPr/>
        <p:txBody>
          <a:bodyPr>
            <a:normAutofit lnSpcReduction="10000"/>
          </a:bodyPr>
          <a:lstStyle/>
          <a:p>
            <a:r>
              <a:rPr lang="en-US" dirty="0"/>
              <a:t>NGOMSL (Natural GOMS Language), developed by </a:t>
            </a:r>
            <a:r>
              <a:rPr lang="en-US" dirty="0" err="1"/>
              <a:t>Kieras</a:t>
            </a:r>
            <a:r>
              <a:rPr lang="en-US" dirty="0"/>
              <a:t>, provides a structured natural-language notation for GOMS analysis and describes the procedures for accomplishing that analysis (</a:t>
            </a:r>
            <a:r>
              <a:rPr lang="en-US" dirty="0" err="1"/>
              <a:t>Kieras</a:t>
            </a:r>
            <a:r>
              <a:rPr lang="en-US" dirty="0"/>
              <a:t>, 1997)</a:t>
            </a:r>
          </a:p>
          <a:p>
            <a:pPr lvl="1"/>
            <a:r>
              <a:rPr lang="en-US" dirty="0"/>
              <a:t>NGOMSL Provides:</a:t>
            </a:r>
          </a:p>
          <a:p>
            <a:pPr lvl="2"/>
            <a:r>
              <a:rPr lang="en-US" dirty="0"/>
              <a:t>A method for measuring the time it will take to learn specific method of operation</a:t>
            </a:r>
          </a:p>
          <a:p>
            <a:pPr lvl="2"/>
            <a:r>
              <a:rPr lang="en-US" dirty="0"/>
              <a:t>A way to determine the consistency of a design’s methods of operation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GOMS – </a:t>
            </a:r>
            <a:r>
              <a:rPr lang="en-US" b="1" i="1" dirty="0"/>
              <a:t>Other GOMS Models</a:t>
            </a:r>
            <a:endParaRPr lang="en-US" dirty="0"/>
          </a:p>
        </p:txBody>
      </p:sp>
      <p:sp>
        <p:nvSpPr>
          <p:cNvPr id="3" name="Content Placeholder 2"/>
          <p:cNvSpPr>
            <a:spLocks noGrp="1"/>
          </p:cNvSpPr>
          <p:nvPr>
            <p:ph idx="1"/>
          </p:nvPr>
        </p:nvSpPr>
        <p:spPr/>
        <p:txBody>
          <a:bodyPr>
            <a:normAutofit fontScale="85000" lnSpcReduction="10000"/>
          </a:bodyPr>
          <a:lstStyle/>
          <a:p>
            <a:r>
              <a:rPr lang="en-US" dirty="0"/>
              <a:t>CPM-GOMS represents</a:t>
            </a:r>
          </a:p>
          <a:p>
            <a:pPr lvl="1"/>
            <a:r>
              <a:rPr lang="en-US" dirty="0"/>
              <a:t>Cognitive</a:t>
            </a:r>
          </a:p>
          <a:p>
            <a:pPr lvl="1"/>
            <a:r>
              <a:rPr lang="en-US" dirty="0"/>
              <a:t>Perceptual</a:t>
            </a:r>
          </a:p>
          <a:p>
            <a:pPr lvl="1"/>
            <a:r>
              <a:rPr lang="en-US" dirty="0"/>
              <a:t>Motor operators</a:t>
            </a:r>
          </a:p>
          <a:p>
            <a:r>
              <a:rPr lang="en-US" dirty="0"/>
              <a:t>CPM-GOMS uses Program Evaluation Review Technique (PERT- Program Evaluation Review Technique) charts</a:t>
            </a:r>
          </a:p>
          <a:p>
            <a:pPr lvl="1"/>
            <a:r>
              <a:rPr lang="en-US" dirty="0"/>
              <a:t>Maps task durations using the critical path method (CPM).</a:t>
            </a:r>
          </a:p>
          <a:p>
            <a:r>
              <a:rPr lang="en-US" dirty="0"/>
              <a:t>CPM-GOMS is based directly on the Model Human Processor</a:t>
            </a:r>
          </a:p>
          <a:p>
            <a:pPr lvl="1"/>
            <a:r>
              <a:rPr lang="en-US" dirty="0"/>
              <a:t>Assumes that perceptual, cognitive, and motor processors function in parallel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GOMS – </a:t>
            </a:r>
            <a:r>
              <a:rPr lang="en-US" b="1" i="1" dirty="0"/>
              <a:t>Other GOMS Models</a:t>
            </a:r>
            <a:endParaRPr lang="en-US" dirty="0"/>
          </a:p>
        </p:txBody>
      </p:sp>
      <p:sp>
        <p:nvSpPr>
          <p:cNvPr id="3" name="Content Placeholder 2"/>
          <p:cNvSpPr>
            <a:spLocks noGrp="1"/>
          </p:cNvSpPr>
          <p:nvPr>
            <p:ph idx="1"/>
          </p:nvPr>
        </p:nvSpPr>
        <p:spPr/>
        <p:txBody>
          <a:bodyPr/>
          <a:lstStyle/>
          <a:p>
            <a:r>
              <a:rPr lang="en-US" dirty="0"/>
              <a:t>Program Evaluation Review Technique (PERT) chart Resource Flows</a:t>
            </a:r>
          </a:p>
        </p:txBody>
      </p:sp>
      <p:pic>
        <p:nvPicPr>
          <p:cNvPr id="18434" name="Picture 2"/>
          <p:cNvPicPr>
            <a:picLocks noChangeAspect="1" noChangeArrowheads="1"/>
          </p:cNvPicPr>
          <p:nvPr/>
        </p:nvPicPr>
        <p:blipFill>
          <a:blip r:embed="rId2"/>
          <a:srcRect/>
          <a:stretch>
            <a:fillRect/>
          </a:stretch>
        </p:blipFill>
        <p:spPr bwMode="auto">
          <a:xfrm>
            <a:off x="838200" y="2819400"/>
            <a:ext cx="7467600" cy="3686537"/>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Modeling Structure</a:t>
            </a:r>
            <a:endParaRPr lang="en-US" dirty="0"/>
          </a:p>
        </p:txBody>
      </p:sp>
      <p:sp>
        <p:nvSpPr>
          <p:cNvPr id="3" name="Content Placeholder 2"/>
          <p:cNvSpPr>
            <a:spLocks noGrp="1"/>
          </p:cNvSpPr>
          <p:nvPr>
            <p:ph idx="1"/>
          </p:nvPr>
        </p:nvSpPr>
        <p:spPr/>
        <p:txBody>
          <a:bodyPr/>
          <a:lstStyle/>
          <a:p>
            <a:r>
              <a:rPr lang="en-US" dirty="0"/>
              <a:t>Structural models can help us to see the relationship between the conceptual components and the physical components of the system, allowing us to judge the design’s relative effectiveness.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Modeling Structure </a:t>
            </a:r>
            <a:r>
              <a:rPr lang="en-US" b="1"/>
              <a:t>– </a:t>
            </a:r>
            <a:r>
              <a:rPr lang="en-US" b="1" i="1"/>
              <a:t>Hick’s </a:t>
            </a:r>
            <a:r>
              <a:rPr lang="en-US" b="1" i="1" dirty="0"/>
              <a:t>Law</a:t>
            </a:r>
            <a:endParaRPr lang="en-US" dirty="0"/>
          </a:p>
        </p:txBody>
      </p:sp>
      <p:sp>
        <p:nvSpPr>
          <p:cNvPr id="3" name="Content Placeholder 2"/>
          <p:cNvSpPr>
            <a:spLocks noGrp="1"/>
          </p:cNvSpPr>
          <p:nvPr>
            <p:ph idx="1"/>
          </p:nvPr>
        </p:nvSpPr>
        <p:spPr/>
        <p:txBody>
          <a:bodyPr>
            <a:normAutofit/>
          </a:bodyPr>
          <a:lstStyle/>
          <a:p>
            <a:r>
              <a:rPr lang="en-US" dirty="0"/>
              <a:t>Hick’s law can be used to create menu structures</a:t>
            </a:r>
          </a:p>
          <a:p>
            <a:r>
              <a:rPr lang="en-US" dirty="0"/>
              <a:t>Hick’s law states that the time it takes to choose one item from </a:t>
            </a:r>
            <a:r>
              <a:rPr lang="en-US" i="1" dirty="0"/>
              <a:t>n alternatives is proportional to the logarithm (base </a:t>
            </a:r>
            <a:r>
              <a:rPr lang="en-US" dirty="0"/>
              <a:t>2) of the number of choices, plus 1.</a:t>
            </a:r>
          </a:p>
          <a:p>
            <a:r>
              <a:rPr lang="en-US" dirty="0"/>
              <a:t>This equation is predicated on all items having an equal probability of being chosen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Modeling Structure – </a:t>
            </a:r>
            <a:r>
              <a:rPr lang="en-US" b="1" i="1" dirty="0"/>
              <a:t>Hicks Law</a:t>
            </a:r>
            <a:endParaRPr lang="en-US" dirty="0"/>
          </a:p>
        </p:txBody>
      </p:sp>
      <p:sp>
        <p:nvSpPr>
          <p:cNvPr id="3" name="Content Placeholder 2"/>
          <p:cNvSpPr>
            <a:spLocks noGrp="1"/>
          </p:cNvSpPr>
          <p:nvPr>
            <p:ph idx="1"/>
          </p:nvPr>
        </p:nvSpPr>
        <p:spPr>
          <a:xfrm>
            <a:off x="381000" y="2743200"/>
            <a:ext cx="8229600" cy="3505200"/>
          </a:xfrm>
        </p:spPr>
        <p:txBody>
          <a:bodyPr/>
          <a:lstStyle/>
          <a:p>
            <a:r>
              <a:rPr lang="en-US" dirty="0"/>
              <a:t>The coefficients are empirically determined from experimental design</a:t>
            </a:r>
          </a:p>
          <a:p>
            <a:r>
              <a:rPr lang="en-US" dirty="0" err="1"/>
              <a:t>Raskin</a:t>
            </a:r>
            <a:r>
              <a:rPr lang="en-US" dirty="0"/>
              <a:t> (2000) suggests that</a:t>
            </a:r>
          </a:p>
          <a:p>
            <a:pPr>
              <a:buNone/>
            </a:pPr>
            <a:r>
              <a:rPr lang="en-US" b="1" i="1" dirty="0"/>
              <a:t>			a =50 and b= 150</a:t>
            </a:r>
          </a:p>
          <a:p>
            <a:pPr>
              <a:buNone/>
            </a:pPr>
            <a:r>
              <a:rPr lang="en-US" dirty="0"/>
              <a:t>	are sufficient place holders for “back-of-the envelope” approximations</a:t>
            </a:r>
          </a:p>
        </p:txBody>
      </p:sp>
      <p:pic>
        <p:nvPicPr>
          <p:cNvPr id="46082" name="Picture 2"/>
          <p:cNvPicPr>
            <a:picLocks noChangeAspect="1" noChangeArrowheads="1"/>
          </p:cNvPicPr>
          <p:nvPr/>
        </p:nvPicPr>
        <p:blipFill>
          <a:blip r:embed="rId2"/>
          <a:srcRect/>
          <a:stretch>
            <a:fillRect/>
          </a:stretch>
        </p:blipFill>
        <p:spPr bwMode="auto">
          <a:xfrm>
            <a:off x="2362200" y="1600200"/>
            <a:ext cx="4476750" cy="676275"/>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Modeling Structure – </a:t>
            </a:r>
            <a:r>
              <a:rPr lang="en-US" sz="3200" b="1" i="1" dirty="0"/>
              <a:t>Other Forms of Hicks Law</a:t>
            </a:r>
            <a:endParaRPr lang="en-US" sz="3200" dirty="0"/>
          </a:p>
        </p:txBody>
      </p:sp>
      <p:pic>
        <p:nvPicPr>
          <p:cNvPr id="47106" name="Picture 2"/>
          <p:cNvPicPr>
            <a:picLocks noGrp="1" noChangeAspect="1" noChangeArrowheads="1"/>
          </p:cNvPicPr>
          <p:nvPr>
            <p:ph idx="1"/>
          </p:nvPr>
        </p:nvPicPr>
        <p:blipFill>
          <a:blip r:embed="rId2"/>
          <a:srcRect/>
          <a:stretch>
            <a:fillRect/>
          </a:stretch>
        </p:blipFill>
        <p:spPr bwMode="auto">
          <a:xfrm>
            <a:off x="933450" y="1524000"/>
            <a:ext cx="7524750" cy="4314825"/>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Modeling Structure – </a:t>
            </a:r>
            <a:r>
              <a:rPr lang="en-US" b="1" i="1" dirty="0"/>
              <a:t>Hicks Law</a:t>
            </a:r>
            <a:endParaRPr lang="en-US" dirty="0"/>
          </a:p>
        </p:txBody>
      </p:sp>
      <p:sp>
        <p:nvSpPr>
          <p:cNvPr id="3" name="Content Placeholder 2"/>
          <p:cNvSpPr>
            <a:spLocks noGrp="1"/>
          </p:cNvSpPr>
          <p:nvPr>
            <p:ph idx="1"/>
          </p:nvPr>
        </p:nvSpPr>
        <p:spPr/>
        <p:txBody>
          <a:bodyPr>
            <a:normAutofit lnSpcReduction="10000"/>
          </a:bodyPr>
          <a:lstStyle/>
          <a:p>
            <a:r>
              <a:rPr lang="en-US" dirty="0"/>
              <a:t>Menu listing order must be logical and relevant</a:t>
            </a:r>
          </a:p>
          <a:p>
            <a:r>
              <a:rPr lang="en-US" dirty="0"/>
              <a:t>Menus are lists grouped according to some predetermined system</a:t>
            </a:r>
          </a:p>
          <a:p>
            <a:r>
              <a:rPr lang="en-US" dirty="0"/>
              <a:t>If the rules are not understood or if they are not relevant to a particular task, their arrangement may seem arbitrary and random, requiring users to search in a linear, sequential manner.</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Modeling Dynamics</a:t>
            </a:r>
            <a:endParaRPr lang="en-US" dirty="0"/>
          </a:p>
        </p:txBody>
      </p:sp>
      <p:sp>
        <p:nvSpPr>
          <p:cNvPr id="3" name="Content Placeholder 2"/>
          <p:cNvSpPr>
            <a:spLocks noGrp="1"/>
          </p:cNvSpPr>
          <p:nvPr>
            <p:ph idx="1"/>
          </p:nvPr>
        </p:nvSpPr>
        <p:spPr/>
        <p:txBody>
          <a:bodyPr>
            <a:normAutofit fontScale="92500" lnSpcReduction="10000"/>
          </a:bodyPr>
          <a:lstStyle/>
          <a:p>
            <a:r>
              <a:rPr lang="en-US" dirty="0"/>
              <a:t>Understanding the temporal aspects of interaction design is essential to the design of usable and useful systems</a:t>
            </a:r>
          </a:p>
          <a:p>
            <a:r>
              <a:rPr lang="en-US" dirty="0"/>
              <a:t>Interaction designs involve dynamic feedback loops between the user and the system</a:t>
            </a:r>
          </a:p>
          <a:p>
            <a:pPr lvl="1"/>
            <a:r>
              <a:rPr lang="en-US" dirty="0"/>
              <a:t>User actions alter the state of the system, which in turn influences the user’s subsequent actions</a:t>
            </a:r>
          </a:p>
          <a:p>
            <a:r>
              <a:rPr lang="en-US" dirty="0"/>
              <a:t>Interaction designers need tools to explore how a system undergoes transitions from one state to the next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Modeling Dynamics – </a:t>
            </a:r>
            <a:r>
              <a:rPr lang="en-US" b="1" i="1" dirty="0"/>
              <a:t>State Transition Networks</a:t>
            </a:r>
            <a:endParaRPr lang="en-US" dirty="0"/>
          </a:p>
        </p:txBody>
      </p:sp>
      <p:sp>
        <p:nvSpPr>
          <p:cNvPr id="3" name="Content Placeholder 2"/>
          <p:cNvSpPr>
            <a:spLocks noGrp="1"/>
          </p:cNvSpPr>
          <p:nvPr>
            <p:ph idx="1"/>
          </p:nvPr>
        </p:nvSpPr>
        <p:spPr/>
        <p:txBody>
          <a:bodyPr/>
          <a:lstStyle/>
          <a:p>
            <a:r>
              <a:rPr lang="en-US" dirty="0"/>
              <a:t>State Transition Networks can be used to explore:</a:t>
            </a:r>
          </a:p>
          <a:p>
            <a:pPr lvl="1"/>
            <a:r>
              <a:rPr lang="en-US" dirty="0"/>
              <a:t>Menus</a:t>
            </a:r>
          </a:p>
          <a:p>
            <a:pPr lvl="1"/>
            <a:r>
              <a:rPr lang="en-US" dirty="0"/>
              <a:t>Icons</a:t>
            </a:r>
          </a:p>
          <a:p>
            <a:pPr lvl="1"/>
            <a:r>
              <a:rPr lang="en-US" dirty="0"/>
              <a:t>Tools</a:t>
            </a:r>
          </a:p>
          <a:p>
            <a:r>
              <a:rPr lang="en-US" dirty="0"/>
              <a:t>State Transition Networks can show the operation of peripheral devices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Modeling Dynamics – </a:t>
            </a:r>
            <a:r>
              <a:rPr lang="en-US" b="1" i="1" dirty="0"/>
              <a:t>State Transition Networks</a:t>
            </a:r>
            <a:endParaRPr lang="en-US" dirty="0"/>
          </a:p>
        </p:txBody>
      </p:sp>
      <p:sp>
        <p:nvSpPr>
          <p:cNvPr id="3" name="Content Placeholder 2"/>
          <p:cNvSpPr>
            <a:spLocks noGrp="1"/>
          </p:cNvSpPr>
          <p:nvPr>
            <p:ph idx="1"/>
          </p:nvPr>
        </p:nvSpPr>
        <p:spPr/>
        <p:txBody>
          <a:bodyPr/>
          <a:lstStyle/>
          <a:p>
            <a:r>
              <a:rPr lang="en-US" dirty="0"/>
              <a:t>STNs are appropriate for showing sequential operations that may involve choice on the part of the user, as well as for expressing iteration.</a:t>
            </a:r>
          </a:p>
        </p:txBody>
      </p:sp>
      <p:pic>
        <p:nvPicPr>
          <p:cNvPr id="48130" name="Picture 2"/>
          <p:cNvPicPr>
            <a:picLocks noChangeAspect="1" noChangeArrowheads="1"/>
          </p:cNvPicPr>
          <p:nvPr/>
        </p:nvPicPr>
        <p:blipFill>
          <a:blip r:embed="rId2"/>
          <a:srcRect/>
          <a:stretch>
            <a:fillRect/>
          </a:stretch>
        </p:blipFill>
        <p:spPr bwMode="auto">
          <a:xfrm>
            <a:off x="990600" y="3276600"/>
            <a:ext cx="7172325" cy="288607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Modeling Dynamics – </a:t>
            </a:r>
            <a:r>
              <a:rPr lang="en-US" b="1" i="1" dirty="0"/>
              <a:t>Three-State Model</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Three-State Model can help designers to determine appropriate I/O devices for specific interaction designs</a:t>
            </a:r>
          </a:p>
          <a:p>
            <a:r>
              <a:rPr lang="en-US" dirty="0"/>
              <a:t>The TSM can reveal intrinsic device states and their subsequent transitions</a:t>
            </a:r>
          </a:p>
          <a:p>
            <a:pPr lvl="1"/>
            <a:r>
              <a:rPr lang="en-US" dirty="0"/>
              <a:t>The interaction designer can use these to make determinations about the correlation between task and device</a:t>
            </a:r>
          </a:p>
          <a:p>
            <a:pPr lvl="1"/>
            <a:r>
              <a:rPr lang="en-US" dirty="0"/>
              <a:t>Certain devices can be ruled out early in the design process if they do not possess the appropriate states for the specified task</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Modeling Dynamics – </a:t>
            </a:r>
            <a:r>
              <a:rPr lang="en-US" b="1" i="1" dirty="0"/>
              <a:t>Three-State Model</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Three-State Model (TSM) is capable of describing three different types of pointer movements</a:t>
            </a:r>
          </a:p>
          <a:p>
            <a:pPr lvl="1"/>
            <a:r>
              <a:rPr lang="en-US" dirty="0"/>
              <a:t>Tracked: A mouse device is tracked by the system and represented by the cursor position</a:t>
            </a:r>
          </a:p>
          <a:p>
            <a:pPr lvl="1"/>
            <a:r>
              <a:rPr lang="en-US" dirty="0"/>
              <a:t>Dragged: A mouse also can be used to manipulate screen elements using drag-and-drop operations</a:t>
            </a:r>
          </a:p>
          <a:p>
            <a:pPr lvl="1"/>
            <a:r>
              <a:rPr lang="en-US" dirty="0"/>
              <a:t>Disengaged movement: Some pointing devices can be moved without being tracked by the system, such as light pens or fingers on a touch-screen, and then reengage the system at random screen locations. Also lift mouse, move and put it 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8639</TotalTime>
  <Words>3216</Words>
  <Application>Microsoft Office PowerPoint</Application>
  <PresentationFormat>On-screen Show (4:3)</PresentationFormat>
  <Paragraphs>316</Paragraphs>
  <Slides>60</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64" baseType="lpstr">
      <vt:lpstr>Arial</vt:lpstr>
      <vt:lpstr>Calibri</vt:lpstr>
      <vt:lpstr>Office Theme</vt:lpstr>
      <vt:lpstr>Equation</vt:lpstr>
      <vt:lpstr>Module 4</vt:lpstr>
      <vt:lpstr>Introduction</vt:lpstr>
      <vt:lpstr>Model Human Processor (MHP)</vt:lpstr>
      <vt:lpstr>Key Components of MHP</vt:lpstr>
      <vt:lpstr>Model Human Processor (MHP) </vt:lpstr>
      <vt:lpstr>Model Human Processor (MHP) </vt:lpstr>
      <vt:lpstr>MHP – Working Memory</vt:lpstr>
      <vt:lpstr>MHP – Working Memory</vt:lpstr>
      <vt:lpstr>MHP – Long-Term Memory</vt:lpstr>
      <vt:lpstr>MHP – Processor Timing </vt:lpstr>
      <vt:lpstr>MHP – Processor Timing</vt:lpstr>
      <vt:lpstr>MHP – Processor Timing</vt:lpstr>
      <vt:lpstr>MHP – Processor Timing</vt:lpstr>
      <vt:lpstr>Cognition Example</vt:lpstr>
      <vt:lpstr>Cont..</vt:lpstr>
      <vt:lpstr>Cont..</vt:lpstr>
      <vt:lpstr>Model Human Processor (MHP)</vt:lpstr>
      <vt:lpstr>Model Human Processor (MHP)</vt:lpstr>
      <vt:lpstr>Model Human Processor (MHP)</vt:lpstr>
      <vt:lpstr>Timing values: Human Processor Model</vt:lpstr>
      <vt:lpstr>MHP – Principles of Operation</vt:lpstr>
      <vt:lpstr>MHP – Principles of Operation</vt:lpstr>
      <vt:lpstr>MHP – Principles of Operation</vt:lpstr>
      <vt:lpstr>MHP – Principles of Operation</vt:lpstr>
      <vt:lpstr>MHP – Principles of Operation</vt:lpstr>
      <vt:lpstr>MHP – Principles of Operation</vt:lpstr>
      <vt:lpstr>MHP – Principles of Operation</vt:lpstr>
      <vt:lpstr>MHP – Principles of Operation</vt:lpstr>
      <vt:lpstr>Keyboard Level Model (KLM)</vt:lpstr>
      <vt:lpstr>Keyboard Level Model (KLM)</vt:lpstr>
      <vt:lpstr>Keyboard Level Model (KLM)</vt:lpstr>
      <vt:lpstr>KLM - Operators</vt:lpstr>
      <vt:lpstr>PowerPoint Presentation</vt:lpstr>
      <vt:lpstr>KLM – Encoding Methods</vt:lpstr>
      <vt:lpstr>KLM Example 2</vt:lpstr>
      <vt:lpstr>Calculation of P: Pointing and Positioning Time</vt:lpstr>
      <vt:lpstr>Menu selection: Macintosh OS vs. Windows</vt:lpstr>
      <vt:lpstr>Menu selection: Macintosh OS vs. Windows</vt:lpstr>
      <vt:lpstr>KLM – Heuristics for M Operator Placement</vt:lpstr>
      <vt:lpstr>Rules for keeping/deleting the M operator</vt:lpstr>
      <vt:lpstr>Rules for keeping/deleting the M operator</vt:lpstr>
      <vt:lpstr>Rules for keeping/deleting the M operator</vt:lpstr>
      <vt:lpstr>What the KLM Does Not Do</vt:lpstr>
      <vt:lpstr>Applications for the KLM</vt:lpstr>
      <vt:lpstr>GOMS- Goals, Operators, Methods, Selection</vt:lpstr>
      <vt:lpstr>GOMS Component</vt:lpstr>
      <vt:lpstr>GOMS – CMN-GOMS</vt:lpstr>
      <vt:lpstr>GOMS – Other GOMS Models</vt:lpstr>
      <vt:lpstr>GOMS – Other GOMS Models</vt:lpstr>
      <vt:lpstr>GOMS – Other GOMS Models</vt:lpstr>
      <vt:lpstr>Modeling Structure</vt:lpstr>
      <vt:lpstr>Modeling Structure – Hick’s Law</vt:lpstr>
      <vt:lpstr>Modeling Structure – Hicks Law</vt:lpstr>
      <vt:lpstr>Modeling Structure – Other Forms of Hicks Law</vt:lpstr>
      <vt:lpstr>Modeling Structure – Hicks Law</vt:lpstr>
      <vt:lpstr>Modeling Dynamics</vt:lpstr>
      <vt:lpstr>Modeling Dynamics – State Transition Networks</vt:lpstr>
      <vt:lpstr>Modeling Dynamics – State Transition Networks</vt:lpstr>
      <vt:lpstr>Modeling Dynamics – Three-State Model</vt:lpstr>
      <vt:lpstr>Modeling Dynamics – Three-State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dc:title>
  <dc:creator>admin</dc:creator>
  <cp:lastModifiedBy>Prassanna J</cp:lastModifiedBy>
  <cp:revision>34</cp:revision>
  <dcterms:created xsi:type="dcterms:W3CDTF">2018-08-03T06:10:22Z</dcterms:created>
  <dcterms:modified xsi:type="dcterms:W3CDTF">2026-09-09T11:30:34Z</dcterms:modified>
</cp:coreProperties>
</file>