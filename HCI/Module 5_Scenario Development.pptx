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66" r:id="rId9"/>
    <p:sldId id="265" r:id="rId10"/>
    <p:sldId id="267" r:id="rId11"/>
    <p:sldId id="268" r:id="rId12"/>
    <p:sldId id="269" r:id="rId13"/>
    <p:sldId id="270" r:id="rId14"/>
    <p:sldId id="271" r:id="rId15"/>
    <p:sldId id="272" r:id="rId16"/>
    <p:sldId id="273" r:id="rId17"/>
    <p:sldId id="274" r:id="rId18"/>
    <p:sldId id="275" r:id="rId19"/>
    <p:sldId id="276" r:id="rId20"/>
    <p:sldId id="27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4F52CF-3639-4D22-A2BD-C4ED09396061}"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4F52CF-3639-4D22-A2BD-C4ED09396061}"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F52CF-3639-4D22-A2BD-C4ED09396061}"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4F52CF-3639-4D22-A2BD-C4ED09396061}"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4F52CF-3639-4D22-A2BD-C4ED09396061}" type="datetimeFigureOut">
              <a:rPr lang="en-US" smtClean="0"/>
              <a:pPr/>
              <a:t>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4F52CF-3639-4D22-A2BD-C4ED09396061}" type="datetimeFigureOut">
              <a:rPr lang="en-US" smtClean="0"/>
              <a:pPr/>
              <a:t>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4F52CF-3639-4D22-A2BD-C4ED09396061}" type="datetimeFigureOut">
              <a:rPr lang="en-US" smtClean="0"/>
              <a:pPr/>
              <a:t>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4F52CF-3639-4D22-A2BD-C4ED09396061}"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4F52CF-3639-4D22-A2BD-C4ED09396061}"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4F52CF-3639-4D22-A2BD-C4ED09396061}"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4F52CF-3639-4D22-A2BD-C4ED09396061}"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18AB1-13BA-4720-BE6F-CB6CA071E7B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4F52CF-3639-4D22-A2BD-C4ED09396061}" type="datetimeFigureOut">
              <a:rPr lang="en-US" smtClean="0"/>
              <a:pPr/>
              <a:t>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518AB1-13BA-4720-BE6F-CB6CA071E7B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Scenario Development</a:t>
            </a: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Development</a:t>
            </a:r>
          </a:p>
        </p:txBody>
      </p:sp>
      <p:sp>
        <p:nvSpPr>
          <p:cNvPr id="3" name="Content Placeholder 2"/>
          <p:cNvSpPr>
            <a:spLocks noGrp="1"/>
          </p:cNvSpPr>
          <p:nvPr>
            <p:ph idx="1"/>
          </p:nvPr>
        </p:nvSpPr>
        <p:spPr/>
        <p:txBody>
          <a:bodyPr>
            <a:normAutofit fontScale="92500" lnSpcReduction="10000"/>
          </a:bodyPr>
          <a:lstStyle/>
          <a:p>
            <a:r>
              <a:rPr lang="en-US" dirty="0"/>
              <a:t>Day-in-the-life scenarios</a:t>
            </a:r>
          </a:p>
          <a:p>
            <a:r>
              <a:rPr lang="en-US" dirty="0"/>
              <a:t>Write scenarios down, act them out</a:t>
            </a:r>
          </a:p>
          <a:p>
            <a:pPr lvl="1"/>
            <a:r>
              <a:rPr lang="en-US" dirty="0"/>
              <a:t>Particularly important for co-operative interfaces (e.g. Control room)</a:t>
            </a:r>
          </a:p>
          <a:p>
            <a:pPr lvl="1"/>
            <a:r>
              <a:rPr lang="en-US" dirty="0"/>
              <a:t>Common or rare situations can be represented</a:t>
            </a:r>
          </a:p>
          <a:p>
            <a:pPr lvl="1"/>
            <a:r>
              <a:rPr lang="en-US" dirty="0"/>
              <a:t>Novice and expert users</a:t>
            </a:r>
          </a:p>
          <a:p>
            <a:pPr lvl="1"/>
            <a:r>
              <a:rPr lang="en-US" dirty="0"/>
              <a:t>Personas can be used</a:t>
            </a:r>
          </a:p>
          <a:p>
            <a:r>
              <a:rPr lang="en-US" dirty="0"/>
              <a:t>Example scenario: Microsoft – Health Future  Vision</a:t>
            </a:r>
          </a:p>
          <a:p>
            <a:pPr lvl="1"/>
            <a:r>
              <a:rPr lang="en-US" dirty="0"/>
              <a:t>Seamless integration of I/O into environment, etc. </a:t>
            </a:r>
          </a:p>
          <a:p>
            <a:endParaRPr lang="en-US" dirty="0"/>
          </a:p>
          <a:p>
            <a:endParaRPr lang="en-US" dirty="0"/>
          </a:p>
        </p:txBody>
      </p:sp>
    </p:spTree>
    <p:extLst>
      <p:ext uri="{BB962C8B-B14F-4D97-AF65-F5344CB8AC3E}">
        <p14:creationId xmlns:p14="http://schemas.microsoft.com/office/powerpoint/2010/main" val="4230323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Example</a:t>
            </a:r>
          </a:p>
        </p:txBody>
      </p:sp>
      <p:sp>
        <p:nvSpPr>
          <p:cNvPr id="3" name="Content Placeholder 2"/>
          <p:cNvSpPr>
            <a:spLocks noGrp="1"/>
          </p:cNvSpPr>
          <p:nvPr>
            <p:ph idx="1"/>
          </p:nvPr>
        </p:nvSpPr>
        <p:spPr>
          <a:xfrm>
            <a:off x="457200" y="914400"/>
            <a:ext cx="8229600" cy="5943600"/>
          </a:xfrm>
        </p:spPr>
        <p:txBody>
          <a:bodyPr>
            <a:normAutofit fontScale="70000" lnSpcReduction="20000"/>
          </a:bodyPr>
          <a:lstStyle/>
          <a:p>
            <a:pPr marL="0" indent="0">
              <a:buNone/>
            </a:pPr>
            <a:r>
              <a:rPr lang="en-US" dirty="0"/>
              <a:t>A grandmother and her 10- and 12-year old grandsons have visited the museum before. They have returned this time to the Learning Center to explore what life was like in her town in Poland in the 1930s. One grandson eagerly touches the buttons on the welcome screen, and they watch the 45-second video introduction by the museum director. They then select the button on "History before the Holocaust" and choose to view a list of towns. Her small town is not on the list, but she identifies the larger nearby city, and they get a brief textual description, a map of the region, and a photograph of the marketplace. They read about the history of the town and view 15-second videos of the marketplace activity and a Yiddish theater production. They bypass descriptions of key buildings and institutions, choosing instead to read biographies of a famous community leader and a poet. Finally, they select "</a:t>
            </a:r>
            <a:r>
              <a:rPr lang="en-US" dirty="0" err="1"/>
              <a:t>GuestBook</a:t>
            </a:r>
            <a:r>
              <a:rPr lang="en-US" dirty="0"/>
              <a:t>" and add their names to the list of people who have indicated an affiliation with this town. Further up on the list, the grandmother notices the name of a childhood friend from whom she has not heard in 60 years-fortunately, the earlier visitor has left an address.</a:t>
            </a:r>
          </a:p>
          <a:p>
            <a:r>
              <a:rPr lang="en-US" dirty="0"/>
              <a:t>This scenario was written to give nontechnical museum planners and the Board of Directors an idea of what could be built if funding were provided.</a:t>
            </a:r>
          </a:p>
        </p:txBody>
      </p:sp>
    </p:spTree>
    <p:extLst>
      <p:ext uri="{BB962C8B-B14F-4D97-AF65-F5344CB8AC3E}">
        <p14:creationId xmlns:p14="http://schemas.microsoft.com/office/powerpoint/2010/main" val="110397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User Scenarios</a:t>
            </a:r>
            <a:endParaRPr lang="en-US" dirty="0"/>
          </a:p>
        </p:txBody>
      </p:sp>
      <p:sp>
        <p:nvSpPr>
          <p:cNvPr id="3" name="Content Placeholder 2"/>
          <p:cNvSpPr>
            <a:spLocks noGrp="1"/>
          </p:cNvSpPr>
          <p:nvPr>
            <p:ph idx="1"/>
          </p:nvPr>
        </p:nvSpPr>
        <p:spPr/>
        <p:txBody>
          <a:bodyPr>
            <a:normAutofit fontScale="85000" lnSpcReduction="10000"/>
          </a:bodyPr>
          <a:lstStyle/>
          <a:p>
            <a:r>
              <a:rPr lang="en-US" dirty="0"/>
              <a:t>A user scenario is a tool to imagine a user’s journey when using your application. </a:t>
            </a:r>
          </a:p>
          <a:p>
            <a:r>
              <a:rPr lang="en-US" dirty="0"/>
              <a:t>A good user scenario requires strong research and storytelling to align different teams. </a:t>
            </a:r>
          </a:p>
          <a:p>
            <a:r>
              <a:rPr lang="en-US" dirty="0"/>
              <a:t>According to the Interaction Design Foundation,</a:t>
            </a:r>
          </a:p>
          <a:p>
            <a:r>
              <a:rPr lang="en-US" i="1" dirty="0"/>
              <a:t>“User scenarios are detailed descriptions of a user – typically a persona – that describe realistic situations relevant to the design of a solution. By painting a ‘rich picture’ of a set of events, teams can appreciate user interactions in context, helping them to understand the practical needs and behaviors of users.”</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are user scenarios and why have them"/>
          <p:cNvPicPr>
            <a:picLocks noChangeAspect="1" noChangeArrowheads="1"/>
          </p:cNvPicPr>
          <p:nvPr/>
        </p:nvPicPr>
        <p:blipFill>
          <a:blip r:embed="rId2"/>
          <a:srcRect/>
          <a:stretch>
            <a:fillRect/>
          </a:stretch>
        </p:blipFill>
        <p:spPr bwMode="auto">
          <a:xfrm>
            <a:off x="899592" y="2204827"/>
            <a:ext cx="7787208" cy="4653173"/>
          </a:xfrm>
          <a:prstGeom prst="rect">
            <a:avLst/>
          </a:prstGeom>
          <a:noFill/>
        </p:spPr>
      </p:pic>
      <p:sp>
        <p:nvSpPr>
          <p:cNvPr id="3" name="Content Placeholder 2"/>
          <p:cNvSpPr>
            <a:spLocks noGrp="1"/>
          </p:cNvSpPr>
          <p:nvPr>
            <p:ph idx="1"/>
          </p:nvPr>
        </p:nvSpPr>
        <p:spPr>
          <a:xfrm>
            <a:off x="457200" y="260648"/>
            <a:ext cx="8229600" cy="5554683"/>
          </a:xfrm>
        </p:spPr>
        <p:txBody>
          <a:bodyPr/>
          <a:lstStyle/>
          <a:p>
            <a:r>
              <a:rPr lang="en-US" dirty="0"/>
              <a:t>A user scenario is a design process that highlights major ways a user could potentially interact with a product while keeping background information of the user in mind.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User Scenarios</a:t>
            </a:r>
          </a:p>
        </p:txBody>
      </p:sp>
      <p:sp>
        <p:nvSpPr>
          <p:cNvPr id="4" name="Content Placeholder 3">
            <a:extLst>
              <a:ext uri="{FF2B5EF4-FFF2-40B4-BE49-F238E27FC236}">
                <a16:creationId xmlns:a16="http://schemas.microsoft.com/office/drawing/2014/main" id="{3DB67804-FA2E-BCB3-D6E3-C32B9566FB1A}"/>
              </a:ext>
            </a:extLst>
          </p:cNvPr>
          <p:cNvSpPr>
            <a:spLocks noGrp="1"/>
          </p:cNvSpPr>
          <p:nvPr>
            <p:ph idx="1"/>
          </p:nvPr>
        </p:nvSpPr>
        <p:spPr/>
        <p:txBody>
          <a:bodyPr/>
          <a:lstStyle/>
          <a:p>
            <a:r>
              <a:rPr lang="en-US" dirty="0"/>
              <a:t>Provide us with information about the user's needs and wishes.</a:t>
            </a:r>
          </a:p>
          <a:p>
            <a:r>
              <a:rPr lang="en-US" dirty="0"/>
              <a:t>Give us the correct context of use.</a:t>
            </a:r>
          </a:p>
          <a:p>
            <a:r>
              <a:rPr lang="en-US" dirty="0"/>
              <a:t>Take us after the real steps of users when performing a task.</a:t>
            </a:r>
          </a:p>
          <a:p>
            <a:r>
              <a:rPr lang="en-US" dirty="0"/>
              <a:t>Allow to validate aspects of the design that we could have overlooked.</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User scenarios vs. user stories</a:t>
            </a:r>
            <a:br>
              <a:rPr lang="en-US" b="1" dirty="0"/>
            </a:br>
            <a:endParaRPr lang="en-US" dirty="0"/>
          </a:p>
        </p:txBody>
      </p:sp>
      <p:sp>
        <p:nvSpPr>
          <p:cNvPr id="3" name="Content Placeholder 2"/>
          <p:cNvSpPr>
            <a:spLocks noGrp="1"/>
          </p:cNvSpPr>
          <p:nvPr>
            <p:ph idx="1"/>
          </p:nvPr>
        </p:nvSpPr>
        <p:spPr>
          <a:xfrm>
            <a:off x="457200" y="1142984"/>
            <a:ext cx="8229600" cy="5357850"/>
          </a:xfrm>
        </p:spPr>
        <p:txBody>
          <a:bodyPr>
            <a:normAutofit fontScale="92500"/>
          </a:bodyPr>
          <a:lstStyle/>
          <a:p>
            <a:r>
              <a:rPr lang="en-US" dirty="0"/>
              <a:t>User stories outline the user and their needs regarding the company's offerings in a concise manner. They focus on the user's perspective and highlight general character traits related to the product.</a:t>
            </a:r>
          </a:p>
          <a:p>
            <a:r>
              <a:rPr lang="en-US" dirty="0"/>
              <a:t>On the other hand, user scenarios provide more detailed information about a user's persona, how they interact with the product, and the reasons behind their actions. They offer a deeper understanding of the user's journey, including the steps they take to achieve their goals.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User scenario vs. storyboard</a:t>
            </a:r>
            <a:br>
              <a:rPr lang="en-US" b="1" dirty="0"/>
            </a:br>
            <a:endParaRPr lang="en-US" dirty="0"/>
          </a:p>
        </p:txBody>
      </p:sp>
      <p:sp>
        <p:nvSpPr>
          <p:cNvPr id="3" name="Content Placeholder 2"/>
          <p:cNvSpPr>
            <a:spLocks noGrp="1"/>
          </p:cNvSpPr>
          <p:nvPr>
            <p:ph idx="1"/>
          </p:nvPr>
        </p:nvSpPr>
        <p:spPr>
          <a:xfrm>
            <a:off x="457200" y="1142984"/>
            <a:ext cx="8229600" cy="4983179"/>
          </a:xfrm>
        </p:spPr>
        <p:txBody>
          <a:bodyPr>
            <a:normAutofit lnSpcReduction="10000"/>
          </a:bodyPr>
          <a:lstStyle/>
          <a:p>
            <a:r>
              <a:rPr lang="en-US" dirty="0"/>
              <a:t>After developing a user scenario, a storyboard visually represents how the user interacts with your site or app. </a:t>
            </a:r>
          </a:p>
          <a:p>
            <a:r>
              <a:rPr lang="en-US" dirty="0"/>
              <a:t>Illustrations, sketches, screenshots, slideshows, and animated demos are different storyboard types UX professionals use. </a:t>
            </a:r>
          </a:p>
          <a:p>
            <a:r>
              <a:rPr lang="en-US" dirty="0"/>
              <a:t>User scenarios and storyboards work together to identify key user information and improve or create new products or features that continue delighting users.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dirty="0"/>
              <a:t>Example</a:t>
            </a:r>
          </a:p>
        </p:txBody>
      </p:sp>
      <p:sp>
        <p:nvSpPr>
          <p:cNvPr id="3" name="Content Placeholder 2"/>
          <p:cNvSpPr>
            <a:spLocks noGrp="1"/>
          </p:cNvSpPr>
          <p:nvPr>
            <p:ph idx="1"/>
          </p:nvPr>
        </p:nvSpPr>
        <p:spPr>
          <a:xfrm>
            <a:off x="457200" y="1285860"/>
            <a:ext cx="8229600" cy="5357850"/>
          </a:xfrm>
        </p:spPr>
        <p:txBody>
          <a:bodyPr anchor="t">
            <a:noAutofit/>
          </a:bodyPr>
          <a:lstStyle/>
          <a:p>
            <a:r>
              <a:rPr lang="en-US" sz="2400" b="1" dirty="0"/>
              <a:t>User story from Sam: </a:t>
            </a:r>
            <a:r>
              <a:rPr lang="en-US" sz="2400" dirty="0"/>
              <a:t>“I want to invite my students to teach them on this platform.”</a:t>
            </a:r>
          </a:p>
          <a:p>
            <a:r>
              <a:rPr lang="en-US" sz="2400" b="1" dirty="0"/>
              <a:t>User scenario:</a:t>
            </a:r>
          </a:p>
          <a:p>
            <a:pPr>
              <a:buNone/>
            </a:pPr>
            <a:r>
              <a:rPr lang="en-US" sz="2400" dirty="0"/>
              <a:t>	</a:t>
            </a:r>
            <a:r>
              <a:rPr lang="en-US" sz="2200" dirty="0"/>
              <a:t>Sam has just logged into his teacher portal after waiting in morning traffic for 40 minutes. His coffee is getting cold, and he just wants his teaching platform set up before the school day starts. </a:t>
            </a:r>
          </a:p>
          <a:p>
            <a:pPr>
              <a:buNone/>
            </a:pPr>
            <a:r>
              <a:rPr lang="en-US" sz="2200" dirty="0"/>
              <a:t>	As he takes his first sip of coffee, he realizes he still needs to invite the students. He rushes to figure out the system, texting his fellow teacher down the hall to see if they know how it works. </a:t>
            </a:r>
          </a:p>
          <a:p>
            <a:pPr>
              <a:buNone/>
            </a:pPr>
            <a:r>
              <a:rPr lang="en-US" sz="2200" dirty="0"/>
              <a:t>	Before they can reply, Sam sees the “invite your students” call-to-action button and presses it. He sees a clear list of his students, the ability to “select all,” and the “invite” option, which he clicks. </a:t>
            </a:r>
          </a:p>
          <a:p>
            <a:pPr>
              <a:buNone/>
            </a:pPr>
            <a:r>
              <a:rPr lang="en-US" sz="2200" dirty="0"/>
              <a:t>	Sam finishes sipping his coffee as he watches his students arrive in his virtual teacher portal.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to include in your user scenario</a:t>
            </a:r>
            <a:br>
              <a:rPr lang="en-US" b="1" dirty="0"/>
            </a:br>
            <a:endParaRPr lang="en-US" dirty="0"/>
          </a:p>
        </p:txBody>
      </p:sp>
      <p:sp>
        <p:nvSpPr>
          <p:cNvPr id="3" name="Content Placeholder 2"/>
          <p:cNvSpPr>
            <a:spLocks noGrp="1"/>
          </p:cNvSpPr>
          <p:nvPr>
            <p:ph idx="1"/>
          </p:nvPr>
        </p:nvSpPr>
        <p:spPr>
          <a:xfrm>
            <a:off x="457200" y="1214422"/>
            <a:ext cx="8229600" cy="5357850"/>
          </a:xfrm>
        </p:spPr>
        <p:txBody>
          <a:bodyPr>
            <a:normAutofit fontScale="85000" lnSpcReduction="20000"/>
          </a:bodyPr>
          <a:lstStyle/>
          <a:p>
            <a:r>
              <a:rPr lang="en-US" b="1" dirty="0"/>
              <a:t>Context:</a:t>
            </a:r>
            <a:r>
              <a:rPr lang="en-US" dirty="0"/>
              <a:t> Describe the situation and steps your user takes to arrive at your product/service</a:t>
            </a:r>
          </a:p>
          <a:p>
            <a:r>
              <a:rPr lang="en-US" b="1" dirty="0"/>
              <a:t>Goals:</a:t>
            </a:r>
            <a:r>
              <a:rPr lang="en-US" dirty="0"/>
              <a:t> What do they want to achieve?</a:t>
            </a:r>
          </a:p>
          <a:p>
            <a:r>
              <a:rPr lang="en-US" b="1" dirty="0"/>
              <a:t>Problems:</a:t>
            </a:r>
            <a:r>
              <a:rPr lang="en-US" dirty="0"/>
              <a:t> What are they trying to solve and what obstacles do they encounter?</a:t>
            </a:r>
          </a:p>
          <a:p>
            <a:r>
              <a:rPr lang="en-US" b="1" dirty="0"/>
              <a:t>Motivations:</a:t>
            </a:r>
            <a:r>
              <a:rPr lang="en-US" dirty="0"/>
              <a:t> Why do they need or want your offering?</a:t>
            </a:r>
          </a:p>
          <a:p>
            <a:r>
              <a:rPr lang="en-US" b="1" dirty="0"/>
              <a:t>Personal traits:</a:t>
            </a:r>
            <a:r>
              <a:rPr lang="en-US" dirty="0"/>
              <a:t> Provide background to paint a more detailed picture </a:t>
            </a:r>
          </a:p>
          <a:p>
            <a:r>
              <a:rPr lang="en-US" b="1" dirty="0"/>
              <a:t>Relevant habits, hobbies and/or beliefs:</a:t>
            </a:r>
            <a:r>
              <a:rPr lang="en-US" dirty="0"/>
              <a:t> Actions and emotions that occur in relation to your product/service add a layer of context </a:t>
            </a:r>
          </a:p>
          <a:p>
            <a:r>
              <a:rPr lang="en-US" b="1" dirty="0"/>
              <a:t>Demographics:</a:t>
            </a:r>
            <a:r>
              <a:rPr lang="en-US" dirty="0"/>
              <a:t> Relevant info about location, income, occupation, marital status, etc.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Renting a car for a business trip user scenario example</a:t>
            </a:r>
          </a:p>
        </p:txBody>
      </p:sp>
      <p:sp>
        <p:nvSpPr>
          <p:cNvPr id="3" name="Content Placeholder 2"/>
          <p:cNvSpPr>
            <a:spLocks noGrp="1"/>
          </p:cNvSpPr>
          <p:nvPr>
            <p:ph idx="1"/>
          </p:nvPr>
        </p:nvSpPr>
        <p:spPr/>
        <p:txBody>
          <a:bodyPr>
            <a:normAutofit fontScale="92500" lnSpcReduction="20000"/>
          </a:bodyPr>
          <a:lstStyle/>
          <a:p>
            <a:r>
              <a:rPr lang="en-US" i="1" dirty="0"/>
              <a:t>Shivani is a Marketing Manager in Chennai, and she has a business trip coming up in Shimla. The trip is half pleasure, half work, and she wants to do some hiking in the mountain trails. She knows the roads can be pretty bumpy, so she wants to rent a car that is suitable for off-road driving. Shivani discovers our website to find the perfect car. She is unfamiliar with these types of vehicles, so she compares some models and reads the reviews to get a better idea of her best option. When she finds one she likes in the budget allotted by her company, she books it.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Travel user scenario example</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a:t>Jane is a college student planning a spring break beach trip to Florida. She searches online for the top Florida spring break destinations and pricing to determine where fits her budget. </a:t>
            </a:r>
          </a:p>
          <a:p>
            <a:pPr>
              <a:buNone/>
            </a:pPr>
            <a:r>
              <a:rPr lang="en-US" dirty="0"/>
              <a:t>After settling on the destination, she wonders if she can easily compare hotel prices in one place. She remembers her friend telling her about a travel website. </a:t>
            </a:r>
          </a:p>
          <a:p>
            <a:pPr>
              <a:buNone/>
            </a:pPr>
            <a:r>
              <a:rPr lang="en-US" dirty="0"/>
              <a:t>Jane finds the website, finds her ideal hotel, and books her stay by following the website's booking process.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Bank loan payment user scenario example</a:t>
            </a:r>
            <a:br>
              <a:rPr lang="en-US" b="1" dirty="0"/>
            </a:br>
            <a:endParaRPr lang="en-US" dirty="0"/>
          </a:p>
        </p:txBody>
      </p:sp>
      <p:sp>
        <p:nvSpPr>
          <p:cNvPr id="3" name="Content Placeholder 2"/>
          <p:cNvSpPr>
            <a:spLocks noGrp="1"/>
          </p:cNvSpPr>
          <p:nvPr>
            <p:ph idx="1"/>
          </p:nvPr>
        </p:nvSpPr>
        <p:spPr>
          <a:xfrm>
            <a:off x="457200" y="1428736"/>
            <a:ext cx="8229600" cy="5214974"/>
          </a:xfrm>
        </p:spPr>
        <p:txBody>
          <a:bodyPr>
            <a:normAutofit fontScale="77500" lnSpcReduction="20000"/>
          </a:bodyPr>
          <a:lstStyle/>
          <a:p>
            <a:pPr>
              <a:buNone/>
            </a:pPr>
            <a:r>
              <a:rPr lang="en-US" dirty="0"/>
              <a:t>Mr. and Mrs. Smith recently moved to a new house closer to their out-of-state family. They receive mailed statements for their loans to make the necessary payments from their local bank and know they must notify them of their move. </a:t>
            </a:r>
          </a:p>
          <a:p>
            <a:pPr>
              <a:buNone/>
            </a:pPr>
            <a:r>
              <a:rPr lang="en-US" dirty="0"/>
              <a:t>Unfortunately, they are unsure of the closest bank, and walking or driving far is difficult for the aging couple. It seems viable to use their computer to make an address change with their bank and make upcoming payments.</a:t>
            </a:r>
          </a:p>
          <a:p>
            <a:pPr>
              <a:buNone/>
            </a:pPr>
            <a:r>
              <a:rPr lang="en-US" dirty="0"/>
              <a:t>However, they feel uneasy about the safety of providing personal details online. Since they have never visited the bank’s website, they are unfamiliar with its layout and how to access their accounts. </a:t>
            </a:r>
          </a:p>
          <a:p>
            <a:pPr>
              <a:buNone/>
            </a:pPr>
            <a:r>
              <a:rPr lang="en-US" dirty="0"/>
              <a:t>Therefore, they want to learn how safe it is to provide their address change request and make online payments. </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Personas</a:t>
            </a:r>
            <a:br>
              <a:rPr lang="en-US" b="1" dirty="0"/>
            </a:br>
            <a:endParaRPr lang="en-US" dirty="0"/>
          </a:p>
        </p:txBody>
      </p:sp>
      <p:sp>
        <p:nvSpPr>
          <p:cNvPr id="3" name="Content Placeholder 2"/>
          <p:cNvSpPr>
            <a:spLocks noGrp="1"/>
          </p:cNvSpPr>
          <p:nvPr>
            <p:ph idx="1"/>
          </p:nvPr>
        </p:nvSpPr>
        <p:spPr>
          <a:xfrm>
            <a:off x="457200" y="1000108"/>
            <a:ext cx="8229600" cy="5126055"/>
          </a:xfrm>
        </p:spPr>
        <p:txBody>
          <a:bodyPr>
            <a:normAutofit fontScale="92500"/>
          </a:bodyPr>
          <a:lstStyle/>
          <a:p>
            <a:r>
              <a:rPr lang="en-US" dirty="0"/>
              <a:t>A persona is a fictional character which represents certain traits and qualities of real users. </a:t>
            </a:r>
          </a:p>
          <a:p>
            <a:r>
              <a:rPr lang="en-US" dirty="0"/>
              <a:t>Personas are an important tool for understanding and </a:t>
            </a:r>
            <a:r>
              <a:rPr lang="en-US" dirty="0" err="1"/>
              <a:t>empathising</a:t>
            </a:r>
            <a:r>
              <a:rPr lang="en-US" dirty="0"/>
              <a:t> with your target audience.</a:t>
            </a:r>
          </a:p>
          <a:p>
            <a:r>
              <a:rPr lang="en-US" dirty="0"/>
              <a:t>Personas are usually captured in a document or presentation deck, providing an easily digestible </a:t>
            </a:r>
            <a:r>
              <a:rPr lang="en-US" dirty="0" err="1"/>
              <a:t>visualisation</a:t>
            </a:r>
            <a:r>
              <a:rPr lang="en-US" dirty="0"/>
              <a:t> of your target user(s). </a:t>
            </a:r>
          </a:p>
          <a:p>
            <a:r>
              <a:rPr lang="en-US" dirty="0"/>
              <a:t>Personas comprise a mixture of text and icons/graphics and you can also give them a face.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Personas</a:t>
            </a:r>
            <a:br>
              <a:rPr lang="en-US" b="1" dirty="0"/>
            </a:br>
            <a:endParaRPr lang="en-US" dirty="0"/>
          </a:p>
        </p:txBody>
      </p:sp>
      <p:sp>
        <p:nvSpPr>
          <p:cNvPr id="3" name="Content Placeholder 2"/>
          <p:cNvSpPr>
            <a:spLocks noGrp="1"/>
          </p:cNvSpPr>
          <p:nvPr>
            <p:ph idx="1"/>
          </p:nvPr>
        </p:nvSpPr>
        <p:spPr>
          <a:xfrm>
            <a:off x="457200" y="1000108"/>
            <a:ext cx="8229600" cy="5126055"/>
          </a:xfrm>
        </p:spPr>
        <p:txBody>
          <a:bodyPr>
            <a:normAutofit fontScale="92500" lnSpcReduction="20000"/>
          </a:bodyPr>
          <a:lstStyle/>
          <a:p>
            <a:r>
              <a:rPr lang="en-US" dirty="0" err="1"/>
              <a:t>Pesona</a:t>
            </a:r>
            <a:r>
              <a:rPr lang="en-US" dirty="0"/>
              <a:t> includes:</a:t>
            </a:r>
          </a:p>
          <a:p>
            <a:pPr lvl="1"/>
            <a:r>
              <a:rPr lang="en-US" dirty="0"/>
              <a:t>The persona’s name</a:t>
            </a:r>
          </a:p>
          <a:p>
            <a:pPr lvl="1"/>
            <a:r>
              <a:rPr lang="en-US" dirty="0"/>
              <a:t>An image (e.g. an illustration, avatar, photo or stock image)</a:t>
            </a:r>
          </a:p>
          <a:p>
            <a:pPr lvl="1"/>
            <a:r>
              <a:rPr lang="en-US" dirty="0"/>
              <a:t>Demographic information such as your persona’s age, gender, family/living situation, employment status and anything else that’s relevant to your product or problem space</a:t>
            </a:r>
          </a:p>
          <a:p>
            <a:pPr lvl="1"/>
            <a:r>
              <a:rPr lang="en-US" dirty="0"/>
              <a:t>Their needs and goals in relation to your product</a:t>
            </a:r>
          </a:p>
          <a:p>
            <a:pPr lvl="1"/>
            <a:r>
              <a:rPr lang="en-US" dirty="0"/>
              <a:t>A summary of their challenges, frustrations and pain points in relation to your product or problem space</a:t>
            </a:r>
          </a:p>
          <a:p>
            <a:pPr lvl="1"/>
            <a:r>
              <a:rPr lang="en-US" dirty="0"/>
              <a:t>Quotes from real users whom the persona should represent</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Why do you need a persona?</a:t>
            </a:r>
            <a:br>
              <a:rPr lang="en-US" b="1" dirty="0"/>
            </a:br>
            <a:endParaRPr lang="en-US" dirty="0"/>
          </a:p>
        </p:txBody>
      </p:sp>
      <p:sp>
        <p:nvSpPr>
          <p:cNvPr id="3" name="Content Placeholder 2"/>
          <p:cNvSpPr>
            <a:spLocks noGrp="1"/>
          </p:cNvSpPr>
          <p:nvPr>
            <p:ph idx="1"/>
          </p:nvPr>
        </p:nvSpPr>
        <p:spPr/>
        <p:txBody>
          <a:bodyPr>
            <a:normAutofit/>
          </a:bodyPr>
          <a:lstStyle/>
          <a:p>
            <a:r>
              <a:rPr lang="en-US" dirty="0"/>
              <a:t>A persona clarifies who is in your target audience by answering the following questions:</a:t>
            </a:r>
          </a:p>
          <a:p>
            <a:pPr lvl="1"/>
            <a:r>
              <a:rPr lang="en-US" dirty="0"/>
              <a:t>Who is my ideal customer?</a:t>
            </a:r>
          </a:p>
          <a:p>
            <a:pPr lvl="1"/>
            <a:r>
              <a:rPr lang="en-US" dirty="0"/>
              <a:t>What are the current behavior patterns of my users?</a:t>
            </a:r>
          </a:p>
          <a:p>
            <a:pPr lvl="1"/>
            <a:r>
              <a:rPr lang="en-US" dirty="0"/>
              <a:t>What are the needs and goals of my users?</a:t>
            </a:r>
          </a:p>
          <a:p>
            <a:pPr lvl="1"/>
            <a:r>
              <a:rPr lang="en-US" dirty="0"/>
              <a:t>What issues and pain points do they currently face within the given context?</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descr="Relationship between a Persona, Scenario and Goal"/>
          <p:cNvPicPr>
            <a:picLocks noChangeAspect="1" noChangeArrowheads="1"/>
          </p:cNvPicPr>
          <p:nvPr/>
        </p:nvPicPr>
        <p:blipFill>
          <a:blip r:embed="rId2"/>
          <a:srcRect/>
          <a:stretch>
            <a:fillRect/>
          </a:stretch>
        </p:blipFill>
        <p:spPr bwMode="auto">
          <a:xfrm>
            <a:off x="428596" y="323947"/>
            <a:ext cx="8429684" cy="629276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Persona</a:t>
            </a:r>
          </a:p>
        </p:txBody>
      </p:sp>
      <p:sp>
        <p:nvSpPr>
          <p:cNvPr id="3" name="Content Placeholder 2"/>
          <p:cNvSpPr>
            <a:spLocks noGrp="1"/>
          </p:cNvSpPr>
          <p:nvPr>
            <p:ph idx="1"/>
          </p:nvPr>
        </p:nvSpPr>
        <p:spPr/>
        <p:txBody>
          <a:bodyPr>
            <a:normAutofit fontScale="85000" lnSpcReduction="20000"/>
          </a:bodyPr>
          <a:lstStyle/>
          <a:p>
            <a:r>
              <a:rPr lang="en-US" dirty="0"/>
              <a:t>Fictional Name</a:t>
            </a:r>
          </a:p>
          <a:p>
            <a:pPr lvl="1"/>
            <a:r>
              <a:rPr lang="en-US" dirty="0"/>
              <a:t>Michael Johnson</a:t>
            </a:r>
          </a:p>
          <a:p>
            <a:r>
              <a:rPr lang="en-US" dirty="0"/>
              <a:t>Occupation</a:t>
            </a:r>
          </a:p>
          <a:p>
            <a:pPr lvl="1"/>
            <a:r>
              <a:rPr lang="en-US" dirty="0"/>
              <a:t>Self-employed, owns a coffee shop in the city center</a:t>
            </a:r>
          </a:p>
          <a:p>
            <a:r>
              <a:rPr lang="en-US" dirty="0"/>
              <a:t>Demographics</a:t>
            </a:r>
          </a:p>
          <a:p>
            <a:pPr lvl="1"/>
            <a:r>
              <a:rPr lang="en-US" dirty="0"/>
              <a:t>30 years old;</a:t>
            </a:r>
          </a:p>
          <a:p>
            <a:pPr lvl="1"/>
            <a:r>
              <a:rPr lang="en-US" dirty="0"/>
              <a:t>Lives in Chennai, India;</a:t>
            </a:r>
          </a:p>
          <a:p>
            <a:pPr lvl="1"/>
            <a:r>
              <a:rPr lang="en-US" dirty="0"/>
              <a:t>Married, no children;</a:t>
            </a:r>
          </a:p>
          <a:p>
            <a:pPr lvl="1"/>
            <a:r>
              <a:rPr lang="en-US" dirty="0"/>
              <a:t>Has two brothers;</a:t>
            </a:r>
          </a:p>
          <a:p>
            <a:pPr lvl="1"/>
            <a:r>
              <a:rPr lang="en-US" dirty="0"/>
              <a:t>Takes care of his father after a stroke, helps him out financially;</a:t>
            </a:r>
          </a:p>
          <a:p>
            <a:pPr lvl="1"/>
            <a:r>
              <a:rPr lang="en-US" dirty="0"/>
              <a:t>Has an upper-middle-income level &amp; a profitable business.</a:t>
            </a:r>
          </a:p>
          <a:p>
            <a:pPr>
              <a:buNone/>
            </a:pPr>
            <a:endParaRPr lang="en-US" dirty="0"/>
          </a:p>
        </p:txBody>
      </p:sp>
      <p:sp>
        <p:nvSpPr>
          <p:cNvPr id="30722" name="AutoShape 2" descr="Typical UX Persona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24" name="AutoShape 4" descr="Typical UX Persona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26" name="AutoShape 6" descr="Typical UX Persona #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7" name="Picture 7"/>
          <p:cNvPicPr>
            <a:picLocks noChangeAspect="1" noChangeArrowheads="1"/>
          </p:cNvPicPr>
          <p:nvPr/>
        </p:nvPicPr>
        <p:blipFill>
          <a:blip r:embed="rId2"/>
          <a:srcRect/>
          <a:stretch>
            <a:fillRect/>
          </a:stretch>
        </p:blipFill>
        <p:spPr bwMode="auto">
          <a:xfrm>
            <a:off x="7286644" y="1071546"/>
            <a:ext cx="1428760" cy="1669244"/>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Persona</a:t>
            </a:r>
          </a:p>
        </p:txBody>
      </p:sp>
      <p:sp>
        <p:nvSpPr>
          <p:cNvPr id="3" name="Content Placeholder 2"/>
          <p:cNvSpPr>
            <a:spLocks noGrp="1"/>
          </p:cNvSpPr>
          <p:nvPr>
            <p:ph idx="1"/>
          </p:nvPr>
        </p:nvSpPr>
        <p:spPr/>
        <p:txBody>
          <a:bodyPr>
            <a:normAutofit fontScale="77500" lnSpcReduction="20000"/>
          </a:bodyPr>
          <a:lstStyle/>
          <a:p>
            <a:r>
              <a:rPr lang="en-US" dirty="0"/>
              <a:t>Goals and Needs</a:t>
            </a:r>
          </a:p>
          <a:p>
            <a:pPr lvl="1"/>
            <a:r>
              <a:rPr lang="en-US" dirty="0"/>
              <a:t>As a busy person, Michael doesn’t like wasting time, as time is money for him. So, he needs to make payments on-the-go and have access to most banking services like generating banking documents, applying for loans, etc.</a:t>
            </a:r>
          </a:p>
          <a:p>
            <a:pPr lvl="1"/>
            <a:r>
              <a:rPr lang="en-US" dirty="0"/>
              <a:t>Being a business owner, he needs to keep his business banking account and a personal one separate. Simultaneously, Michael wants to use both accounts easily and switch between them with no effort.</a:t>
            </a:r>
          </a:p>
          <a:p>
            <a:r>
              <a:rPr lang="en-US" dirty="0"/>
              <a:t>Pain Points</a:t>
            </a:r>
          </a:p>
          <a:p>
            <a:pPr lvl="1"/>
            <a:r>
              <a:rPr lang="en-US" dirty="0"/>
              <a:t>Switching between different accounts takes too many actions on Michael’s behalf. He would prefer to do it in one click. Besides, he still needs to go to a bank for the services that could be available online.</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Persona</a:t>
            </a:r>
          </a:p>
        </p:txBody>
      </p:sp>
      <p:sp>
        <p:nvSpPr>
          <p:cNvPr id="3" name="Content Placeholder 2"/>
          <p:cNvSpPr>
            <a:spLocks noGrp="1"/>
          </p:cNvSpPr>
          <p:nvPr>
            <p:ph idx="1"/>
          </p:nvPr>
        </p:nvSpPr>
        <p:spPr/>
        <p:txBody>
          <a:bodyPr>
            <a:normAutofit fontScale="92500" lnSpcReduction="20000"/>
          </a:bodyPr>
          <a:lstStyle/>
          <a:p>
            <a:r>
              <a:rPr lang="en-US" dirty="0"/>
              <a:t>Relevant Patterns of Behavior</a:t>
            </a:r>
          </a:p>
          <a:p>
            <a:pPr lvl="1"/>
            <a:r>
              <a:rPr lang="en-US" dirty="0"/>
              <a:t>The man spends the biggest part of the day (5+ hours) on the </a:t>
            </a:r>
            <a:r>
              <a:rPr lang="en-US" dirty="0" err="1"/>
              <a:t>smartphone</a:t>
            </a:r>
            <a:r>
              <a:rPr lang="en-US" dirty="0"/>
              <a:t> making calls, negotiating, or messaging. He is tech-savvy and uses the latest </a:t>
            </a:r>
            <a:r>
              <a:rPr lang="en-US" dirty="0" err="1"/>
              <a:t>iPhone</a:t>
            </a:r>
            <a:r>
              <a:rPr lang="en-US" dirty="0"/>
              <a:t>. Michael’s phone is full of apps, as he prefers them to mobile versions of websites. The man knows his way around an app in a matter of seconds, so he always skips tutorials.</a:t>
            </a:r>
          </a:p>
          <a:p>
            <a:r>
              <a:rPr lang="en-US" dirty="0"/>
              <a:t>Personality</a:t>
            </a:r>
          </a:p>
          <a:p>
            <a:pPr lvl="1"/>
            <a:r>
              <a:rPr lang="en-US" dirty="0"/>
              <a:t>“I hate queues in banks. That’s why I use online banking – it’s a lot less nerve-racking and much faster.”</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1886</TotalTime>
  <Words>1816</Words>
  <Application>Microsoft Office PowerPoint</Application>
  <PresentationFormat>On-screen Show (4:3)</PresentationFormat>
  <Paragraphs>99</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Scenario Development</vt:lpstr>
      <vt:lpstr>Scenario Development</vt:lpstr>
      <vt:lpstr>Example</vt:lpstr>
      <vt:lpstr>User Scenarios</vt:lpstr>
      <vt:lpstr>PowerPoint Presentation</vt:lpstr>
      <vt:lpstr>Benefits of User Scenarios</vt:lpstr>
      <vt:lpstr>User scenarios vs. user stories </vt:lpstr>
      <vt:lpstr>User scenario vs. storyboard </vt:lpstr>
      <vt:lpstr>Example</vt:lpstr>
      <vt:lpstr>What to include in your user scenario </vt:lpstr>
      <vt:lpstr>Renting a car for a business trip user scenario example</vt:lpstr>
      <vt:lpstr>Travel user scenario example </vt:lpstr>
      <vt:lpstr>Bank loan payment user scenario example </vt:lpstr>
      <vt:lpstr>Personas </vt:lpstr>
      <vt:lpstr>Personas </vt:lpstr>
      <vt:lpstr>Why do you need a persona? </vt:lpstr>
      <vt:lpstr>PowerPoint Presentation</vt:lpstr>
      <vt:lpstr>Example of Persona</vt:lpstr>
      <vt:lpstr>Example of Persona</vt:lpstr>
      <vt:lpstr>Example of Persona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Development</dc:title>
  <dc:creator>Personal</dc:creator>
  <cp:lastModifiedBy>prassanna jayachandran</cp:lastModifiedBy>
  <cp:revision>7</cp:revision>
  <dcterms:created xsi:type="dcterms:W3CDTF">2024-03-04T04:03:09Z</dcterms:created>
  <dcterms:modified xsi:type="dcterms:W3CDTF">2025-02-21T09:15:39Z</dcterms:modified>
</cp:coreProperties>
</file>