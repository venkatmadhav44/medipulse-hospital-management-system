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84" r:id="rId14"/>
    <p:sldId id="268" r:id="rId15"/>
    <p:sldId id="269" r:id="rId16"/>
    <p:sldId id="285" r:id="rId17"/>
    <p:sldId id="286" r:id="rId18"/>
    <p:sldId id="287" r:id="rId19"/>
    <p:sldId id="289" r:id="rId20"/>
    <p:sldId id="288" r:id="rId21"/>
    <p:sldId id="297" r:id="rId22"/>
    <p:sldId id="290" r:id="rId23"/>
    <p:sldId id="291" r:id="rId24"/>
    <p:sldId id="292" r:id="rId25"/>
    <p:sldId id="293" r:id="rId26"/>
    <p:sldId id="294" r:id="rId27"/>
    <p:sldId id="296" r:id="rId28"/>
    <p:sldId id="295" r:id="rId29"/>
    <p:sldId id="271" r:id="rId30"/>
    <p:sldId id="270"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98" r:id="rId44"/>
    <p:sldId id="299" r:id="rId45"/>
    <p:sldId id="300" r:id="rId46"/>
    <p:sldId id="310" r:id="rId47"/>
    <p:sldId id="301" r:id="rId48"/>
    <p:sldId id="302" r:id="rId49"/>
    <p:sldId id="311" r:id="rId50"/>
    <p:sldId id="303" r:id="rId51"/>
    <p:sldId id="312" r:id="rId52"/>
    <p:sldId id="313" r:id="rId53"/>
    <p:sldId id="304" r:id="rId54"/>
    <p:sldId id="314" r:id="rId55"/>
    <p:sldId id="309" r:id="rId56"/>
    <p:sldId id="305" r:id="rId57"/>
    <p:sldId id="315" r:id="rId58"/>
    <p:sldId id="316" r:id="rId59"/>
    <p:sldId id="306" r:id="rId60"/>
    <p:sldId id="317" r:id="rId61"/>
    <p:sldId id="318" r:id="rId62"/>
    <p:sldId id="308" r:id="rId63"/>
    <p:sldId id="307"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7D9783-1FDA-4FFE-B9F0-852692C8FC10}" type="datetimeFigureOut">
              <a:rPr lang="en-US" smtClean="0"/>
              <a:pPr/>
              <a:t>7/20/2026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945CB8-0BB3-4F98-B9E0-C2C82EB470E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45CB8-0BB3-4F98-B9E0-C2C82EB470E8}"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4F8DC00-0F05-47C4-B7ED-13F300C9ACD7}"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369165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F8DC00-0F05-47C4-B7ED-13F300C9ACD7}"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3258814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8DC00-0F05-47C4-B7ED-13F300C9ACD7}"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249323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4F8DC00-0F05-47C4-B7ED-13F300C9ACD7}"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4288036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4F8DC00-0F05-47C4-B7ED-13F300C9ACD7}" type="datetimeFigureOut">
              <a:rPr lang="en-US" smtClean="0"/>
              <a:pPr/>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53154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4F8DC00-0F05-47C4-B7ED-13F300C9ACD7}" type="datetimeFigureOut">
              <a:rPr lang="en-US" smtClean="0"/>
              <a:pPr/>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489831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8DC00-0F05-47C4-B7ED-13F300C9ACD7}" type="datetimeFigureOut">
              <a:rPr lang="en-US" smtClean="0"/>
              <a:pPr/>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2497565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8DC00-0F05-47C4-B7ED-13F300C9ACD7}"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2032341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8DC00-0F05-47C4-B7ED-13F300C9ACD7}"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3606229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F8DC00-0F05-47C4-B7ED-13F300C9ACD7}"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396080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F8DC00-0F05-47C4-B7ED-13F300C9ACD7}"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3A784-E697-4640-AB15-73F7F0CF1EA1}" type="slidenum">
              <a:rPr lang="en-US" smtClean="0"/>
              <a:pPr/>
              <a:t>‹#›</a:t>
            </a:fld>
            <a:endParaRPr lang="en-US"/>
          </a:p>
        </p:txBody>
      </p:sp>
    </p:spTree>
    <p:extLst>
      <p:ext uri="{BB962C8B-B14F-4D97-AF65-F5344CB8AC3E}">
        <p14:creationId xmlns:p14="http://schemas.microsoft.com/office/powerpoint/2010/main" val="4276661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8DC00-0F05-47C4-B7ED-13F300C9ACD7}" type="datetimeFigureOut">
              <a:rPr lang="en-US" smtClean="0"/>
              <a:pPr/>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03A784-E697-4640-AB15-73F7F0CF1EA1}" type="slidenum">
              <a:rPr lang="en-US" smtClean="0"/>
              <a:pPr/>
              <a:t>‹#›</a:t>
            </a:fld>
            <a:endParaRPr lang="en-US"/>
          </a:p>
        </p:txBody>
      </p:sp>
    </p:spTree>
    <p:extLst>
      <p:ext uri="{BB962C8B-B14F-4D97-AF65-F5344CB8AC3E}">
        <p14:creationId xmlns:p14="http://schemas.microsoft.com/office/powerpoint/2010/main" val="475141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1.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User Interface</a:t>
            </a:r>
            <a:br>
              <a:rPr lang="en-US" dirty="0"/>
            </a:br>
            <a:r>
              <a:rPr lang="en-US" dirty="0"/>
              <a:t>Principles , Guidelines and Theories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07724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1  : Recognize User Diversity</a:t>
            </a:r>
          </a:p>
        </p:txBody>
      </p:sp>
      <p:sp>
        <p:nvSpPr>
          <p:cNvPr id="3" name="Content Placeholder 2"/>
          <p:cNvSpPr>
            <a:spLocks noGrp="1"/>
          </p:cNvSpPr>
          <p:nvPr>
            <p:ph idx="1"/>
          </p:nvPr>
        </p:nvSpPr>
        <p:spPr>
          <a:xfrm>
            <a:off x="457200" y="1600200"/>
            <a:ext cx="8229600" cy="5029200"/>
          </a:xfrm>
        </p:spPr>
        <p:txBody>
          <a:bodyPr>
            <a:normAutofit fontScale="85000" lnSpcReduction="20000"/>
          </a:bodyPr>
          <a:lstStyle/>
          <a:p>
            <a:r>
              <a:rPr lang="en-US" sz="4200" dirty="0">
                <a:solidFill>
                  <a:srgbClr val="FF0000"/>
                </a:solidFill>
              </a:rPr>
              <a:t>Usage profiles</a:t>
            </a:r>
          </a:p>
          <a:p>
            <a:pPr lvl="1"/>
            <a:r>
              <a:rPr lang="en-US" dirty="0"/>
              <a:t>“Know thy user”</a:t>
            </a:r>
          </a:p>
          <a:p>
            <a:pPr lvl="1"/>
            <a:r>
              <a:rPr lang="en-US" dirty="0"/>
              <a:t>All design should begin with an understanding of the intended users.</a:t>
            </a:r>
          </a:p>
          <a:p>
            <a:pPr lvl="1"/>
            <a:r>
              <a:rPr lang="en-US" dirty="0"/>
              <a:t>population profiles that reflect age, gender, physical abilities, education, cultural or ethnic background, training, motivation, goals, and personality. </a:t>
            </a:r>
          </a:p>
          <a:p>
            <a:pPr lvl="1"/>
            <a:r>
              <a:rPr lang="en-US" dirty="0"/>
              <a:t>user communities—such as high-school teachers, nurses, doctors, computer programmers, museum patrons, or librarians - have various combinations of knowledge and usage patterns.</a:t>
            </a:r>
          </a:p>
          <a:p>
            <a:pPr lvl="1"/>
            <a:r>
              <a:rPr lang="en-US" dirty="0"/>
              <a:t>Other variables - regional differences, location, economic profile, disabilities, and attitudes toward using technology, poor reading skills, limited education, and low motivation.</a:t>
            </a:r>
          </a:p>
        </p:txBody>
      </p:sp>
    </p:spTree>
    <p:extLst>
      <p:ext uri="{BB962C8B-B14F-4D97-AF65-F5344CB8AC3E}">
        <p14:creationId xmlns:p14="http://schemas.microsoft.com/office/powerpoint/2010/main" val="3758160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Three classes of usage </a:t>
            </a:r>
          </a:p>
        </p:txBody>
      </p:sp>
      <p:sp>
        <p:nvSpPr>
          <p:cNvPr id="3" name="Content Placeholder 2"/>
          <p:cNvSpPr>
            <a:spLocks noGrp="1"/>
          </p:cNvSpPr>
          <p:nvPr>
            <p:ph idx="1"/>
          </p:nvPr>
        </p:nvSpPr>
        <p:spPr/>
        <p:txBody>
          <a:bodyPr>
            <a:normAutofit fontScale="85000" lnSpcReduction="10000"/>
          </a:bodyPr>
          <a:lstStyle/>
          <a:p>
            <a:pPr marL="514350" indent="-514350">
              <a:buFont typeface="+mj-lt"/>
              <a:buAutoNum type="arabicPeriod"/>
            </a:pPr>
            <a:r>
              <a:rPr lang="en-US" dirty="0"/>
              <a:t>Novice or first-time users </a:t>
            </a:r>
          </a:p>
          <a:p>
            <a:pPr lvl="1"/>
            <a:r>
              <a:rPr lang="en-US" dirty="0"/>
              <a:t>The number of actions should be small, so they can carry out simple tasks successfully and thus reduce anxiety, build confidence, and gain positive reinforcement.</a:t>
            </a:r>
          </a:p>
          <a:p>
            <a:pPr lvl="1"/>
            <a:r>
              <a:rPr lang="en-US" dirty="0"/>
              <a:t>Restricting vocabulary to a small number of familiar, consistently used concept terms.</a:t>
            </a:r>
          </a:p>
          <a:p>
            <a:pPr lvl="1"/>
            <a:r>
              <a:rPr lang="en-US" dirty="0"/>
              <a:t>Informative feedback about the accomplishment of each task is helpful</a:t>
            </a:r>
          </a:p>
          <a:p>
            <a:pPr lvl="1"/>
            <a:r>
              <a:rPr lang="en-US" dirty="0"/>
              <a:t>specific error messages should be provided when users make mistakes</a:t>
            </a:r>
          </a:p>
          <a:p>
            <a:pPr lvl="1"/>
            <a:r>
              <a:rPr lang="en-US" dirty="0"/>
              <a:t>paper manuals and step-by-step online tutorials may be effective</a:t>
            </a:r>
          </a:p>
        </p:txBody>
      </p:sp>
    </p:spTree>
    <p:extLst>
      <p:ext uri="{BB962C8B-B14F-4D97-AF65-F5344CB8AC3E}">
        <p14:creationId xmlns:p14="http://schemas.microsoft.com/office/powerpoint/2010/main" val="1004791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Cont..</a:t>
            </a:r>
          </a:p>
        </p:txBody>
      </p:sp>
      <p:sp>
        <p:nvSpPr>
          <p:cNvPr id="3" name="Content Placeholder 2"/>
          <p:cNvSpPr>
            <a:spLocks noGrp="1"/>
          </p:cNvSpPr>
          <p:nvPr>
            <p:ph idx="1"/>
          </p:nvPr>
        </p:nvSpPr>
        <p:spPr>
          <a:xfrm>
            <a:off x="457200" y="1066800"/>
            <a:ext cx="8229600" cy="5059363"/>
          </a:xfrm>
        </p:spPr>
        <p:txBody>
          <a:bodyPr>
            <a:normAutofit fontScale="92500" lnSpcReduction="10000"/>
          </a:bodyPr>
          <a:lstStyle/>
          <a:p>
            <a:pPr marL="514350" indent="-514350">
              <a:buFont typeface="+mj-lt"/>
              <a:buAutoNum type="arabicPeriod" startAt="2"/>
            </a:pPr>
            <a:r>
              <a:rPr lang="en-US" dirty="0"/>
              <a:t>Knowledgeable intermittent users </a:t>
            </a:r>
          </a:p>
          <a:p>
            <a:pPr lvl="1"/>
            <a:r>
              <a:rPr lang="en-US" dirty="0"/>
              <a:t>irregular or not continuous user. </a:t>
            </a:r>
          </a:p>
          <a:p>
            <a:pPr lvl="1"/>
            <a:r>
              <a:rPr lang="en-US" dirty="0"/>
              <a:t>They have stable task concepts and broad knowledge of interface  but have difficulty retaining the structure of menus or the location of features.</a:t>
            </a:r>
          </a:p>
          <a:p>
            <a:pPr lvl="1"/>
            <a:r>
              <a:rPr lang="en-US" dirty="0"/>
              <a:t>Orderly structure in the menus, consistent terminology, and high interface appearance, which emphasizes recognition rather than recall.</a:t>
            </a:r>
          </a:p>
          <a:p>
            <a:pPr lvl="1"/>
            <a:r>
              <a:rPr lang="en-US" dirty="0"/>
              <a:t>Consistent sequences of actions, meaningful messages, and guides to frequent patterns of usage.</a:t>
            </a:r>
          </a:p>
          <a:p>
            <a:pPr lvl="1"/>
            <a:r>
              <a:rPr lang="en-US" dirty="0"/>
              <a:t>online help screens to fill in missing pieces of task or interface knowledge will benefit.</a:t>
            </a:r>
          </a:p>
        </p:txBody>
      </p:sp>
    </p:spTree>
    <p:extLst>
      <p:ext uri="{BB962C8B-B14F-4D97-AF65-F5344CB8AC3E}">
        <p14:creationId xmlns:p14="http://schemas.microsoft.com/office/powerpoint/2010/main" val="3126129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normAutofit lnSpcReduction="10000"/>
          </a:bodyPr>
          <a:lstStyle/>
          <a:p>
            <a:pPr>
              <a:buNone/>
            </a:pPr>
            <a:r>
              <a:rPr lang="en-US" dirty="0"/>
              <a:t>3. Expert frequent users</a:t>
            </a:r>
          </a:p>
          <a:p>
            <a:r>
              <a:rPr lang="en-US" dirty="0"/>
              <a:t>Familiar with the task and interface concepts and seek to get their work done quickly.</a:t>
            </a:r>
          </a:p>
          <a:p>
            <a:r>
              <a:rPr lang="en-US" dirty="0"/>
              <a:t>demand rapid response times, brief </a:t>
            </a:r>
            <a:r>
              <a:rPr lang="en-US"/>
              <a:t>and non-distracting </a:t>
            </a:r>
            <a:r>
              <a:rPr lang="en-US" dirty="0"/>
              <a:t>feedback, and the shortcuts to carry out actions with just a few keystrokes or selections</a:t>
            </a:r>
          </a:p>
          <a:p>
            <a:r>
              <a:rPr lang="en-US" dirty="0"/>
              <a:t>macro or other abbreviated form to reduce the number of steps.</a:t>
            </a:r>
          </a:p>
        </p:txBody>
      </p:sp>
    </p:spTree>
    <p:extLst>
      <p:ext uri="{BB962C8B-B14F-4D97-AF65-F5344CB8AC3E}">
        <p14:creationId xmlns:p14="http://schemas.microsoft.com/office/powerpoint/2010/main" val="2209128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Task profiles and user-needs assessment</a:t>
            </a:r>
          </a:p>
        </p:txBody>
      </p:sp>
      <p:sp>
        <p:nvSpPr>
          <p:cNvPr id="3" name="Content Placeholder 2"/>
          <p:cNvSpPr>
            <a:spLocks noGrp="1"/>
          </p:cNvSpPr>
          <p:nvPr>
            <p:ph idx="1"/>
          </p:nvPr>
        </p:nvSpPr>
        <p:spPr/>
        <p:txBody>
          <a:bodyPr>
            <a:normAutofit fontScale="85000" lnSpcReduction="20000"/>
          </a:bodyPr>
          <a:lstStyle/>
          <a:p>
            <a:r>
              <a:rPr lang="en-US" sz="3600" dirty="0"/>
              <a:t>After the user profile, the developers must identify the tasks.</a:t>
            </a:r>
          </a:p>
          <a:p>
            <a:r>
              <a:rPr lang="en-US" sz="3600" dirty="0"/>
              <a:t>Every designer would agree that the set of tasks must be determined before design can proceed, but too often the task analysis is done informally or implicitly. </a:t>
            </a:r>
          </a:p>
          <a:p>
            <a:r>
              <a:rPr lang="en-US" sz="3600" dirty="0"/>
              <a:t>High-level task actions can be decomposed into multiple middle-level task actions, which can be further refined into atomic actions that the user executes with a single command, menu selection, and so on.</a:t>
            </a:r>
          </a:p>
        </p:txBody>
      </p:sp>
    </p:spTree>
    <p:extLst>
      <p:ext uri="{BB962C8B-B14F-4D97-AF65-F5344CB8AC3E}">
        <p14:creationId xmlns:p14="http://schemas.microsoft.com/office/powerpoint/2010/main" val="567428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Task profiles and user-needs assessment (cont..)</a:t>
            </a:r>
            <a:br>
              <a:rPr lang="en-US" dirty="0">
                <a:solidFill>
                  <a:srgbClr val="FF0000"/>
                </a:solidFill>
              </a:rPr>
            </a:br>
            <a:endParaRPr lang="en-US" dirty="0"/>
          </a:p>
        </p:txBody>
      </p:sp>
      <p:sp>
        <p:nvSpPr>
          <p:cNvPr id="3" name="Content Placeholder 2"/>
          <p:cNvSpPr>
            <a:spLocks noGrp="1"/>
          </p:cNvSpPr>
          <p:nvPr>
            <p:ph idx="1"/>
          </p:nvPr>
        </p:nvSpPr>
        <p:spPr/>
        <p:txBody>
          <a:bodyPr/>
          <a:lstStyle/>
          <a:p>
            <a:r>
              <a:rPr lang="en-US" dirty="0"/>
              <a:t>Example: In MS-Word</a:t>
            </a:r>
          </a:p>
          <a:p>
            <a:pPr lvl="1"/>
            <a:r>
              <a:rPr lang="en-US" dirty="0"/>
              <a:t>Frequent actions - performed by special keys</a:t>
            </a:r>
          </a:p>
          <a:p>
            <a:pPr lvl="1"/>
            <a:r>
              <a:rPr lang="en-US" dirty="0"/>
              <a:t>Intermediately frequent actions - performed by a single letter plus the Ctrl key</a:t>
            </a:r>
          </a:p>
          <a:p>
            <a:pPr lvl="1"/>
            <a:r>
              <a:rPr lang="en-US" dirty="0"/>
              <a:t>Infrequent actions or complex actions - sequence of menu selections or form  fill-ins.</a:t>
            </a:r>
          </a:p>
          <a:p>
            <a:pPr lvl="1"/>
            <a:endParaRPr lang="en-US" dirty="0"/>
          </a:p>
        </p:txBody>
      </p:sp>
    </p:spTree>
    <p:extLst>
      <p:ext uri="{BB962C8B-B14F-4D97-AF65-F5344CB8AC3E}">
        <p14:creationId xmlns:p14="http://schemas.microsoft.com/office/powerpoint/2010/main" val="1968036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5444" y="228601"/>
            <a:ext cx="7516556" cy="6587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733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1 (cont..)</a:t>
            </a:r>
          </a:p>
        </p:txBody>
      </p:sp>
      <p:sp>
        <p:nvSpPr>
          <p:cNvPr id="3" name="Content Placeholder 2"/>
          <p:cNvSpPr>
            <a:spLocks noGrp="1"/>
          </p:cNvSpPr>
          <p:nvPr>
            <p:ph idx="1"/>
          </p:nvPr>
        </p:nvSpPr>
        <p:spPr/>
        <p:txBody>
          <a:bodyPr>
            <a:normAutofit fontScale="70000" lnSpcReduction="20000"/>
          </a:bodyPr>
          <a:lstStyle/>
          <a:p>
            <a:r>
              <a:rPr lang="en-US" sz="4000" dirty="0">
                <a:solidFill>
                  <a:srgbClr val="FF0000"/>
                </a:solidFill>
              </a:rPr>
              <a:t>Interaction styles</a:t>
            </a:r>
            <a:endParaRPr lang="en-US" sz="4000" dirty="0"/>
          </a:p>
          <a:p>
            <a:pPr marL="1200150" lvl="1" indent="-742950">
              <a:buFont typeface="+mj-lt"/>
              <a:buAutoNum type="arabicPeriod"/>
            </a:pPr>
            <a:r>
              <a:rPr lang="en-US" sz="3600" dirty="0"/>
              <a:t>Direct manipulation</a:t>
            </a:r>
          </a:p>
          <a:p>
            <a:pPr marL="1200150" lvl="1" indent="-742950">
              <a:buFont typeface="+mj-lt"/>
              <a:buAutoNum type="arabicPeriod"/>
            </a:pPr>
            <a:r>
              <a:rPr lang="en-US" sz="3600" dirty="0"/>
              <a:t>Menu selection</a:t>
            </a:r>
          </a:p>
          <a:p>
            <a:pPr marL="1200150" lvl="1" indent="-742950">
              <a:buFont typeface="+mj-lt"/>
              <a:buAutoNum type="arabicPeriod"/>
            </a:pPr>
            <a:r>
              <a:rPr lang="en-US" sz="3600" dirty="0"/>
              <a:t>Form fill-in</a:t>
            </a:r>
          </a:p>
          <a:p>
            <a:pPr marL="1200150" lvl="1" indent="-742950">
              <a:buFont typeface="+mj-lt"/>
              <a:buAutoNum type="arabicPeriod"/>
            </a:pPr>
            <a:r>
              <a:rPr lang="en-US" sz="3600" dirty="0"/>
              <a:t>Spreadsheets</a:t>
            </a:r>
          </a:p>
          <a:p>
            <a:pPr marL="1200150" lvl="1" indent="-742950">
              <a:buFont typeface="+mj-lt"/>
              <a:buAutoNum type="arabicPeriod"/>
            </a:pPr>
            <a:r>
              <a:rPr lang="en-US" sz="3600" dirty="0"/>
              <a:t>Command language</a:t>
            </a:r>
          </a:p>
          <a:p>
            <a:pPr marL="1200150" lvl="1" indent="-742950">
              <a:buFont typeface="+mj-lt"/>
              <a:buAutoNum type="arabicPeriod"/>
            </a:pPr>
            <a:r>
              <a:rPr lang="en-US" sz="3600" dirty="0"/>
              <a:t>Natural language</a:t>
            </a:r>
          </a:p>
          <a:p>
            <a:pPr marL="1200150" lvl="1" indent="-742950">
              <a:buFont typeface="+mj-lt"/>
              <a:buAutoNum type="arabicPeriod"/>
            </a:pPr>
            <a:r>
              <a:rPr lang="en-GB" sz="3600" dirty="0"/>
              <a:t>Question/answer interfaces</a:t>
            </a:r>
          </a:p>
          <a:p>
            <a:pPr marL="1200150" lvl="1" indent="-742950">
              <a:buFont typeface="+mj-lt"/>
              <a:buAutoNum type="arabicPeriod"/>
            </a:pPr>
            <a:r>
              <a:rPr lang="en-GB" sz="3600" dirty="0"/>
              <a:t>Metaphor</a:t>
            </a:r>
          </a:p>
          <a:p>
            <a:pPr marL="1200150" lvl="1" indent="-742950">
              <a:buFont typeface="+mj-lt"/>
              <a:buAutoNum type="arabicPeriod"/>
            </a:pPr>
            <a:r>
              <a:rPr lang="en-GB" sz="3600" dirty="0"/>
              <a:t>Web Navigation</a:t>
            </a:r>
          </a:p>
          <a:p>
            <a:pPr marL="1200150" lvl="1" indent="-742950">
              <a:buFont typeface="+mj-lt"/>
              <a:buAutoNum type="arabicPeriod"/>
            </a:pPr>
            <a:r>
              <a:rPr lang="en-GB" sz="3600" dirty="0"/>
              <a:t>3D Interface</a:t>
            </a:r>
          </a:p>
          <a:p>
            <a:pPr marL="1200150" lvl="1" indent="-742950">
              <a:buFont typeface="+mj-lt"/>
              <a:buAutoNum type="arabicPeriod"/>
            </a:pPr>
            <a:endParaRPr lang="en-US" sz="3600" dirty="0"/>
          </a:p>
        </p:txBody>
      </p:sp>
    </p:spTree>
    <p:extLst>
      <p:ext uri="{BB962C8B-B14F-4D97-AF65-F5344CB8AC3E}">
        <p14:creationId xmlns:p14="http://schemas.microsoft.com/office/powerpoint/2010/main" val="258190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5325" y="3048000"/>
            <a:ext cx="4638675" cy="2375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274638"/>
            <a:ext cx="8229600" cy="715962"/>
          </a:xfrm>
        </p:spPr>
        <p:txBody>
          <a:bodyPr>
            <a:normAutofit fontScale="90000"/>
          </a:bodyPr>
          <a:lstStyle/>
          <a:p>
            <a:pPr lvl="1" algn="ctr" rtl="0">
              <a:spcBef>
                <a:spcPct val="0"/>
              </a:spcBef>
            </a:pPr>
            <a:r>
              <a:rPr lang="en-US" sz="3600" dirty="0">
                <a:solidFill>
                  <a:srgbClr val="FF0000"/>
                </a:solidFill>
              </a:rPr>
              <a:t>Direct manipulation</a:t>
            </a:r>
            <a:br>
              <a:rPr lang="en-US" sz="3600" dirty="0"/>
            </a:br>
            <a:endParaRPr lang="en-US" dirty="0"/>
          </a:p>
        </p:txBody>
      </p:sp>
      <p:sp>
        <p:nvSpPr>
          <p:cNvPr id="4" name="Content Placeholder 3"/>
          <p:cNvSpPr>
            <a:spLocks noGrp="1"/>
          </p:cNvSpPr>
          <p:nvPr>
            <p:ph idx="1"/>
          </p:nvPr>
        </p:nvSpPr>
        <p:spPr>
          <a:xfrm>
            <a:off x="457200" y="1066800"/>
            <a:ext cx="8229600" cy="5562600"/>
          </a:xfrm>
        </p:spPr>
        <p:txBody>
          <a:bodyPr>
            <a:normAutofit fontScale="77500" lnSpcReduction="20000"/>
          </a:bodyPr>
          <a:lstStyle/>
          <a:p>
            <a:r>
              <a:rPr lang="en-US" dirty="0"/>
              <a:t>Users point at visual representations of object and actions, carry out tasks rapidly and see immediate results; keyboard control replaced by cursor-motion control devices.</a:t>
            </a:r>
          </a:p>
          <a:p>
            <a:r>
              <a:rPr lang="en-US" dirty="0"/>
              <a:t>Designers need to choose appropriate icons and graphics to successfully "immerse" user - minimal user training indicated.</a:t>
            </a:r>
          </a:p>
          <a:p>
            <a:r>
              <a:rPr lang="en-US" dirty="0"/>
              <a:t>Advantage</a:t>
            </a:r>
          </a:p>
          <a:p>
            <a:pPr lvl="1"/>
            <a:r>
              <a:rPr lang="en-US" dirty="0"/>
              <a:t>Visually presents task concepts</a:t>
            </a:r>
          </a:p>
          <a:p>
            <a:pPr lvl="1"/>
            <a:r>
              <a:rPr lang="en-US" dirty="0"/>
              <a:t>Allows easy learning</a:t>
            </a:r>
          </a:p>
          <a:p>
            <a:pPr lvl="1"/>
            <a:r>
              <a:rPr lang="en-US" dirty="0"/>
              <a:t>Allows easy retention</a:t>
            </a:r>
          </a:p>
          <a:p>
            <a:pPr lvl="1"/>
            <a:r>
              <a:rPr lang="en-US" dirty="0"/>
              <a:t>Allows errors to be avoided</a:t>
            </a:r>
          </a:p>
          <a:p>
            <a:pPr lvl="1"/>
            <a:r>
              <a:rPr lang="en-US" dirty="0"/>
              <a:t>Encourages exploration</a:t>
            </a:r>
          </a:p>
          <a:p>
            <a:pPr lvl="1"/>
            <a:r>
              <a:rPr lang="en-US" dirty="0"/>
              <a:t>Affords high subjective satisfaction</a:t>
            </a:r>
          </a:p>
          <a:p>
            <a:r>
              <a:rPr lang="en-US" dirty="0"/>
              <a:t>Disadvantages</a:t>
            </a:r>
          </a:p>
          <a:p>
            <a:pPr lvl="1"/>
            <a:r>
              <a:rPr lang="en-US" dirty="0"/>
              <a:t>May be hard to program</a:t>
            </a:r>
          </a:p>
          <a:p>
            <a:pPr lvl="1"/>
            <a:r>
              <a:rPr lang="en-US" dirty="0"/>
              <a:t>May require graphics display and pointing devices</a:t>
            </a:r>
          </a:p>
          <a:p>
            <a:endParaRPr lang="en-US" dirty="0"/>
          </a:p>
          <a:p>
            <a:endParaRPr lang="en-US" dirty="0"/>
          </a:p>
        </p:txBody>
      </p:sp>
    </p:spTree>
    <p:extLst>
      <p:ext uri="{BB962C8B-B14F-4D97-AF65-F5344CB8AC3E}">
        <p14:creationId xmlns:p14="http://schemas.microsoft.com/office/powerpoint/2010/main" val="19325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381000"/>
            <a:ext cx="6477000" cy="639762"/>
          </a:xfrm>
        </p:spPr>
        <p:txBody>
          <a:bodyPr>
            <a:normAutofit fontScale="90000"/>
          </a:bodyPr>
          <a:lstStyle/>
          <a:p>
            <a:pPr lvl="1" algn="ctr" rtl="0">
              <a:spcBef>
                <a:spcPct val="0"/>
              </a:spcBef>
            </a:pPr>
            <a:r>
              <a:rPr lang="en-US" sz="3600" dirty="0">
                <a:solidFill>
                  <a:srgbClr val="FF0000"/>
                </a:solidFill>
              </a:rPr>
              <a:t>Menu selection</a:t>
            </a:r>
            <a:br>
              <a:rPr lang="en-US" sz="3600"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228600" y="914400"/>
            <a:ext cx="8229600" cy="5562600"/>
          </a:xfrm>
        </p:spPr>
        <p:txBody>
          <a:bodyPr>
            <a:normAutofit fontScale="77500" lnSpcReduction="20000"/>
          </a:bodyPr>
          <a:lstStyle/>
          <a:p>
            <a:r>
              <a:rPr lang="en-US" dirty="0"/>
              <a:t>User read list items; select appropriately according to task; apply syntax to indicate selection; confirm choice; initiate action; observe effect</a:t>
            </a:r>
          </a:p>
          <a:p>
            <a:r>
              <a:rPr lang="en-US" dirty="0"/>
              <a:t>Designers may need to use careful task analysis to ensure all functions appropriate and consistent in use</a:t>
            </a:r>
          </a:p>
          <a:p>
            <a:r>
              <a:rPr lang="en-US" dirty="0"/>
              <a:t>Advantage</a:t>
            </a:r>
          </a:p>
          <a:p>
            <a:pPr lvl="1"/>
            <a:r>
              <a:rPr lang="en-US" sz="2600" dirty="0"/>
              <a:t>Shortens learning </a:t>
            </a:r>
          </a:p>
          <a:p>
            <a:pPr lvl="1"/>
            <a:r>
              <a:rPr lang="en-US" sz="2600" dirty="0"/>
              <a:t>Reduces keystrokes </a:t>
            </a:r>
          </a:p>
          <a:p>
            <a:pPr lvl="1"/>
            <a:r>
              <a:rPr lang="en-US" sz="2600" dirty="0"/>
              <a:t>Structures decision making</a:t>
            </a:r>
          </a:p>
          <a:p>
            <a:pPr lvl="1"/>
            <a:r>
              <a:rPr lang="en-US" sz="2600" dirty="0"/>
              <a:t>Permits use of dialog-management tools</a:t>
            </a:r>
          </a:p>
          <a:p>
            <a:pPr lvl="1"/>
            <a:r>
              <a:rPr lang="en-US" sz="2600" dirty="0"/>
              <a:t>Allows easy support of error handling</a:t>
            </a:r>
            <a:endParaRPr lang="en-US" dirty="0"/>
          </a:p>
          <a:p>
            <a:r>
              <a:rPr lang="en-US" dirty="0"/>
              <a:t>Disadvantages</a:t>
            </a:r>
          </a:p>
          <a:p>
            <a:pPr lvl="1"/>
            <a:r>
              <a:rPr lang="en-US" sz="2600" dirty="0"/>
              <a:t>Presents danger of many menus</a:t>
            </a:r>
          </a:p>
          <a:p>
            <a:pPr lvl="1"/>
            <a:r>
              <a:rPr lang="en-US" dirty="0"/>
              <a:t>May slow frequent users</a:t>
            </a:r>
          </a:p>
          <a:p>
            <a:pPr lvl="1"/>
            <a:r>
              <a:rPr lang="en-US" dirty="0"/>
              <a:t>Consumes screen space</a:t>
            </a:r>
          </a:p>
          <a:p>
            <a:pPr lvl="1"/>
            <a:r>
              <a:rPr lang="en-US" dirty="0"/>
              <a:t>Requires rapid display rate </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2149" y="3505200"/>
            <a:ext cx="3661069"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0173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1775" y="3305175"/>
            <a:ext cx="3832225"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pPr lvl="1" algn="ctr" rtl="0">
              <a:spcBef>
                <a:spcPct val="0"/>
              </a:spcBef>
            </a:pPr>
            <a:r>
              <a:rPr lang="en-US" sz="3600" dirty="0">
                <a:solidFill>
                  <a:srgbClr val="FF0000"/>
                </a:solidFill>
              </a:rPr>
              <a:t>Form fill-in</a:t>
            </a:r>
            <a:br>
              <a:rPr lang="en-US" sz="3600"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228600" y="1219200"/>
            <a:ext cx="8229600" cy="5105400"/>
          </a:xfrm>
        </p:spPr>
        <p:txBody>
          <a:bodyPr>
            <a:normAutofit fontScale="85000" lnSpcReduction="20000"/>
          </a:bodyPr>
          <a:lstStyle/>
          <a:p>
            <a:r>
              <a:rPr lang="en-US" dirty="0"/>
              <a:t>User see a display of related fields; move a cursor among the fields, and enter data as appropriate</a:t>
            </a:r>
          </a:p>
          <a:p>
            <a:r>
              <a:rPr lang="en-US" dirty="0"/>
              <a:t>Designer need to ensure that users understand field labels, appropriate values and the data-entry method, and are capable of responding to error messages - some user training may be necessary.</a:t>
            </a:r>
          </a:p>
          <a:p>
            <a:r>
              <a:rPr lang="en-US" dirty="0"/>
              <a:t>Advantage</a:t>
            </a:r>
          </a:p>
          <a:p>
            <a:pPr lvl="1"/>
            <a:r>
              <a:rPr lang="en-US" dirty="0"/>
              <a:t>Simplifies data entry</a:t>
            </a:r>
          </a:p>
          <a:p>
            <a:pPr lvl="1"/>
            <a:r>
              <a:rPr lang="en-US" dirty="0"/>
              <a:t>Requires modest training</a:t>
            </a:r>
          </a:p>
          <a:p>
            <a:pPr lvl="1"/>
            <a:r>
              <a:rPr lang="en-US" dirty="0"/>
              <a:t>Gives convenient assistance</a:t>
            </a:r>
          </a:p>
          <a:p>
            <a:pPr lvl="1"/>
            <a:r>
              <a:rPr lang="en-US" dirty="0"/>
              <a:t>Permits use of form-management tools</a:t>
            </a:r>
          </a:p>
          <a:p>
            <a:r>
              <a:rPr lang="en-US" dirty="0"/>
              <a:t>Disadvantage</a:t>
            </a:r>
          </a:p>
          <a:p>
            <a:pPr lvl="1"/>
            <a:r>
              <a:rPr lang="en-US" dirty="0"/>
              <a:t>Consumes screen space</a:t>
            </a:r>
          </a:p>
          <a:p>
            <a:endParaRPr lang="en-US" dirty="0"/>
          </a:p>
        </p:txBody>
      </p:sp>
    </p:spTree>
    <p:extLst>
      <p:ext uri="{BB962C8B-B14F-4D97-AF65-F5344CB8AC3E}">
        <p14:creationId xmlns:p14="http://schemas.microsoft.com/office/powerpoint/2010/main" val="2553424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solidFill>
                  <a:srgbClr val="FF0000"/>
                </a:solidFill>
              </a:rPr>
              <a:t>Spreadsheets</a:t>
            </a:r>
          </a:p>
        </p:txBody>
      </p:sp>
      <p:sp>
        <p:nvSpPr>
          <p:cNvPr id="3" name="Content Placeholder 2"/>
          <p:cNvSpPr>
            <a:spLocks noGrp="1"/>
          </p:cNvSpPr>
          <p:nvPr>
            <p:ph idx="1"/>
          </p:nvPr>
        </p:nvSpPr>
        <p:spPr>
          <a:xfrm>
            <a:off x="457200" y="1143000"/>
            <a:ext cx="8229600" cy="5334000"/>
          </a:xfrm>
        </p:spPr>
        <p:txBody>
          <a:bodyPr>
            <a:normAutofit fontScale="85000" lnSpcReduction="20000"/>
          </a:bodyPr>
          <a:lstStyle/>
          <a:p>
            <a:r>
              <a:rPr lang="en-US" dirty="0"/>
              <a:t>These are sophisticated variations of form fill-ins. </a:t>
            </a:r>
          </a:p>
          <a:p>
            <a:r>
              <a:rPr lang="en-US" dirty="0"/>
              <a:t>The first spreadsheet was VISICALC developed by </a:t>
            </a:r>
            <a:r>
              <a:rPr lang="en-US" dirty="0" err="1"/>
              <a:t>VisiCorp</a:t>
            </a:r>
            <a:r>
              <a:rPr lang="en-US" dirty="0"/>
              <a:t> followed by Lotus 1-2-3. </a:t>
            </a:r>
          </a:p>
          <a:p>
            <a:r>
              <a:rPr lang="en-US" dirty="0"/>
              <a:t>Microsoft Excel is the most popular spreadsheet nowadays. </a:t>
            </a:r>
          </a:p>
          <a:p>
            <a:r>
              <a:rPr lang="en-US" dirty="0"/>
              <a:t>The spreadsheet consists of a grid of cells that contain values or formulas. </a:t>
            </a:r>
          </a:p>
          <a:p>
            <a:r>
              <a:rPr lang="en-US" dirty="0"/>
              <a:t>Formulas can involve values of other cells and the user can enter and alter data to the spreadsheet.</a:t>
            </a:r>
          </a:p>
          <a:p>
            <a:r>
              <a:rPr lang="en-US" dirty="0"/>
              <a:t>Spreadsheets have unlimited space to work with and allow to perform complex calculations.</a:t>
            </a:r>
          </a:p>
          <a:p>
            <a:r>
              <a:rPr lang="en-US" dirty="0"/>
              <a:t>On the other hand, they can be difficult to learn and might require programming skills.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743200"/>
            <a:ext cx="4411689" cy="401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274638"/>
            <a:ext cx="8229600" cy="792162"/>
          </a:xfrm>
        </p:spPr>
        <p:txBody>
          <a:bodyPr>
            <a:normAutofit fontScale="90000"/>
          </a:bodyPr>
          <a:lstStyle/>
          <a:p>
            <a:pPr lvl="1" algn="ctr" rtl="0">
              <a:spcBef>
                <a:spcPct val="0"/>
              </a:spcBef>
            </a:pPr>
            <a:r>
              <a:rPr lang="en-US" sz="3600" dirty="0">
                <a:solidFill>
                  <a:srgbClr val="FF0000"/>
                </a:solidFill>
              </a:rPr>
              <a:t>Command language</a:t>
            </a:r>
            <a:br>
              <a:rPr lang="en-US" sz="3600"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457200" y="990600"/>
            <a:ext cx="8229600" cy="5135563"/>
          </a:xfrm>
        </p:spPr>
        <p:txBody>
          <a:bodyPr>
            <a:normAutofit fontScale="70000" lnSpcReduction="20000"/>
          </a:bodyPr>
          <a:lstStyle/>
          <a:p>
            <a:r>
              <a:rPr lang="en-US" dirty="0"/>
              <a:t>user learn syntax; can express complex possibilities rapidly without reading distracting prompts</a:t>
            </a:r>
          </a:p>
          <a:p>
            <a:r>
              <a:rPr lang="en-US" dirty="0"/>
              <a:t>Designer must allow for high error-rates; diversity of possibilities and complexity of mapping from task to computer syntax is hard; user training is necessary.</a:t>
            </a:r>
          </a:p>
          <a:p>
            <a:r>
              <a:rPr lang="en-US" dirty="0"/>
              <a:t>Advantage</a:t>
            </a:r>
          </a:p>
          <a:p>
            <a:pPr lvl="1"/>
            <a:r>
              <a:rPr lang="en-US" dirty="0"/>
              <a:t>Is flexible </a:t>
            </a:r>
          </a:p>
          <a:p>
            <a:pPr lvl="1"/>
            <a:r>
              <a:rPr lang="en-US" dirty="0"/>
              <a:t>Appeals to “power” users </a:t>
            </a:r>
          </a:p>
          <a:p>
            <a:pPr lvl="1"/>
            <a:r>
              <a:rPr lang="en-US" dirty="0"/>
              <a:t>Supports user initiative </a:t>
            </a:r>
          </a:p>
          <a:p>
            <a:pPr lvl="1"/>
            <a:r>
              <a:rPr lang="en-US" dirty="0"/>
              <a:t>Allows convenient creation </a:t>
            </a:r>
          </a:p>
          <a:p>
            <a:pPr marL="457200" lvl="1" indent="0">
              <a:buNone/>
            </a:pPr>
            <a:r>
              <a:rPr lang="en-US" dirty="0"/>
              <a:t>                    of user-defined macros</a:t>
            </a:r>
          </a:p>
          <a:p>
            <a:r>
              <a:rPr lang="en-US" dirty="0"/>
              <a:t>Disadvantage</a:t>
            </a:r>
          </a:p>
          <a:p>
            <a:pPr lvl="1"/>
            <a:r>
              <a:rPr lang="en-US" dirty="0"/>
              <a:t>Has poor error handling</a:t>
            </a:r>
          </a:p>
          <a:p>
            <a:pPr lvl="1"/>
            <a:r>
              <a:rPr lang="en-US" dirty="0"/>
              <a:t>Requires substantial training </a:t>
            </a:r>
          </a:p>
          <a:p>
            <a:pPr marL="457200" lvl="1" indent="0">
              <a:buNone/>
            </a:pPr>
            <a:r>
              <a:rPr lang="en-US" dirty="0"/>
              <a:t>                         and memorization</a:t>
            </a:r>
          </a:p>
          <a:p>
            <a:endParaRPr lang="en-US" dirty="0"/>
          </a:p>
        </p:txBody>
      </p:sp>
    </p:spTree>
    <p:extLst>
      <p:ext uri="{BB962C8B-B14F-4D97-AF65-F5344CB8AC3E}">
        <p14:creationId xmlns:p14="http://schemas.microsoft.com/office/powerpoint/2010/main" val="4152541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1139" y="3267075"/>
            <a:ext cx="4848225"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solidFill>
                  <a:srgbClr val="FF0000"/>
                </a:solidFill>
              </a:rPr>
              <a:t>Natural language</a:t>
            </a:r>
          </a:p>
        </p:txBody>
      </p:sp>
      <p:sp>
        <p:nvSpPr>
          <p:cNvPr id="3" name="Content Placeholder 2"/>
          <p:cNvSpPr>
            <a:spLocks noGrp="1"/>
          </p:cNvSpPr>
          <p:nvPr>
            <p:ph idx="1"/>
          </p:nvPr>
        </p:nvSpPr>
        <p:spPr>
          <a:xfrm>
            <a:off x="457200" y="1447800"/>
            <a:ext cx="8229600" cy="4678363"/>
          </a:xfrm>
        </p:spPr>
        <p:txBody>
          <a:bodyPr>
            <a:normAutofit fontScale="85000" lnSpcReduction="20000"/>
          </a:bodyPr>
          <a:lstStyle/>
          <a:p>
            <a:r>
              <a:rPr lang="en-US" dirty="0"/>
              <a:t>Users enter natural language sentences; computer often seeks clarification before beginning task.</a:t>
            </a:r>
          </a:p>
          <a:p>
            <a:r>
              <a:rPr lang="en-US" dirty="0"/>
              <a:t>Designers need to understand task domain to narrow range of interpretations to manageable level; design is extremely difficult.</a:t>
            </a:r>
          </a:p>
          <a:p>
            <a:r>
              <a:rPr lang="en-US" dirty="0"/>
              <a:t>Advantage</a:t>
            </a:r>
          </a:p>
          <a:p>
            <a:pPr lvl="1"/>
            <a:r>
              <a:rPr lang="en-US" dirty="0"/>
              <a:t>Relieves burden of learning syntax</a:t>
            </a:r>
          </a:p>
          <a:p>
            <a:r>
              <a:rPr lang="en-US" dirty="0"/>
              <a:t>Disadvantage</a:t>
            </a:r>
          </a:p>
          <a:p>
            <a:pPr lvl="1"/>
            <a:r>
              <a:rPr lang="en-US" dirty="0"/>
              <a:t>Requires clarification dialog</a:t>
            </a:r>
          </a:p>
          <a:p>
            <a:pPr lvl="1"/>
            <a:r>
              <a:rPr lang="en-US" dirty="0"/>
              <a:t>May require more keystrokes</a:t>
            </a:r>
          </a:p>
          <a:p>
            <a:pPr lvl="1"/>
            <a:r>
              <a:rPr lang="en-US" dirty="0"/>
              <a:t>May not show context</a:t>
            </a:r>
          </a:p>
          <a:p>
            <a:pPr lvl="1"/>
            <a:r>
              <a:rPr lang="en-US" dirty="0"/>
              <a:t>Is unpredictable</a:t>
            </a:r>
          </a:p>
        </p:txBody>
      </p:sp>
    </p:spTree>
    <p:extLst>
      <p:ext uri="{BB962C8B-B14F-4D97-AF65-F5344CB8AC3E}">
        <p14:creationId xmlns:p14="http://schemas.microsoft.com/office/powerpoint/2010/main" val="2621978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srcRect/>
          <a:stretch>
            <a:fillRect/>
          </a:stretch>
        </p:blipFill>
        <p:spPr bwMode="auto">
          <a:xfrm>
            <a:off x="4724400" y="4319474"/>
            <a:ext cx="3419475" cy="2538526"/>
          </a:xfrm>
          <a:prstGeom prst="rect">
            <a:avLst/>
          </a:prstGeom>
          <a:noFill/>
          <a:ln w="9525">
            <a:noFill/>
            <a:miter lim="800000"/>
            <a:headEnd/>
            <a:tailEnd/>
          </a:ln>
          <a:effectLst/>
        </p:spPr>
      </p:pic>
      <p:sp>
        <p:nvSpPr>
          <p:cNvPr id="2" name="Title 1"/>
          <p:cNvSpPr>
            <a:spLocks noGrp="1"/>
          </p:cNvSpPr>
          <p:nvPr>
            <p:ph type="title"/>
          </p:nvPr>
        </p:nvSpPr>
        <p:spPr/>
        <p:txBody>
          <a:bodyPr>
            <a:normAutofit fontScale="90000"/>
          </a:bodyPr>
          <a:lstStyle/>
          <a:p>
            <a:r>
              <a:rPr lang="en-GB" dirty="0">
                <a:solidFill>
                  <a:srgbClr val="FF0000"/>
                </a:solidFill>
              </a:rPr>
              <a:t>Question/answer interfaces</a:t>
            </a:r>
            <a:br>
              <a:rPr lang="en-GB"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457200" y="990601"/>
            <a:ext cx="8458200" cy="4114800"/>
          </a:xfrm>
        </p:spPr>
        <p:txBody>
          <a:bodyPr>
            <a:normAutofit fontScale="92500" lnSpcReduction="20000"/>
          </a:bodyPr>
          <a:lstStyle/>
          <a:p>
            <a:r>
              <a:rPr lang="en-US" dirty="0"/>
              <a:t>Much used in the early history of computing. The user is supposed to answer a sequential set of questions.</a:t>
            </a:r>
          </a:p>
          <a:p>
            <a:r>
              <a:rPr lang="en-US" dirty="0"/>
              <a:t>user led through interaction via series of questions</a:t>
            </a:r>
          </a:p>
          <a:p>
            <a:r>
              <a:rPr lang="en-US" dirty="0"/>
              <a:t>suitable for novice users but restricted functionality</a:t>
            </a:r>
          </a:p>
          <a:p>
            <a:r>
              <a:rPr lang="en-US" dirty="0"/>
              <a:t>often used in information systems</a:t>
            </a:r>
          </a:p>
          <a:p>
            <a:r>
              <a:rPr lang="en-US" dirty="0"/>
              <a:t>Question and answer interfaces are also called wizards.</a:t>
            </a:r>
          </a:p>
          <a:p>
            <a:endParaRPr lang="en-US" dirty="0"/>
          </a:p>
        </p:txBody>
      </p:sp>
      <p:pic>
        <p:nvPicPr>
          <p:cNvPr id="1027" name="Picture 3"/>
          <p:cNvPicPr>
            <a:picLocks noChangeAspect="1" noChangeArrowheads="1"/>
          </p:cNvPicPr>
          <p:nvPr/>
        </p:nvPicPr>
        <p:blipFill>
          <a:blip r:embed="rId3"/>
          <a:srcRect/>
          <a:stretch>
            <a:fillRect/>
          </a:stretch>
        </p:blipFill>
        <p:spPr bwMode="auto">
          <a:xfrm>
            <a:off x="457200" y="5181600"/>
            <a:ext cx="3800475" cy="16764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solidFill>
                  <a:srgbClr val="FF0000"/>
                </a:solidFill>
              </a:rPr>
              <a:t>Question/answer interfaces</a:t>
            </a:r>
            <a:br>
              <a:rPr lang="en-GB" dirty="0">
                <a:solidFill>
                  <a:srgbClr val="FF0000"/>
                </a:solidFill>
              </a:rPr>
            </a:br>
            <a:endParaRPr lang="en-US" dirty="0"/>
          </a:p>
        </p:txBody>
      </p:sp>
      <p:sp>
        <p:nvSpPr>
          <p:cNvPr id="3" name="Content Placeholder 2"/>
          <p:cNvSpPr>
            <a:spLocks noGrp="1"/>
          </p:cNvSpPr>
          <p:nvPr>
            <p:ph idx="1"/>
          </p:nvPr>
        </p:nvSpPr>
        <p:spPr>
          <a:xfrm>
            <a:off x="457200" y="1143000"/>
            <a:ext cx="8229600" cy="4983163"/>
          </a:xfrm>
        </p:spPr>
        <p:txBody>
          <a:bodyPr>
            <a:normAutofit fontScale="92500"/>
          </a:bodyPr>
          <a:lstStyle/>
          <a:p>
            <a:r>
              <a:rPr lang="en-US" dirty="0"/>
              <a:t>Advantages of question and answer interfaces:</a:t>
            </a:r>
          </a:p>
          <a:p>
            <a:pPr lvl="1">
              <a:buNone/>
            </a:pPr>
            <a:r>
              <a:rPr lang="en-US" dirty="0"/>
              <a:t>– Low memory requirements</a:t>
            </a:r>
          </a:p>
          <a:p>
            <a:pPr lvl="1">
              <a:buNone/>
            </a:pPr>
            <a:r>
              <a:rPr lang="en-US" dirty="0"/>
              <a:t>– Self-explanatory</a:t>
            </a:r>
          </a:p>
          <a:p>
            <a:pPr lvl="1">
              <a:buNone/>
            </a:pPr>
            <a:r>
              <a:rPr lang="en-US" dirty="0"/>
              <a:t>– Simple linear presentation</a:t>
            </a:r>
          </a:p>
          <a:p>
            <a:pPr lvl="1">
              <a:buNone/>
            </a:pPr>
            <a:r>
              <a:rPr lang="en-US" dirty="0"/>
              <a:t>– Easy for beginners</a:t>
            </a:r>
          </a:p>
          <a:p>
            <a:endParaRPr lang="en-US" dirty="0"/>
          </a:p>
          <a:p>
            <a:r>
              <a:rPr lang="en-US" dirty="0"/>
              <a:t>Disadvantages of question and answer interfaces:</a:t>
            </a:r>
          </a:p>
          <a:p>
            <a:pPr lvl="1">
              <a:buNone/>
            </a:pPr>
            <a:r>
              <a:rPr lang="en-US" dirty="0"/>
              <a:t>– Require valid input supplied by user</a:t>
            </a:r>
          </a:p>
          <a:p>
            <a:pPr lvl="1">
              <a:buNone/>
            </a:pPr>
            <a:r>
              <a:rPr lang="en-US" dirty="0"/>
              <a:t>– Require familiarity with interface controls</a:t>
            </a:r>
          </a:p>
          <a:p>
            <a:pPr lvl="1">
              <a:buNone/>
            </a:pPr>
            <a:r>
              <a:rPr lang="en-US" dirty="0"/>
              <a:t>– Can be tedious to correct mistakes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Metaphors</a:t>
            </a:r>
          </a:p>
        </p:txBody>
      </p:sp>
      <p:sp>
        <p:nvSpPr>
          <p:cNvPr id="3" name="Content Placeholder 2"/>
          <p:cNvSpPr>
            <a:spLocks noGrp="1"/>
          </p:cNvSpPr>
          <p:nvPr>
            <p:ph idx="1"/>
          </p:nvPr>
        </p:nvSpPr>
        <p:spPr/>
        <p:txBody>
          <a:bodyPr>
            <a:normAutofit fontScale="92500" lnSpcReduction="10000"/>
          </a:bodyPr>
          <a:lstStyle/>
          <a:p>
            <a:r>
              <a:rPr lang="en-US" dirty="0"/>
              <a:t>GUIs use visual relationships to real-world objects (metaphors)</a:t>
            </a:r>
          </a:p>
          <a:p>
            <a:pPr lvl="1"/>
            <a:r>
              <a:rPr lang="en-US" dirty="0"/>
              <a:t>Metaphors can help people relate to complex concepts and procedures by drawing on real world knowledge</a:t>
            </a:r>
          </a:p>
          <a:p>
            <a:pPr lvl="1"/>
            <a:r>
              <a:rPr lang="en-US" dirty="0"/>
              <a:t>Real-world affordances can be reflected</a:t>
            </a:r>
          </a:p>
          <a:p>
            <a:endParaRPr lang="en-US" dirty="0"/>
          </a:p>
          <a:p>
            <a:r>
              <a:rPr lang="en-US" dirty="0"/>
              <a:t>What metaphors are used by contemporary GUIs?</a:t>
            </a:r>
          </a:p>
          <a:p>
            <a:r>
              <a:rPr lang="en-US" dirty="0" err="1"/>
              <a:t>Skeuomorphism</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Metaphors</a:t>
            </a:r>
          </a:p>
        </p:txBody>
      </p:sp>
      <p:pic>
        <p:nvPicPr>
          <p:cNvPr id="3074" name="Picture 2" descr="Image result for Microsoft Windows 10 look"/>
          <p:cNvPicPr>
            <a:picLocks noChangeAspect="1" noChangeArrowheads="1"/>
          </p:cNvPicPr>
          <p:nvPr/>
        </p:nvPicPr>
        <p:blipFill>
          <a:blip r:embed="rId2"/>
          <a:srcRect/>
          <a:stretch>
            <a:fillRect/>
          </a:stretch>
        </p:blipFill>
        <p:spPr bwMode="auto">
          <a:xfrm>
            <a:off x="118080" y="1524000"/>
            <a:ext cx="4423680" cy="2743200"/>
          </a:xfrm>
          <a:prstGeom prst="rect">
            <a:avLst/>
          </a:prstGeom>
          <a:noFill/>
        </p:spPr>
      </p:pic>
      <p:pic>
        <p:nvPicPr>
          <p:cNvPr id="3076" name="Picture 4" descr="Image result for apple os look"/>
          <p:cNvPicPr>
            <a:picLocks noChangeAspect="1" noChangeArrowheads="1"/>
          </p:cNvPicPr>
          <p:nvPr/>
        </p:nvPicPr>
        <p:blipFill>
          <a:blip r:embed="rId3"/>
          <a:srcRect/>
          <a:stretch>
            <a:fillRect/>
          </a:stretch>
        </p:blipFill>
        <p:spPr bwMode="auto">
          <a:xfrm>
            <a:off x="4648200" y="2971800"/>
            <a:ext cx="4368800" cy="32766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Metaphors</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r>
              <a:rPr lang="en-US" dirty="0"/>
              <a:t>A metaphor’s function must be consistent with real-world expectations</a:t>
            </a:r>
          </a:p>
          <a:p>
            <a:pPr lvl="1"/>
            <a:r>
              <a:rPr lang="en-US" dirty="0"/>
              <a:t>Metaphors that do not behave the way people expect will cause confusion and frustration</a:t>
            </a:r>
          </a:p>
          <a:p>
            <a:pPr lvl="1"/>
            <a:r>
              <a:rPr lang="en-US" dirty="0"/>
              <a:t>Macintosh trashcan</a:t>
            </a:r>
          </a:p>
          <a:p>
            <a:r>
              <a:rPr lang="en-US" dirty="0"/>
              <a:t>Potential problems with metaphors</a:t>
            </a:r>
          </a:p>
          <a:p>
            <a:pPr lvl="1"/>
            <a:r>
              <a:rPr lang="en-US" dirty="0"/>
              <a:t>Run out of metaphors</a:t>
            </a:r>
          </a:p>
          <a:p>
            <a:pPr lvl="2"/>
            <a:r>
              <a:rPr lang="en-US" dirty="0"/>
              <a:t>Some virtual processes and objects have no real-world counter parts</a:t>
            </a:r>
          </a:p>
          <a:p>
            <a:pPr lvl="1"/>
            <a:r>
              <a:rPr lang="en-US" dirty="0"/>
              <a:t>Mixed metaphors</a:t>
            </a:r>
          </a:p>
          <a:p>
            <a:pPr lvl="1"/>
            <a:r>
              <a:rPr lang="en-US" dirty="0"/>
              <a:t>Carry connotations and association</a:t>
            </a:r>
          </a:p>
          <a:p>
            <a:endParaRPr lang="en-US" dirty="0"/>
          </a:p>
        </p:txBody>
      </p:sp>
      <p:pic>
        <p:nvPicPr>
          <p:cNvPr id="2051" name="Picture 3"/>
          <p:cNvPicPr>
            <a:picLocks noChangeAspect="1" noChangeArrowheads="1"/>
          </p:cNvPicPr>
          <p:nvPr/>
        </p:nvPicPr>
        <p:blipFill>
          <a:blip r:embed="rId2"/>
          <a:srcRect/>
          <a:stretch>
            <a:fillRect/>
          </a:stretch>
        </p:blipFill>
        <p:spPr bwMode="auto">
          <a:xfrm>
            <a:off x="6858000" y="3048000"/>
            <a:ext cx="1609725" cy="7620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Skeuomorphism</a:t>
            </a:r>
            <a:endParaRPr lang="en-US" dirty="0"/>
          </a:p>
        </p:txBody>
      </p:sp>
      <p:sp>
        <p:nvSpPr>
          <p:cNvPr id="3" name="Content Placeholder 2"/>
          <p:cNvSpPr>
            <a:spLocks noGrp="1"/>
          </p:cNvSpPr>
          <p:nvPr>
            <p:ph idx="1"/>
          </p:nvPr>
        </p:nvSpPr>
        <p:spPr/>
        <p:txBody>
          <a:bodyPr>
            <a:normAutofit lnSpcReduction="10000"/>
          </a:bodyPr>
          <a:lstStyle/>
          <a:p>
            <a:r>
              <a:rPr lang="en-US" dirty="0" err="1"/>
              <a:t>Skeuomorphism</a:t>
            </a:r>
            <a:r>
              <a:rPr lang="en-US" dirty="0"/>
              <a:t> is when something is designed with extra ornamentation to make it resemble another object so it is more familiar. </a:t>
            </a:r>
          </a:p>
          <a:p>
            <a:r>
              <a:rPr lang="en-US" dirty="0"/>
              <a:t>designs to add real-world design cues to virtual objects to make them easier to understand.</a:t>
            </a:r>
          </a:p>
          <a:p>
            <a:r>
              <a:rPr lang="en-US"/>
              <a:t>focuses on recreating familiar real-world elements as digital analogues that let users more easily identify their purpose.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Web Navigation</a:t>
            </a:r>
          </a:p>
        </p:txBody>
      </p:sp>
      <p:pic>
        <p:nvPicPr>
          <p:cNvPr id="50178" name="Picture 2" descr="Related image"/>
          <p:cNvPicPr>
            <a:picLocks noChangeAspect="1" noChangeArrowheads="1"/>
          </p:cNvPicPr>
          <p:nvPr/>
        </p:nvPicPr>
        <p:blipFill>
          <a:blip r:embed="rId2"/>
          <a:srcRect/>
          <a:stretch>
            <a:fillRect/>
          </a:stretch>
        </p:blipFill>
        <p:spPr bwMode="auto">
          <a:xfrm>
            <a:off x="533400" y="1371600"/>
            <a:ext cx="8172450" cy="503293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solidFill>
                  <a:srgbClr val="FF0000"/>
                </a:solidFill>
              </a:rPr>
              <a:t>Web Navigation</a:t>
            </a:r>
            <a:endParaRPr lang="en-US" dirty="0"/>
          </a:p>
        </p:txBody>
      </p:sp>
      <p:sp>
        <p:nvSpPr>
          <p:cNvPr id="3" name="Content Placeholder 2"/>
          <p:cNvSpPr>
            <a:spLocks noGrp="1"/>
          </p:cNvSpPr>
          <p:nvPr>
            <p:ph idx="1"/>
          </p:nvPr>
        </p:nvSpPr>
        <p:spPr>
          <a:xfrm>
            <a:off x="304800" y="1219200"/>
            <a:ext cx="8610600" cy="5638800"/>
          </a:xfrm>
        </p:spPr>
        <p:txBody>
          <a:bodyPr>
            <a:normAutofit fontScale="85000" lnSpcReduction="20000"/>
          </a:bodyPr>
          <a:lstStyle/>
          <a:p>
            <a:r>
              <a:rPr lang="en-US" dirty="0"/>
              <a:t>Two basic interaction styles</a:t>
            </a:r>
          </a:p>
          <a:p>
            <a:pPr lvl="1"/>
            <a:r>
              <a:rPr lang="en-US" dirty="0"/>
              <a:t>Link-based navigation</a:t>
            </a:r>
          </a:p>
          <a:p>
            <a:pPr lvl="2"/>
            <a:r>
              <a:rPr lang="en-US" dirty="0"/>
              <a:t>Sensitive to </a:t>
            </a:r>
            <a:r>
              <a:rPr lang="en-US" dirty="0" err="1"/>
              <a:t>articulatory</a:t>
            </a:r>
            <a:r>
              <a:rPr lang="en-US" dirty="0"/>
              <a:t> distance - reflects the relationship between the physical form of an expression in the interaction language and its meaning.</a:t>
            </a:r>
          </a:p>
          <a:p>
            <a:pPr lvl="2"/>
            <a:r>
              <a:rPr lang="en-US" dirty="0"/>
              <a:t>Ambiguous link labels increase the gulf of evaluation</a:t>
            </a:r>
          </a:p>
          <a:p>
            <a:pPr lvl="1"/>
            <a:r>
              <a:rPr lang="en-US" dirty="0"/>
              <a:t>Search</a:t>
            </a:r>
          </a:p>
          <a:p>
            <a:pPr lvl="2"/>
            <a:r>
              <a:rPr lang="en-US" dirty="0"/>
              <a:t>Sensitive to semantic distance - reflects the relationship between the user intentions and the meaning of expressions in the interface languages.</a:t>
            </a:r>
          </a:p>
          <a:p>
            <a:pPr lvl="2"/>
            <a:r>
              <a:rPr lang="en-US" dirty="0"/>
              <a:t>Inadequate search engine algorithms increase the gulf of execution</a:t>
            </a:r>
          </a:p>
          <a:p>
            <a:pPr lvl="2"/>
            <a:r>
              <a:rPr lang="en-US" dirty="0"/>
              <a:t>Slight advantage in development of mental models</a:t>
            </a:r>
          </a:p>
          <a:p>
            <a:r>
              <a:rPr lang="en-US" dirty="0"/>
              <a:t>Adult Internet users increasingly “search dominant” </a:t>
            </a:r>
          </a:p>
          <a:p>
            <a:r>
              <a:rPr lang="en-US" dirty="0"/>
              <a:t>Kids navigate the web using bookmarks, remembering their favorite sites, and accessing paid subscription content and games (</a:t>
            </a:r>
            <a:r>
              <a:rPr lang="en-US" sz="2400" dirty="0"/>
              <a:t>https://gigaom.com/2010/09/13/usability-study-shows-kids-dont-search/)</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3D Environments</a:t>
            </a:r>
          </a:p>
        </p:txBody>
      </p:sp>
      <p:pic>
        <p:nvPicPr>
          <p:cNvPr id="51202" name="Picture 2" descr="Image result for 3d game environment"/>
          <p:cNvPicPr>
            <a:picLocks noGrp="1" noChangeAspect="1" noChangeArrowheads="1"/>
          </p:cNvPicPr>
          <p:nvPr>
            <p:ph idx="1"/>
          </p:nvPr>
        </p:nvPicPr>
        <p:blipFill>
          <a:blip r:embed="rId2"/>
          <a:srcRect/>
          <a:stretch>
            <a:fillRect/>
          </a:stretch>
        </p:blipFill>
        <p:spPr bwMode="auto">
          <a:xfrm>
            <a:off x="1295400" y="1600200"/>
            <a:ext cx="6477000" cy="4048125"/>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3" name="Picture 5"/>
          <p:cNvPicPr>
            <a:picLocks noChangeAspect="1" noChangeArrowheads="1"/>
          </p:cNvPicPr>
          <p:nvPr/>
        </p:nvPicPr>
        <p:blipFill>
          <a:blip r:embed="rId2"/>
          <a:srcRect/>
          <a:stretch>
            <a:fillRect/>
          </a:stretch>
        </p:blipFill>
        <p:spPr bwMode="auto">
          <a:xfrm>
            <a:off x="0" y="4495800"/>
            <a:ext cx="2707123" cy="2362200"/>
          </a:xfrm>
          <a:prstGeom prst="rect">
            <a:avLst/>
          </a:prstGeom>
          <a:noFill/>
          <a:ln w="9525">
            <a:noFill/>
            <a:miter lim="800000"/>
            <a:headEnd/>
            <a:tailEnd/>
          </a:ln>
          <a:effectLst/>
        </p:spPr>
      </p:pic>
      <p:pic>
        <p:nvPicPr>
          <p:cNvPr id="53250" name="Picture 2"/>
          <p:cNvPicPr>
            <a:picLocks noChangeAspect="1" noChangeArrowheads="1"/>
          </p:cNvPicPr>
          <p:nvPr/>
        </p:nvPicPr>
        <p:blipFill>
          <a:blip r:embed="rId3"/>
          <a:srcRect/>
          <a:stretch>
            <a:fillRect/>
          </a:stretch>
        </p:blipFill>
        <p:spPr bwMode="auto">
          <a:xfrm>
            <a:off x="5576888" y="2971800"/>
            <a:ext cx="3567112" cy="3582198"/>
          </a:xfrm>
          <a:prstGeom prst="rect">
            <a:avLst/>
          </a:prstGeom>
          <a:noFill/>
          <a:ln w="9525">
            <a:noFill/>
            <a:miter lim="800000"/>
            <a:headEnd/>
            <a:tailEnd/>
          </a:ln>
          <a:effectLst/>
        </p:spPr>
      </p:pic>
      <p:sp>
        <p:nvSpPr>
          <p:cNvPr id="2" name="Title 1"/>
          <p:cNvSpPr>
            <a:spLocks noGrp="1"/>
          </p:cNvSpPr>
          <p:nvPr>
            <p:ph type="title"/>
          </p:nvPr>
        </p:nvSpPr>
        <p:spPr>
          <a:xfrm>
            <a:off x="457200" y="274638"/>
            <a:ext cx="8229600" cy="563562"/>
          </a:xfrm>
        </p:spPr>
        <p:txBody>
          <a:bodyPr>
            <a:normAutofit fontScale="90000"/>
          </a:bodyPr>
          <a:lstStyle/>
          <a:p>
            <a:r>
              <a:rPr lang="en-US" dirty="0">
                <a:solidFill>
                  <a:srgbClr val="FF0000"/>
                </a:solidFill>
              </a:rPr>
              <a:t>3D Environments</a:t>
            </a:r>
            <a:endParaRPr lang="en-US" dirty="0"/>
          </a:p>
        </p:txBody>
      </p:sp>
      <p:sp>
        <p:nvSpPr>
          <p:cNvPr id="3" name="Content Placeholder 2"/>
          <p:cNvSpPr>
            <a:spLocks noGrp="1"/>
          </p:cNvSpPr>
          <p:nvPr>
            <p:ph idx="1"/>
          </p:nvPr>
        </p:nvSpPr>
        <p:spPr>
          <a:xfrm>
            <a:off x="457200" y="1066800"/>
            <a:ext cx="8229600" cy="5562600"/>
          </a:xfrm>
        </p:spPr>
        <p:txBody>
          <a:bodyPr>
            <a:normAutofit/>
          </a:bodyPr>
          <a:lstStyle/>
          <a:p>
            <a:r>
              <a:rPr lang="en-US" dirty="0"/>
              <a:t>3D interaction is natural in the real-world</a:t>
            </a:r>
          </a:p>
          <a:p>
            <a:r>
              <a:rPr lang="en-US" dirty="0"/>
              <a:t>3D environments are common in digital games</a:t>
            </a:r>
          </a:p>
          <a:p>
            <a:r>
              <a:rPr lang="en-US" dirty="0"/>
              <a:t>Rich graphical 3D environment are processor intensive</a:t>
            </a:r>
          </a:p>
          <a:p>
            <a:r>
              <a:rPr lang="en-US" dirty="0"/>
              <a:t>3D Navigation</a:t>
            </a:r>
          </a:p>
          <a:p>
            <a:pPr lvl="1"/>
            <a:r>
              <a:rPr lang="en-US" dirty="0"/>
              <a:t>Involves two types of movement</a:t>
            </a:r>
          </a:p>
          <a:p>
            <a:pPr lvl="2"/>
            <a:r>
              <a:rPr lang="en-US" dirty="0"/>
              <a:t>Translation – movement on a plane</a:t>
            </a:r>
          </a:p>
          <a:p>
            <a:pPr lvl="2"/>
            <a:r>
              <a:rPr lang="en-US" dirty="0"/>
              <a:t>Rotation – movement around an axis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lstStyle/>
          <a:p>
            <a:r>
              <a:rPr lang="en-US" dirty="0">
                <a:solidFill>
                  <a:srgbClr val="FF0000"/>
                </a:solidFill>
              </a:rPr>
              <a:t>3D Environments</a:t>
            </a:r>
            <a:endParaRPr lang="en-US" dirty="0"/>
          </a:p>
        </p:txBody>
      </p:sp>
      <p:sp>
        <p:nvSpPr>
          <p:cNvPr id="3" name="Content Placeholder 2"/>
          <p:cNvSpPr>
            <a:spLocks noGrp="1"/>
          </p:cNvSpPr>
          <p:nvPr>
            <p:ph idx="1"/>
          </p:nvPr>
        </p:nvSpPr>
        <p:spPr>
          <a:xfrm>
            <a:off x="457200" y="1143000"/>
            <a:ext cx="8229600" cy="5715000"/>
          </a:xfrm>
        </p:spPr>
        <p:txBody>
          <a:bodyPr>
            <a:normAutofit fontScale="92500" lnSpcReduction="20000"/>
          </a:bodyPr>
          <a:lstStyle/>
          <a:p>
            <a:r>
              <a:rPr lang="en-US" dirty="0"/>
              <a:t>Desktop 3D</a:t>
            </a:r>
          </a:p>
          <a:p>
            <a:pPr lvl="1"/>
            <a:r>
              <a:rPr lang="en-US" dirty="0"/>
              <a:t>Current GUIs are predominantly 2D</a:t>
            </a:r>
          </a:p>
          <a:p>
            <a:pPr lvl="1"/>
            <a:r>
              <a:rPr lang="en-US" dirty="0"/>
              <a:t>3D environments presented on 2D screens are difficult to navigate</a:t>
            </a:r>
          </a:p>
          <a:p>
            <a:r>
              <a:rPr lang="en-US" dirty="0"/>
              <a:t>Web-based 3D</a:t>
            </a:r>
          </a:p>
          <a:p>
            <a:pPr lvl="1"/>
            <a:r>
              <a:rPr lang="en-US" dirty="0"/>
              <a:t>Use vector-based graphics to decrease file size</a:t>
            </a:r>
          </a:p>
          <a:p>
            <a:pPr lvl="1"/>
            <a:r>
              <a:rPr lang="en-US" dirty="0"/>
              <a:t>Virtual Reality Modeling Language (VRML)</a:t>
            </a:r>
          </a:p>
          <a:p>
            <a:pPr lvl="2"/>
            <a:r>
              <a:rPr lang="en-US" dirty="0"/>
              <a:t>Uses polygons with parameters</a:t>
            </a:r>
          </a:p>
          <a:p>
            <a:pPr lvl="3"/>
            <a:r>
              <a:rPr lang="en-US" dirty="0"/>
              <a:t>Transparency</a:t>
            </a:r>
          </a:p>
          <a:p>
            <a:pPr lvl="3"/>
            <a:r>
              <a:rPr lang="en-US" dirty="0"/>
              <a:t>Texture maps</a:t>
            </a:r>
          </a:p>
          <a:p>
            <a:pPr lvl="3"/>
            <a:r>
              <a:rPr lang="en-US" dirty="0"/>
              <a:t>shininess</a:t>
            </a:r>
          </a:p>
          <a:p>
            <a:pPr lvl="1"/>
            <a:r>
              <a:rPr lang="en-US" dirty="0"/>
              <a:t>X3-D is XML based - Web3D.org</a:t>
            </a:r>
          </a:p>
          <a:p>
            <a:pPr lvl="2"/>
            <a:r>
              <a:rPr lang="en-US" dirty="0"/>
              <a:t>Offers greater flexibility and control</a:t>
            </a:r>
          </a:p>
          <a:p>
            <a:pPr lvl="2">
              <a:buNone/>
            </a:pPr>
            <a:r>
              <a:rPr lang="en-US" dirty="0">
                <a:solidFill>
                  <a:srgbClr val="FF0000"/>
                </a:solidFill>
              </a:rPr>
              <a:t>Three-dimensional navigation can quickly become difficult and confusing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Zoomable</a:t>
            </a:r>
            <a:r>
              <a:rPr lang="en-US" dirty="0"/>
              <a:t> Interface</a:t>
            </a:r>
          </a:p>
        </p:txBody>
      </p:sp>
      <p:pic>
        <p:nvPicPr>
          <p:cNvPr id="54276" name="Picture 4" descr="Image result for interface google map search"/>
          <p:cNvPicPr>
            <a:picLocks noChangeAspect="1" noChangeArrowheads="1"/>
          </p:cNvPicPr>
          <p:nvPr/>
        </p:nvPicPr>
        <p:blipFill>
          <a:blip r:embed="rId2"/>
          <a:srcRect/>
          <a:stretch>
            <a:fillRect/>
          </a:stretch>
        </p:blipFill>
        <p:spPr bwMode="auto">
          <a:xfrm>
            <a:off x="533400" y="1828800"/>
            <a:ext cx="8210282" cy="38862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2"/>
          <a:srcRect/>
          <a:stretch>
            <a:fillRect/>
          </a:stretch>
        </p:blipFill>
        <p:spPr bwMode="auto">
          <a:xfrm>
            <a:off x="4343400" y="3429000"/>
            <a:ext cx="4267200" cy="2085975"/>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err="1"/>
              <a:t>Zoomable</a:t>
            </a:r>
            <a:r>
              <a:rPr lang="en-US" dirty="0"/>
              <a:t> Interface</a:t>
            </a:r>
          </a:p>
        </p:txBody>
      </p:sp>
      <p:sp>
        <p:nvSpPr>
          <p:cNvPr id="3" name="Content Placeholder 2"/>
          <p:cNvSpPr>
            <a:spLocks noGrp="1"/>
          </p:cNvSpPr>
          <p:nvPr>
            <p:ph idx="1"/>
          </p:nvPr>
        </p:nvSpPr>
        <p:spPr>
          <a:xfrm>
            <a:off x="457200" y="1295400"/>
            <a:ext cx="8229600" cy="5257800"/>
          </a:xfrm>
        </p:spPr>
        <p:txBody>
          <a:bodyPr>
            <a:normAutofit fontScale="92500" lnSpcReduction="10000"/>
          </a:bodyPr>
          <a:lstStyle/>
          <a:p>
            <a:r>
              <a:rPr lang="en-US" dirty="0" err="1"/>
              <a:t>ZoomWorld</a:t>
            </a:r>
            <a:r>
              <a:rPr lang="en-US" dirty="0"/>
              <a:t> (Jeff </a:t>
            </a:r>
            <a:r>
              <a:rPr lang="en-US" dirty="0" err="1"/>
              <a:t>Raskin</a:t>
            </a:r>
            <a:r>
              <a:rPr lang="en-US" dirty="0"/>
              <a:t> - </a:t>
            </a:r>
            <a:r>
              <a:rPr lang="en-US" sz="1600" dirty="0"/>
              <a:t>human–computer interface expert best known for conceiving and starting the Macintosh project at Apple in the late 1970s</a:t>
            </a:r>
            <a:r>
              <a:rPr lang="en-US" dirty="0"/>
              <a:t>) is based on the zooming interface paradigm (ZIP)</a:t>
            </a:r>
          </a:p>
          <a:p>
            <a:r>
              <a:rPr lang="en-US" dirty="0"/>
              <a:t>ZIP is based on landmarks and relative positioning (organizational cues)</a:t>
            </a:r>
          </a:p>
          <a:p>
            <a:pPr lvl="1"/>
            <a:r>
              <a:rPr lang="en-US" dirty="0"/>
              <a:t>Proportion</a:t>
            </a:r>
          </a:p>
          <a:p>
            <a:pPr lvl="1"/>
            <a:r>
              <a:rPr lang="en-US" dirty="0"/>
              <a:t>Color</a:t>
            </a:r>
          </a:p>
          <a:p>
            <a:pPr lvl="1"/>
            <a:r>
              <a:rPr lang="en-US" dirty="0"/>
              <a:t>Patterns</a:t>
            </a:r>
          </a:p>
          <a:p>
            <a:pPr lvl="1"/>
            <a:r>
              <a:rPr lang="en-US" dirty="0"/>
              <a:t>Proximity</a:t>
            </a:r>
          </a:p>
          <a:p>
            <a:endParaRPr lang="en-US" dirty="0"/>
          </a:p>
          <a:p>
            <a:r>
              <a:rPr lang="en-US" dirty="0"/>
              <a:t>Pad++: </a:t>
            </a:r>
            <a:r>
              <a:rPr lang="en-US" dirty="0" err="1"/>
              <a:t>Zoomable</a:t>
            </a:r>
            <a:r>
              <a:rPr lang="en-US" dirty="0"/>
              <a:t> User Interface (ZUI) </a:t>
            </a:r>
            <a:r>
              <a:rPr lang="en-US" sz="1900" dirty="0"/>
              <a:t>(http://www.cs.umd.edu/hcil/pad++/)</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Principle 2: Use the Eight Golden Rules of Interface Design</a:t>
            </a:r>
            <a:endParaRPr lang="en-US"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a:t>Strive for consistency</a:t>
            </a:r>
          </a:p>
          <a:p>
            <a:pPr marL="514350" indent="-514350">
              <a:buFont typeface="+mj-lt"/>
              <a:buAutoNum type="arabicPeriod"/>
            </a:pPr>
            <a:r>
              <a:rPr lang="en-US" dirty="0"/>
              <a:t>Enable frequent users to use shortcuts</a:t>
            </a:r>
          </a:p>
          <a:p>
            <a:pPr marL="514350" indent="-514350">
              <a:buFont typeface="+mj-lt"/>
              <a:buAutoNum type="arabicPeriod"/>
            </a:pPr>
            <a:r>
              <a:rPr lang="en-US" dirty="0"/>
              <a:t>Offer informative feedback</a:t>
            </a:r>
          </a:p>
          <a:p>
            <a:pPr marL="514350" indent="-514350">
              <a:buFont typeface="+mj-lt"/>
              <a:buAutoNum type="arabicPeriod"/>
            </a:pPr>
            <a:r>
              <a:rPr lang="en-US" dirty="0"/>
              <a:t>Design dialogs to yield closure</a:t>
            </a:r>
          </a:p>
          <a:p>
            <a:pPr marL="514350" indent="-514350">
              <a:buFont typeface="+mj-lt"/>
              <a:buAutoNum type="arabicPeriod"/>
            </a:pPr>
            <a:r>
              <a:rPr lang="en-US" dirty="0"/>
              <a:t>Prevent errors</a:t>
            </a:r>
          </a:p>
          <a:p>
            <a:pPr marL="514350" indent="-514350">
              <a:buFont typeface="+mj-lt"/>
              <a:buAutoNum type="arabicPeriod"/>
            </a:pPr>
            <a:r>
              <a:rPr lang="en-US" dirty="0"/>
              <a:t>Permit easy reversal of actions</a:t>
            </a:r>
          </a:p>
          <a:p>
            <a:pPr marL="514350" indent="-514350">
              <a:buFont typeface="+mj-lt"/>
              <a:buAutoNum type="arabicPeriod"/>
            </a:pPr>
            <a:r>
              <a:rPr lang="en-US" dirty="0"/>
              <a:t>Support internal locus of control</a:t>
            </a:r>
          </a:p>
          <a:p>
            <a:pPr marL="514350" indent="-514350">
              <a:buFont typeface="+mj-lt"/>
              <a:buAutoNum type="arabicPeriod"/>
            </a:pPr>
            <a:r>
              <a:rPr lang="en-US" dirty="0"/>
              <a:t>Reduce short-term memory load</a:t>
            </a:r>
          </a:p>
          <a:p>
            <a:pPr marL="514350" indent="-514350">
              <a:buFont typeface="+mj-lt"/>
              <a:buAutoNum type="arabicPeriod"/>
            </a:pPr>
            <a:endParaRPr lang="en-US" dirty="0"/>
          </a:p>
        </p:txBody>
      </p:sp>
    </p:spTree>
    <p:extLst>
      <p:ext uri="{BB962C8B-B14F-4D97-AF65-F5344CB8AC3E}">
        <p14:creationId xmlns:p14="http://schemas.microsoft.com/office/powerpoint/2010/main" val="503257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a:bodyPr>
          <a:lstStyle/>
          <a:p>
            <a:pPr marL="514350" indent="-514350"/>
            <a:r>
              <a:rPr lang="en-US" dirty="0"/>
              <a:t>Strive for consistency</a:t>
            </a:r>
          </a:p>
        </p:txBody>
      </p:sp>
      <p:sp>
        <p:nvSpPr>
          <p:cNvPr id="3" name="Content Placeholder 2"/>
          <p:cNvSpPr>
            <a:spLocks noGrp="1"/>
          </p:cNvSpPr>
          <p:nvPr>
            <p:ph idx="1"/>
          </p:nvPr>
        </p:nvSpPr>
        <p:spPr/>
        <p:txBody>
          <a:bodyPr>
            <a:normAutofit fontScale="77500" lnSpcReduction="20000"/>
          </a:bodyPr>
          <a:lstStyle/>
          <a:p>
            <a:r>
              <a:rPr lang="en-US" dirty="0"/>
              <a:t>Consistent sequences of actions should be required in similar situations</a:t>
            </a:r>
          </a:p>
          <a:p>
            <a:r>
              <a:rPr lang="en-US" dirty="0"/>
              <a:t>identical terminology should be used in prompts, menus, and help screens and</a:t>
            </a:r>
          </a:p>
          <a:p>
            <a:r>
              <a:rPr lang="en-US" dirty="0"/>
              <a:t> consistent color, layout, capitalization, fonts, and so on should be employed throughout </a:t>
            </a:r>
          </a:p>
          <a:p>
            <a:r>
              <a:rPr lang="en-US" dirty="0"/>
              <a:t>no echoing of passwords or confirmation of the delete command, should be comprehensible employed throughout.</a:t>
            </a:r>
          </a:p>
          <a:p>
            <a:pPr lvl="1"/>
            <a:r>
              <a:rPr lang="en-US" dirty="0" err="1"/>
              <a:t>Colour</a:t>
            </a:r>
            <a:r>
              <a:rPr lang="en-US" dirty="0"/>
              <a:t> consistency</a:t>
            </a:r>
          </a:p>
          <a:p>
            <a:pPr lvl="1"/>
            <a:r>
              <a:rPr lang="en-US" dirty="0"/>
              <a:t>Font consistency</a:t>
            </a:r>
          </a:p>
          <a:p>
            <a:pPr lvl="1"/>
            <a:r>
              <a:rPr lang="en-US" dirty="0"/>
              <a:t>Positional consistency</a:t>
            </a:r>
          </a:p>
          <a:p>
            <a:pPr lvl="1"/>
            <a:r>
              <a:rPr lang="en-US" dirty="0"/>
              <a:t>Graphical consistency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4472854"/>
            <a:ext cx="4898836" cy="152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6166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111356"/>
            <a:ext cx="4572000" cy="2575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0"/>
            <a:ext cx="8229600" cy="1143000"/>
          </a:xfrm>
        </p:spPr>
        <p:txBody>
          <a:bodyPr>
            <a:normAutofit fontScale="90000"/>
          </a:bodyPr>
          <a:lstStyle/>
          <a:p>
            <a:r>
              <a:rPr lang="en-US" dirty="0"/>
              <a:t>Enable frequent users to use shortcuts</a:t>
            </a:r>
          </a:p>
        </p:txBody>
      </p:sp>
      <p:sp>
        <p:nvSpPr>
          <p:cNvPr id="3" name="Content Placeholder 2"/>
          <p:cNvSpPr>
            <a:spLocks noGrp="1"/>
          </p:cNvSpPr>
          <p:nvPr>
            <p:ph idx="1"/>
          </p:nvPr>
        </p:nvSpPr>
        <p:spPr>
          <a:xfrm>
            <a:off x="457200" y="1143000"/>
            <a:ext cx="8229600" cy="4525963"/>
          </a:xfrm>
        </p:spPr>
        <p:txBody>
          <a:bodyPr/>
          <a:lstStyle/>
          <a:p>
            <a:r>
              <a:rPr lang="en-US" dirty="0"/>
              <a:t>To reduce the number of interactions and to increase the pace of interaction</a:t>
            </a:r>
          </a:p>
          <a:p>
            <a:r>
              <a:rPr lang="en-US" dirty="0"/>
              <a:t>Abbreviations, special keys, macro facilities, and menu shortcuts are appreciated by frequent knowledgeable users</a:t>
            </a:r>
          </a:p>
          <a:p>
            <a:r>
              <a:rPr lang="en-US" dirty="0"/>
              <a:t>Short response times and fast display rates are other attractions for frequent users</a:t>
            </a:r>
          </a:p>
          <a:p>
            <a:endParaRPr lang="en-US" dirty="0"/>
          </a:p>
        </p:txBody>
      </p:sp>
    </p:spTree>
    <p:extLst>
      <p:ext uri="{BB962C8B-B14F-4D97-AF65-F5344CB8AC3E}">
        <p14:creationId xmlns:p14="http://schemas.microsoft.com/office/powerpoint/2010/main" val="3682908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14350" indent="-514350"/>
            <a:r>
              <a:rPr lang="en-US" dirty="0"/>
              <a:t>Offer informative feedback</a:t>
            </a:r>
          </a:p>
        </p:txBody>
      </p:sp>
      <p:sp>
        <p:nvSpPr>
          <p:cNvPr id="3" name="Content Placeholder 2"/>
          <p:cNvSpPr>
            <a:spLocks noGrp="1"/>
          </p:cNvSpPr>
          <p:nvPr>
            <p:ph idx="1"/>
          </p:nvPr>
        </p:nvSpPr>
        <p:spPr/>
        <p:txBody>
          <a:bodyPr/>
          <a:lstStyle/>
          <a:p>
            <a:r>
              <a:rPr lang="en-US" dirty="0"/>
              <a:t>For every user action, there should be system feedback. </a:t>
            </a:r>
          </a:p>
          <a:p>
            <a:r>
              <a:rPr lang="en-US" dirty="0"/>
              <a:t>For frequent and minor actions, the response can be modest, whereas for infrequent and major actions, the response should be more substantial.</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5007768"/>
            <a:ext cx="432435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8461" y="4538662"/>
            <a:ext cx="3180180" cy="231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1728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14800"/>
            <a:ext cx="4181475"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500" y="4403148"/>
            <a:ext cx="47625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304800"/>
            <a:ext cx="8229600" cy="1143000"/>
          </a:xfrm>
        </p:spPr>
        <p:txBody>
          <a:bodyPr/>
          <a:lstStyle/>
          <a:p>
            <a:r>
              <a:rPr lang="en-US" dirty="0"/>
              <a:t>Design dialogs to yield closure</a:t>
            </a:r>
          </a:p>
        </p:txBody>
      </p:sp>
      <p:sp>
        <p:nvSpPr>
          <p:cNvPr id="3" name="Content Placeholder 2"/>
          <p:cNvSpPr>
            <a:spLocks noGrp="1"/>
          </p:cNvSpPr>
          <p:nvPr>
            <p:ph idx="1"/>
          </p:nvPr>
        </p:nvSpPr>
        <p:spPr>
          <a:xfrm>
            <a:off x="152400" y="609600"/>
            <a:ext cx="8610600" cy="3564947"/>
          </a:xfrm>
        </p:spPr>
        <p:txBody>
          <a:bodyPr>
            <a:normAutofit fontScale="85000" lnSpcReduction="20000"/>
          </a:bodyPr>
          <a:lstStyle/>
          <a:p>
            <a:r>
              <a:rPr lang="en-US" dirty="0"/>
              <a:t>Sequences of actions should be organized into groups with a beginning, middle, and end. </a:t>
            </a:r>
          </a:p>
          <a:p>
            <a:r>
              <a:rPr lang="en-US" dirty="0"/>
              <a:t>Informative feedback at the completion of a group of actions gives operators the satisfaction of accomplishment, a sense of relief, the signal to drop contingency plans from their minds, and a signal to prepare for the next group of actions. </a:t>
            </a:r>
          </a:p>
          <a:p>
            <a:r>
              <a:rPr lang="en-US" dirty="0"/>
              <a:t>For example, checkout sequences for e-commerce Web sites move users toward completion of their purchases, ending with a clear confirmation page</a:t>
            </a:r>
          </a:p>
        </p:txBody>
      </p:sp>
    </p:spTree>
    <p:extLst>
      <p:ext uri="{BB962C8B-B14F-4D97-AF65-F5344CB8AC3E}">
        <p14:creationId xmlns:p14="http://schemas.microsoft.com/office/powerpoint/2010/main" val="34138848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9464" y="2590800"/>
            <a:ext cx="41148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4636" y="0"/>
            <a:ext cx="4682836" cy="838200"/>
          </a:xfrm>
        </p:spPr>
        <p:txBody>
          <a:bodyPr/>
          <a:lstStyle/>
          <a:p>
            <a:pPr algn="l"/>
            <a:r>
              <a:rPr lang="en-US" dirty="0"/>
              <a:t>Prevent errors</a:t>
            </a:r>
          </a:p>
        </p:txBody>
      </p:sp>
      <p:sp>
        <p:nvSpPr>
          <p:cNvPr id="3" name="Content Placeholder 2"/>
          <p:cNvSpPr>
            <a:spLocks noGrp="1"/>
          </p:cNvSpPr>
          <p:nvPr>
            <p:ph idx="1"/>
          </p:nvPr>
        </p:nvSpPr>
        <p:spPr>
          <a:xfrm>
            <a:off x="152400" y="838200"/>
            <a:ext cx="4917064" cy="5867400"/>
          </a:xfrm>
        </p:spPr>
        <p:txBody>
          <a:bodyPr>
            <a:normAutofit fontScale="77500" lnSpcReduction="20000"/>
          </a:bodyPr>
          <a:lstStyle/>
          <a:p>
            <a:r>
              <a:rPr lang="en-US" dirty="0"/>
              <a:t>As much as possible, design the system such that users cannot make a serious error</a:t>
            </a:r>
          </a:p>
          <a:p>
            <a:r>
              <a:rPr lang="en-US" dirty="0"/>
              <a:t>If users make an error, the system should detect the error and offer simple, constructive, and specific instructions for recovery. For example, users should not have to retype an entire name-address form if they enter an invalid zip code, but rather should be guided to repair only the faulty part.</a:t>
            </a:r>
          </a:p>
          <a:p>
            <a:r>
              <a:rPr lang="en-US" dirty="0"/>
              <a:t>Erroneous actions should leave the system state unchanged, or the system should give instructions about restoring the state.</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389" y="152400"/>
            <a:ext cx="37909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464" y="4726143"/>
            <a:ext cx="4084061" cy="2097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2141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Permit easy reversal of actions</a:t>
            </a:r>
          </a:p>
        </p:txBody>
      </p:sp>
      <p:sp>
        <p:nvSpPr>
          <p:cNvPr id="3" name="Content Placeholder 2"/>
          <p:cNvSpPr>
            <a:spLocks noGrp="1"/>
          </p:cNvSpPr>
          <p:nvPr>
            <p:ph idx="1"/>
          </p:nvPr>
        </p:nvSpPr>
        <p:spPr>
          <a:xfrm>
            <a:off x="457200" y="1600200"/>
            <a:ext cx="4895850" cy="4525963"/>
          </a:xfrm>
        </p:spPr>
        <p:txBody>
          <a:bodyPr>
            <a:normAutofit fontScale="85000" lnSpcReduction="20000"/>
          </a:bodyPr>
          <a:lstStyle/>
          <a:p>
            <a:r>
              <a:rPr lang="en-US" dirty="0"/>
              <a:t>As much as possible, actions should be reversible. This feature relieves anxiety, since the user knows that errors can be undone, thus encouraging exploration of unfamiliar options.</a:t>
            </a:r>
          </a:p>
          <a:p>
            <a:r>
              <a:rPr lang="en-US" dirty="0"/>
              <a:t>The units of reversibility may be a single action, a data-entry task, or a complete group of actions, such as entry of a name and address block.</a:t>
            </a:r>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243013"/>
            <a:ext cx="3657600" cy="180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4313" y="3429000"/>
            <a:ext cx="3679687"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5758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Support internal locus of control</a:t>
            </a:r>
          </a:p>
        </p:txBody>
      </p:sp>
      <p:sp>
        <p:nvSpPr>
          <p:cNvPr id="3" name="Content Placeholder 2"/>
          <p:cNvSpPr>
            <a:spLocks noGrp="1"/>
          </p:cNvSpPr>
          <p:nvPr>
            <p:ph idx="1"/>
          </p:nvPr>
        </p:nvSpPr>
        <p:spPr/>
        <p:txBody>
          <a:bodyPr>
            <a:normAutofit fontScale="92500" lnSpcReduction="10000"/>
          </a:bodyPr>
          <a:lstStyle/>
          <a:p>
            <a:r>
              <a:rPr lang="en-US" dirty="0"/>
              <a:t>Experienced operators strongly desire the sense that they are in charge of the system and that the system responds to their actions. </a:t>
            </a:r>
          </a:p>
          <a:p>
            <a:r>
              <a:rPr lang="en-US" dirty="0"/>
              <a:t>Surprising system actions, tedious sequences of data entries, inability to obtain or difficulty in obtaining necessary information, and inability to produce the action desired all build anxiety and dissatisfaction</a:t>
            </a:r>
          </a:p>
          <a:p>
            <a:r>
              <a:rPr lang="en-US" dirty="0"/>
              <a:t>Design the system to make users the initiators of actions rather than the responders.</a:t>
            </a:r>
          </a:p>
        </p:txBody>
      </p:sp>
    </p:spTree>
    <p:extLst>
      <p:ext uri="{BB962C8B-B14F-4D97-AF65-F5344CB8AC3E}">
        <p14:creationId xmlns:p14="http://schemas.microsoft.com/office/powerpoint/2010/main" val="3274611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5702"/>
            <a:ext cx="7141459" cy="715962"/>
          </a:xfrm>
        </p:spPr>
        <p:txBody>
          <a:bodyPr>
            <a:normAutofit fontScale="90000"/>
          </a:bodyPr>
          <a:lstStyle/>
          <a:p>
            <a:r>
              <a:rPr lang="en-US" dirty="0"/>
              <a:t>Reduce short-term memory load</a:t>
            </a:r>
          </a:p>
        </p:txBody>
      </p:sp>
      <p:sp>
        <p:nvSpPr>
          <p:cNvPr id="3" name="Content Placeholder 2"/>
          <p:cNvSpPr>
            <a:spLocks noGrp="1"/>
          </p:cNvSpPr>
          <p:nvPr>
            <p:ph idx="1"/>
          </p:nvPr>
        </p:nvSpPr>
        <p:spPr>
          <a:xfrm>
            <a:off x="238414" y="1066800"/>
            <a:ext cx="8829386" cy="3124200"/>
          </a:xfrm>
        </p:spPr>
        <p:txBody>
          <a:bodyPr>
            <a:normAutofit fontScale="92500" lnSpcReduction="10000"/>
          </a:bodyPr>
          <a:lstStyle/>
          <a:p>
            <a:r>
              <a:rPr lang="en-US" dirty="0"/>
              <a:t>displays be kept simple, multiple-page displays be consolidated, window-motion frequency be reduced, and sufficient training time be allotted for codes, mnemonics, and sequences of actions.</a:t>
            </a:r>
          </a:p>
          <a:p>
            <a:r>
              <a:rPr lang="en-US" dirty="0"/>
              <a:t>Where appropriate, online access to command-syntax forms, abbreviations, codes, and other information should be provided.</a:t>
            </a:r>
          </a:p>
        </p:txBody>
      </p:sp>
      <p:sp>
        <p:nvSpPr>
          <p:cNvPr id="4" name="AutoShape 2" descr="http://ap.ign.com/sm/ign_ap/screenshot/a/apple-ios7-review/apple-ios7-review_jgfg.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3318" y="4191000"/>
            <a:ext cx="3090682" cy="253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4307837"/>
            <a:ext cx="4457700" cy="2449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4302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dirty="0"/>
              <a:t>Principle 3: Prevent Errors</a:t>
            </a:r>
          </a:p>
        </p:txBody>
      </p:sp>
      <p:sp>
        <p:nvSpPr>
          <p:cNvPr id="3" name="Content Placeholder 2"/>
          <p:cNvSpPr>
            <a:spLocks noGrp="1"/>
          </p:cNvSpPr>
          <p:nvPr>
            <p:ph idx="1"/>
          </p:nvPr>
        </p:nvSpPr>
        <p:spPr>
          <a:xfrm>
            <a:off x="457200" y="914400"/>
            <a:ext cx="8229600" cy="5257800"/>
          </a:xfrm>
        </p:spPr>
        <p:txBody>
          <a:bodyPr>
            <a:noAutofit/>
          </a:bodyPr>
          <a:lstStyle/>
          <a:p>
            <a:r>
              <a:rPr lang="en-US" sz="2350" dirty="0"/>
              <a:t>Improve the error messages provided by the computer system to reduce the loss in productivity .</a:t>
            </a:r>
          </a:p>
          <a:p>
            <a:r>
              <a:rPr lang="en-US" sz="2350" dirty="0"/>
              <a:t>Instead of  vague and hostile messages, such as “Syntax Error” or “Illegal Data,” designers can use informative messages, such as “Unmatched Left Parentheses” or “Menu Choices Are in the Range of 1 to 6.”</a:t>
            </a:r>
          </a:p>
          <a:p>
            <a:r>
              <a:rPr lang="en-US" sz="2350" dirty="0"/>
              <a:t>Important is to understand the nature of errors. One perspective is that people make mistakes or “slips” (Norman, 1983) that designers can help them to avoid by organizing screens and menus functionally, designing commands or menu choices to be distinctive, and making it difficult for users to take irreversible actions.</a:t>
            </a:r>
          </a:p>
          <a:p>
            <a:r>
              <a:rPr lang="en-US" sz="2350" dirty="0"/>
              <a:t>Correct matching pairs – Ex. { } , &lt;B&gt; .. &lt;\B&gt;</a:t>
            </a:r>
          </a:p>
          <a:p>
            <a:r>
              <a:rPr lang="en-US" sz="2350" dirty="0"/>
              <a:t>Complete sequences </a:t>
            </a:r>
          </a:p>
          <a:p>
            <a:r>
              <a:rPr lang="en-US" sz="2350" dirty="0"/>
              <a:t>Correct commands</a:t>
            </a:r>
          </a:p>
        </p:txBody>
      </p:sp>
    </p:spTree>
    <p:extLst>
      <p:ext uri="{BB962C8B-B14F-4D97-AF65-F5344CB8AC3E}">
        <p14:creationId xmlns:p14="http://schemas.microsoft.com/office/powerpoint/2010/main" val="27115183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 for Data Display</a:t>
            </a:r>
          </a:p>
        </p:txBody>
      </p:sp>
      <p:sp>
        <p:nvSpPr>
          <p:cNvPr id="3" name="Content Placeholder 2"/>
          <p:cNvSpPr>
            <a:spLocks noGrp="1"/>
          </p:cNvSpPr>
          <p:nvPr>
            <p:ph idx="1"/>
          </p:nvPr>
        </p:nvSpPr>
        <p:spPr>
          <a:xfrm>
            <a:off x="457200" y="1600200"/>
            <a:ext cx="8229600" cy="5181600"/>
          </a:xfrm>
        </p:spPr>
        <p:txBody>
          <a:bodyPr>
            <a:normAutofit fontScale="77500" lnSpcReduction="20000"/>
          </a:bodyPr>
          <a:lstStyle/>
          <a:p>
            <a:r>
              <a:rPr lang="en-US" dirty="0">
                <a:solidFill>
                  <a:srgbClr val="FF0000"/>
                </a:solidFill>
              </a:rPr>
              <a:t>Organizing the display</a:t>
            </a:r>
          </a:p>
          <a:p>
            <a:pPr lvl="1"/>
            <a:r>
              <a:rPr lang="en-US" dirty="0"/>
              <a:t>Consistency of data display</a:t>
            </a:r>
          </a:p>
          <a:p>
            <a:pPr lvl="2"/>
            <a:r>
              <a:rPr lang="en-US" dirty="0"/>
              <a:t>the terminology, abbreviations, formats, colors, capitalization, and so on should all be standardized and controlled by use of a written dictionary</a:t>
            </a:r>
          </a:p>
          <a:p>
            <a:pPr lvl="1"/>
            <a:r>
              <a:rPr lang="en-US" dirty="0"/>
              <a:t>Efficient information assimilation by the user</a:t>
            </a:r>
          </a:p>
          <a:p>
            <a:pPr lvl="2"/>
            <a:r>
              <a:rPr lang="en-US" dirty="0"/>
              <a:t>rules for neat columns of data, left justification for alphanumeric data, right justification of integers, lining up of decimal points, proper spacing, use of comprehensible labels, and appropriate measurement units and numbers of decimal digits</a:t>
            </a:r>
          </a:p>
          <a:p>
            <a:pPr lvl="1"/>
            <a:r>
              <a:rPr lang="en-US" dirty="0"/>
              <a:t>Minimal memory load on user</a:t>
            </a:r>
          </a:p>
          <a:p>
            <a:pPr lvl="2"/>
            <a:r>
              <a:rPr lang="en-US" dirty="0"/>
              <a:t>minimizing the chance of forgetting to perform a step</a:t>
            </a:r>
          </a:p>
          <a:p>
            <a:pPr lvl="1"/>
            <a:r>
              <a:rPr lang="en-US" dirty="0"/>
              <a:t>Compatibility of data display with data entry</a:t>
            </a:r>
          </a:p>
          <a:p>
            <a:pPr lvl="2"/>
            <a:r>
              <a:rPr lang="en-US" dirty="0"/>
              <a:t>The format of displayed information should be linked clearly to the format of the data entry</a:t>
            </a:r>
          </a:p>
          <a:p>
            <a:pPr lvl="1"/>
            <a:r>
              <a:rPr lang="en-US" dirty="0"/>
              <a:t>Flexibility for user control of data display</a:t>
            </a:r>
          </a:p>
          <a:p>
            <a:pPr lvl="2"/>
            <a:r>
              <a:rPr lang="en-US" dirty="0"/>
              <a:t>the order of columns and sorting of rows should be easily changeable by users</a:t>
            </a:r>
          </a:p>
        </p:txBody>
      </p:sp>
    </p:spTree>
    <p:extLst>
      <p:ext uri="{BB962C8B-B14F-4D97-AF65-F5344CB8AC3E}">
        <p14:creationId xmlns:p14="http://schemas.microsoft.com/office/powerpoint/2010/main" val="4072278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dirty="0"/>
              <a:t>Cont..</a:t>
            </a:r>
          </a:p>
        </p:txBody>
      </p:sp>
      <p:sp>
        <p:nvSpPr>
          <p:cNvPr id="3" name="Content Placeholder 2"/>
          <p:cNvSpPr>
            <a:spLocks noGrp="1"/>
          </p:cNvSpPr>
          <p:nvPr>
            <p:ph idx="1"/>
          </p:nvPr>
        </p:nvSpPr>
        <p:spPr>
          <a:xfrm>
            <a:off x="457200" y="1066800"/>
            <a:ext cx="8229600" cy="5791200"/>
          </a:xfrm>
        </p:spPr>
        <p:txBody>
          <a:bodyPr>
            <a:normAutofit fontScale="77500" lnSpcReduction="20000"/>
          </a:bodyPr>
          <a:lstStyle/>
          <a:p>
            <a:r>
              <a:rPr lang="en-US" dirty="0">
                <a:solidFill>
                  <a:srgbClr val="FF0000"/>
                </a:solidFill>
              </a:rPr>
              <a:t>Getting the user’s attention</a:t>
            </a:r>
          </a:p>
          <a:p>
            <a:pPr lvl="1"/>
            <a:r>
              <a:rPr lang="en-US" dirty="0"/>
              <a:t>Intensity. Use two levels only, with limited use of high intensity to draw attention.</a:t>
            </a:r>
          </a:p>
          <a:p>
            <a:pPr lvl="1"/>
            <a:r>
              <a:rPr lang="en-US" dirty="0"/>
              <a:t>Marking. Underline the item, enclose it in a box, point to it with an arrow, or use an indicator such as an asterisk, bullet, dash, plus sign, or X.</a:t>
            </a:r>
          </a:p>
          <a:p>
            <a:pPr lvl="1"/>
            <a:r>
              <a:rPr lang="en-US" dirty="0"/>
              <a:t>Size. Use up to four sizes, with larger sizes attracting more attention.</a:t>
            </a:r>
          </a:p>
          <a:p>
            <a:pPr lvl="1"/>
            <a:r>
              <a:rPr lang="en-US" dirty="0"/>
              <a:t>Choice of fonts. Use up to three fonts.</a:t>
            </a:r>
          </a:p>
          <a:p>
            <a:pPr lvl="1"/>
            <a:r>
              <a:rPr lang="en-US" dirty="0"/>
              <a:t>Inverse video. Use inverse coloring.</a:t>
            </a:r>
          </a:p>
          <a:p>
            <a:pPr lvl="1"/>
            <a:r>
              <a:rPr lang="en-US" dirty="0"/>
              <a:t>Blinking. Use blinking displays (2–4 Hz) with great care and in limited areas.</a:t>
            </a:r>
          </a:p>
          <a:p>
            <a:pPr lvl="1"/>
            <a:r>
              <a:rPr lang="en-US" dirty="0"/>
              <a:t>Color. Use up to four standard colors, with additional colors reserved for occasional use.</a:t>
            </a:r>
          </a:p>
          <a:p>
            <a:pPr lvl="1"/>
            <a:r>
              <a:rPr lang="en-US" dirty="0"/>
              <a:t>Color blinking. Use changes in color (blinking from one color to another) with great care and in limited areas.</a:t>
            </a:r>
          </a:p>
          <a:p>
            <a:pPr lvl="1"/>
            <a:r>
              <a:rPr lang="en-US" dirty="0"/>
              <a:t>Audio. Use soft tones for regular positive feedback and harsh sounds for rare emergency conditions.</a:t>
            </a:r>
          </a:p>
        </p:txBody>
      </p:sp>
    </p:spTree>
    <p:extLst>
      <p:ext uri="{BB962C8B-B14F-4D97-AF65-F5344CB8AC3E}">
        <p14:creationId xmlns:p14="http://schemas.microsoft.com/office/powerpoint/2010/main" val="1905621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 for Data Entry</a:t>
            </a:r>
          </a:p>
        </p:txBody>
      </p:sp>
      <p:sp>
        <p:nvSpPr>
          <p:cNvPr id="3" name="Content Placeholder 2"/>
          <p:cNvSpPr>
            <a:spLocks noGrp="1"/>
          </p:cNvSpPr>
          <p:nvPr>
            <p:ph idx="1"/>
          </p:nvPr>
        </p:nvSpPr>
        <p:spPr>
          <a:xfrm>
            <a:off x="457200" y="1600200"/>
            <a:ext cx="8229600" cy="5257800"/>
          </a:xfrm>
        </p:spPr>
        <p:txBody>
          <a:bodyPr>
            <a:normAutofit fontScale="62500" lnSpcReduction="20000"/>
          </a:bodyPr>
          <a:lstStyle/>
          <a:p>
            <a:r>
              <a:rPr lang="en-US" dirty="0"/>
              <a:t>Five high-level objectives for data entry:</a:t>
            </a:r>
          </a:p>
          <a:p>
            <a:pPr marL="514350" indent="-514350">
              <a:buFont typeface="+mj-lt"/>
              <a:buAutoNum type="arabicPeriod"/>
            </a:pPr>
            <a:r>
              <a:rPr lang="en-US" dirty="0"/>
              <a:t>Consistency of data-entry transactions</a:t>
            </a:r>
          </a:p>
          <a:p>
            <a:pPr marL="914400" lvl="1" indent="-514350"/>
            <a:r>
              <a:rPr lang="en-US" dirty="0"/>
              <a:t>Similar sequences of actions should be used under all conditions</a:t>
            </a:r>
          </a:p>
          <a:p>
            <a:pPr marL="514350" indent="-514350">
              <a:buFont typeface="+mj-lt"/>
              <a:buAutoNum type="arabicPeriod"/>
            </a:pPr>
            <a:r>
              <a:rPr lang="en-US" dirty="0"/>
              <a:t>Minimal input actions by user</a:t>
            </a:r>
          </a:p>
          <a:p>
            <a:pPr marL="914400" lvl="1" indent="-514350"/>
            <a:r>
              <a:rPr lang="en-US" dirty="0"/>
              <a:t>greater operator productivity and fewer chances for error</a:t>
            </a:r>
          </a:p>
          <a:p>
            <a:pPr marL="914400" lvl="1" indent="-514350"/>
            <a:r>
              <a:rPr lang="en-US" dirty="0"/>
              <a:t>Making a choice by a single keystroke, mouse selection, or finger press</a:t>
            </a:r>
          </a:p>
          <a:p>
            <a:pPr marL="514350" indent="-514350">
              <a:buFont typeface="+mj-lt"/>
              <a:buAutoNum type="arabicPeriod"/>
            </a:pPr>
            <a:r>
              <a:rPr lang="en-US" dirty="0"/>
              <a:t>Minimal memory load on users</a:t>
            </a:r>
          </a:p>
          <a:p>
            <a:pPr marL="914400" lvl="1" indent="-514350"/>
            <a:r>
              <a:rPr lang="en-US" dirty="0"/>
              <a:t>During data entry, users should not be required to remember lengthy lists of codes and complex syntactic command strings.</a:t>
            </a:r>
          </a:p>
          <a:p>
            <a:pPr marL="514350" indent="-514350">
              <a:buFont typeface="+mj-lt"/>
              <a:buAutoNum type="arabicPeriod"/>
            </a:pPr>
            <a:r>
              <a:rPr lang="en-US" dirty="0"/>
              <a:t>Compatibility of data entry with data display</a:t>
            </a:r>
          </a:p>
          <a:p>
            <a:pPr marL="914400" lvl="1" indent="-514350"/>
            <a:r>
              <a:rPr lang="en-US" dirty="0"/>
              <a:t>format of data-entry information should be linked closely to the format of displayed information</a:t>
            </a:r>
          </a:p>
          <a:p>
            <a:pPr marL="514350" indent="-514350">
              <a:buFont typeface="+mj-lt"/>
              <a:buAutoNum type="arabicPeriod"/>
            </a:pPr>
            <a:r>
              <a:rPr lang="en-US" dirty="0"/>
              <a:t>Flexibility for user control of data entry</a:t>
            </a:r>
          </a:p>
          <a:p>
            <a:pPr marL="914400" lvl="1" indent="-514350"/>
            <a:r>
              <a:rPr lang="en-US" dirty="0"/>
              <a:t>data-entry operators may prefer to enter information in a sequence that they can control</a:t>
            </a:r>
          </a:p>
          <a:p>
            <a:pPr marL="914400" lvl="1" indent="-514350"/>
            <a:r>
              <a:rPr lang="en-US" dirty="0"/>
              <a:t>flexibility should be used cautiously, since it goes against the consistency principle</a:t>
            </a:r>
          </a:p>
        </p:txBody>
      </p:sp>
    </p:spTree>
    <p:extLst>
      <p:ext uri="{BB962C8B-B14F-4D97-AF65-F5344CB8AC3E}">
        <p14:creationId xmlns:p14="http://schemas.microsoft.com/office/powerpoint/2010/main" val="554622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27" y="152400"/>
            <a:ext cx="8229600" cy="563562"/>
          </a:xfrm>
        </p:spPr>
        <p:txBody>
          <a:bodyPr>
            <a:normAutofit fontScale="90000"/>
          </a:bodyPr>
          <a:lstStyle/>
          <a:p>
            <a:r>
              <a:rPr lang="en-US" sz="3600" b="1" dirty="0"/>
              <a:t>Balance of Automation and Human Control</a:t>
            </a:r>
          </a:p>
        </p:txBody>
      </p:sp>
      <p:sp>
        <p:nvSpPr>
          <p:cNvPr id="3" name="Content Placeholder 2"/>
          <p:cNvSpPr>
            <a:spLocks noGrp="1"/>
          </p:cNvSpPr>
          <p:nvPr>
            <p:ph idx="1"/>
          </p:nvPr>
        </p:nvSpPr>
        <p:spPr>
          <a:xfrm>
            <a:off x="457200" y="685800"/>
            <a:ext cx="8229600" cy="5440363"/>
          </a:xfrm>
        </p:spPr>
        <p:txBody>
          <a:bodyPr/>
          <a:lstStyle/>
          <a:p>
            <a:r>
              <a:rPr lang="en-US" dirty="0"/>
              <a:t>Relative capabilities of humans and machines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1"/>
            <a:ext cx="81534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4703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Norman’s Seven Principles</a:t>
            </a:r>
            <a:br>
              <a:rPr lang="en-US" dirty="0"/>
            </a:b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Norman’s Seven Principles</a:t>
            </a:r>
            <a:br>
              <a:rPr lang="en-US" dirty="0"/>
            </a:br>
            <a:endParaRPr lang="en-US" dirty="0"/>
          </a:p>
        </p:txBody>
      </p:sp>
      <p:sp>
        <p:nvSpPr>
          <p:cNvPr id="3" name="Content Placeholder 2"/>
          <p:cNvSpPr>
            <a:spLocks noGrp="1"/>
          </p:cNvSpPr>
          <p:nvPr>
            <p:ph idx="1"/>
          </p:nvPr>
        </p:nvSpPr>
        <p:spPr>
          <a:xfrm>
            <a:off x="457200" y="1219200"/>
            <a:ext cx="8229600" cy="5257800"/>
          </a:xfrm>
        </p:spPr>
        <p:txBody>
          <a:bodyPr>
            <a:normAutofit fontScale="92500" lnSpcReduction="10000"/>
          </a:bodyPr>
          <a:lstStyle/>
          <a:p>
            <a:pPr marL="514350" indent="-514350">
              <a:buFont typeface="+mj-lt"/>
              <a:buAutoNum type="arabicPeriod"/>
            </a:pPr>
            <a:r>
              <a:rPr lang="en-US" dirty="0"/>
              <a:t>Use both knowledge in world &amp; knowledge in the head.</a:t>
            </a:r>
          </a:p>
          <a:p>
            <a:pPr marL="514350" indent="-514350">
              <a:buFont typeface="+mj-lt"/>
              <a:buAutoNum type="arabicPeriod"/>
            </a:pPr>
            <a:r>
              <a:rPr lang="en-US" dirty="0"/>
              <a:t>Simplify task structures.</a:t>
            </a:r>
          </a:p>
          <a:p>
            <a:pPr marL="514350" indent="-514350">
              <a:buFont typeface="+mj-lt"/>
              <a:buAutoNum type="arabicPeriod"/>
            </a:pPr>
            <a:r>
              <a:rPr lang="en-US" dirty="0"/>
              <a:t>Make things visible.</a:t>
            </a:r>
          </a:p>
          <a:p>
            <a:pPr marL="514350" indent="-514350">
              <a:buFont typeface="+mj-lt"/>
              <a:buAutoNum type="arabicPeriod"/>
            </a:pPr>
            <a:r>
              <a:rPr lang="en-US" dirty="0"/>
              <a:t>Get the mapping right (User mental model = Conceptual model = Designed model).</a:t>
            </a:r>
          </a:p>
          <a:p>
            <a:pPr marL="514350" indent="-514350">
              <a:buFont typeface="+mj-lt"/>
              <a:buAutoNum type="arabicPeriod"/>
            </a:pPr>
            <a:r>
              <a:rPr lang="en-US" dirty="0"/>
              <a:t>Convert constrains into advantages (Physical constraints, Cultural constraints, Technological constraints).</a:t>
            </a:r>
          </a:p>
          <a:p>
            <a:pPr marL="514350" indent="-514350">
              <a:buFont typeface="+mj-lt"/>
              <a:buAutoNum type="arabicPeriod"/>
            </a:pPr>
            <a:r>
              <a:rPr lang="en-US" dirty="0"/>
              <a:t>Design for Error.</a:t>
            </a:r>
          </a:p>
          <a:p>
            <a:pPr marL="514350" indent="-514350">
              <a:buFont typeface="+mj-lt"/>
              <a:buAutoNum type="arabicPeriod"/>
            </a:pPr>
            <a:r>
              <a:rPr lang="en-US" dirty="0"/>
              <a:t>When all else fails − Standardize.</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Use both knowledge in world &amp; in the head.</a:t>
            </a:r>
            <a:br>
              <a:rPr lang="en-US" sz="3200" b="1" dirty="0"/>
            </a:br>
            <a:endParaRPr lang="en-US" sz="3200" b="1" dirty="0"/>
          </a:p>
        </p:txBody>
      </p:sp>
      <p:sp>
        <p:nvSpPr>
          <p:cNvPr id="3" name="Content Placeholder 2"/>
          <p:cNvSpPr>
            <a:spLocks noGrp="1"/>
          </p:cNvSpPr>
          <p:nvPr>
            <p:ph idx="1"/>
          </p:nvPr>
        </p:nvSpPr>
        <p:spPr>
          <a:xfrm>
            <a:off x="457200" y="1143000"/>
            <a:ext cx="8229600" cy="5715000"/>
          </a:xfrm>
        </p:spPr>
        <p:txBody>
          <a:bodyPr>
            <a:normAutofit fontScale="85000" lnSpcReduction="20000"/>
          </a:bodyPr>
          <a:lstStyle/>
          <a:p>
            <a:r>
              <a:rPr lang="en-US" b="1" dirty="0"/>
              <a:t>Knowledge in the Head</a:t>
            </a:r>
            <a:endParaRPr lang="en-US" dirty="0"/>
          </a:p>
          <a:p>
            <a:pPr lvl="1">
              <a:buFont typeface="Arial" panose="020B0604020202020204" pitchFamily="34" charset="0"/>
              <a:buChar char="•"/>
            </a:pPr>
            <a:r>
              <a:rPr lang="en-US" dirty="0"/>
              <a:t>Requires memorization and learning</a:t>
            </a:r>
          </a:p>
          <a:p>
            <a:pPr lvl="1">
              <a:buFont typeface="Arial" panose="020B0604020202020204" pitchFamily="34" charset="0"/>
              <a:buChar char="•"/>
            </a:pPr>
            <a:r>
              <a:rPr lang="en-US" dirty="0"/>
              <a:t>Can be difficult to retrieve at times</a:t>
            </a:r>
          </a:p>
          <a:p>
            <a:r>
              <a:rPr lang="en-US" b="1" dirty="0"/>
              <a:t>Knowledge in the World</a:t>
            </a:r>
            <a:endParaRPr lang="en-US" dirty="0"/>
          </a:p>
          <a:p>
            <a:pPr lvl="1">
              <a:buFont typeface="Arial" panose="020B0604020202020204" pitchFamily="34" charset="0"/>
              <a:buChar char="•"/>
            </a:pPr>
            <a:r>
              <a:rPr lang="en-US" dirty="0"/>
              <a:t>Does not require memorization</a:t>
            </a:r>
          </a:p>
          <a:p>
            <a:pPr lvl="1">
              <a:buFont typeface="Arial" panose="020B0604020202020204" pitchFamily="34" charset="0"/>
              <a:buChar char="•"/>
            </a:pPr>
            <a:r>
              <a:rPr lang="en-US" dirty="0"/>
              <a:t>Understanding is not always necessary</a:t>
            </a:r>
          </a:p>
          <a:p>
            <a:pPr lvl="1">
              <a:buFont typeface="Arial" panose="020B0604020202020204" pitchFamily="34" charset="0"/>
              <a:buChar char="•"/>
            </a:pPr>
            <a:r>
              <a:rPr lang="en-US" dirty="0"/>
              <a:t>We interact with things to figure out how they work</a:t>
            </a:r>
            <a:endParaRPr lang="en-US" b="0" i="0" dirty="0">
              <a:solidFill>
                <a:srgbClr val="242424"/>
              </a:solidFill>
              <a:effectLst/>
              <a:latin typeface="source-serif-pro"/>
            </a:endParaRPr>
          </a:p>
          <a:p>
            <a:r>
              <a:rPr lang="en-US" dirty="0"/>
              <a:t>Users rely on both external (world) and internal (head) knowledge.</a:t>
            </a:r>
          </a:p>
          <a:p>
            <a:r>
              <a:rPr lang="en-US" dirty="0"/>
              <a:t>Reduce memory load by presenting relevant information. Users rely on both external (world) and internal (head) knowledge.</a:t>
            </a:r>
          </a:p>
          <a:p>
            <a:r>
              <a:rPr lang="en-US" dirty="0"/>
              <a:t>Reduce memory load by presenting relevant information.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E05FA9-940C-9AFC-29FC-C5D54CC3DCCE}"/>
              </a:ext>
            </a:extLst>
          </p:cNvPr>
          <p:cNvSpPr>
            <a:spLocks noGrp="1"/>
          </p:cNvSpPr>
          <p:nvPr>
            <p:ph idx="1"/>
          </p:nvPr>
        </p:nvSpPr>
        <p:spPr>
          <a:xfrm>
            <a:off x="457200" y="533400"/>
            <a:ext cx="8229600" cy="6019800"/>
          </a:xfrm>
        </p:spPr>
        <p:txBody>
          <a:bodyPr>
            <a:normAutofit fontScale="85000" lnSpcReduction="20000"/>
          </a:bodyPr>
          <a:lstStyle/>
          <a:p>
            <a:r>
              <a:rPr lang="en-IN" b="1" dirty="0"/>
              <a:t>Real-time Example: ATM Machine</a:t>
            </a:r>
          </a:p>
          <a:p>
            <a:pPr marL="0" indent="0">
              <a:buNone/>
            </a:pPr>
            <a:r>
              <a:rPr lang="en-IN" dirty="0"/>
              <a:t>When you withdraw cash from an ATM:</a:t>
            </a:r>
          </a:p>
          <a:p>
            <a:r>
              <a:rPr lang="en-IN" b="1" dirty="0"/>
              <a:t>Knowledge in the head:</a:t>
            </a:r>
            <a:r>
              <a:rPr lang="en-IN" dirty="0"/>
              <a:t> </a:t>
            </a:r>
          </a:p>
          <a:p>
            <a:pPr lvl="1"/>
            <a:r>
              <a:rPr lang="en-IN" dirty="0"/>
              <a:t>You know your 4-digit PIN. </a:t>
            </a:r>
          </a:p>
          <a:p>
            <a:pPr lvl="1"/>
            <a:r>
              <a:rPr lang="en-IN" dirty="0"/>
              <a:t>You know that you need to insert your card. </a:t>
            </a:r>
          </a:p>
          <a:p>
            <a:pPr lvl="1"/>
            <a:r>
              <a:rPr lang="en-IN" dirty="0"/>
              <a:t>You know the concept of entering an amount. </a:t>
            </a:r>
          </a:p>
          <a:p>
            <a:r>
              <a:rPr lang="en-IN" b="1" dirty="0"/>
              <a:t>Knowledge in the world:</a:t>
            </a:r>
            <a:r>
              <a:rPr lang="en-IN" dirty="0"/>
              <a:t> </a:t>
            </a:r>
          </a:p>
          <a:p>
            <a:pPr lvl="1"/>
            <a:r>
              <a:rPr lang="en-IN" dirty="0"/>
              <a:t>The ATM screen displays options like "Withdraw Cash," "Balance Inquiry." </a:t>
            </a:r>
          </a:p>
          <a:p>
            <a:pPr lvl="1"/>
            <a:r>
              <a:rPr lang="en-IN" dirty="0"/>
              <a:t>Buttons are </a:t>
            </a:r>
            <a:r>
              <a:rPr lang="en-IN" dirty="0" err="1"/>
              <a:t>labeled</a:t>
            </a:r>
            <a:r>
              <a:rPr lang="en-IN" dirty="0"/>
              <a:t>. </a:t>
            </a:r>
          </a:p>
          <a:p>
            <a:pPr lvl="1"/>
            <a:r>
              <a:rPr lang="en-IN" dirty="0"/>
              <a:t>The machine prompts you step by step ("Enter PIN", "Select Account", "Enter Amount"). </a:t>
            </a:r>
          </a:p>
          <a:p>
            <a:pPr lvl="1"/>
            <a:r>
              <a:rPr lang="en-IN" dirty="0"/>
              <a:t>Error messages appear if you enter an incorrect PIN. </a:t>
            </a:r>
          </a:p>
          <a:p>
            <a:r>
              <a:rPr lang="en-IN" dirty="0"/>
              <a:t>The ATM doesn't expect you to memorize the entire process. It guides you through each step while relying on your existing knowledge of PINs and banking.</a:t>
            </a:r>
          </a:p>
          <a:p>
            <a:pPr marL="0" indent="0">
              <a:buNone/>
            </a:pPr>
            <a:endParaRPr lang="en-IN" dirty="0"/>
          </a:p>
        </p:txBody>
      </p:sp>
    </p:spTree>
    <p:extLst>
      <p:ext uri="{BB962C8B-B14F-4D97-AF65-F5344CB8AC3E}">
        <p14:creationId xmlns:p14="http://schemas.microsoft.com/office/powerpoint/2010/main" val="324936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Use both knowledge in world &amp; in the head.</a:t>
            </a:r>
            <a:br>
              <a:rPr lang="en-US" sz="3200" b="1" dirty="0"/>
            </a:br>
            <a:endParaRPr lang="en-US" sz="3200" b="1" dirty="0"/>
          </a:p>
        </p:txBody>
      </p:sp>
      <p:pic>
        <p:nvPicPr>
          <p:cNvPr id="7" name="Picture 6">
            <a:extLst>
              <a:ext uri="{FF2B5EF4-FFF2-40B4-BE49-F238E27FC236}">
                <a16:creationId xmlns:a16="http://schemas.microsoft.com/office/drawing/2014/main" id="{712D1B5A-698F-A393-B4AD-8CE24225E12F}"/>
              </a:ext>
            </a:extLst>
          </p:cNvPr>
          <p:cNvPicPr>
            <a:picLocks noChangeAspect="1"/>
          </p:cNvPicPr>
          <p:nvPr/>
        </p:nvPicPr>
        <p:blipFill>
          <a:blip r:embed="rId2"/>
          <a:stretch>
            <a:fillRect/>
          </a:stretch>
        </p:blipFill>
        <p:spPr>
          <a:xfrm>
            <a:off x="1219200" y="1219200"/>
            <a:ext cx="7086600" cy="5023758"/>
          </a:xfrm>
          <a:prstGeom prst="rect">
            <a:avLst/>
          </a:prstGeom>
        </p:spPr>
      </p:pic>
    </p:spTree>
    <p:extLst>
      <p:ext uri="{BB962C8B-B14F-4D97-AF65-F5344CB8AC3E}">
        <p14:creationId xmlns:p14="http://schemas.microsoft.com/office/powerpoint/2010/main" val="782663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1BFE-009F-5BE7-8ED5-90DD684FB294}"/>
              </a:ext>
            </a:extLst>
          </p:cNvPr>
          <p:cNvSpPr>
            <a:spLocks noGrp="1"/>
          </p:cNvSpPr>
          <p:nvPr>
            <p:ph type="title"/>
          </p:nvPr>
        </p:nvSpPr>
        <p:spPr/>
        <p:txBody>
          <a:bodyPr>
            <a:normAutofit/>
          </a:bodyPr>
          <a:lstStyle/>
          <a:p>
            <a:r>
              <a:rPr lang="en-US" dirty="0"/>
              <a:t>Simplify task structures.</a:t>
            </a:r>
            <a:endParaRPr lang="en-IN" dirty="0"/>
          </a:p>
        </p:txBody>
      </p:sp>
      <p:sp>
        <p:nvSpPr>
          <p:cNvPr id="3" name="Content Placeholder 2">
            <a:extLst>
              <a:ext uri="{FF2B5EF4-FFF2-40B4-BE49-F238E27FC236}">
                <a16:creationId xmlns:a16="http://schemas.microsoft.com/office/drawing/2014/main" id="{F8AFF31C-791F-515D-2DFC-7C033E608814}"/>
              </a:ext>
            </a:extLst>
          </p:cNvPr>
          <p:cNvSpPr>
            <a:spLocks noGrp="1"/>
          </p:cNvSpPr>
          <p:nvPr>
            <p:ph idx="1"/>
          </p:nvPr>
        </p:nvSpPr>
        <p:spPr>
          <a:xfrm>
            <a:off x="457200" y="1600200"/>
            <a:ext cx="8229600" cy="4983162"/>
          </a:xfrm>
        </p:spPr>
        <p:txBody>
          <a:bodyPr>
            <a:normAutofit lnSpcReduction="10000"/>
          </a:bodyPr>
          <a:lstStyle/>
          <a:p>
            <a:r>
              <a:rPr lang="en-US" dirty="0"/>
              <a:t>Minimize complexity by breaking tasks into simpler steps.</a:t>
            </a:r>
          </a:p>
          <a:p>
            <a:r>
              <a:rPr lang="en-US" dirty="0"/>
              <a:t>Reduce cognitive load and friction.</a:t>
            </a:r>
          </a:p>
          <a:p>
            <a:r>
              <a:rPr lang="en-US" dirty="0"/>
              <a:t>Eliminate or restructure complexities, minimizing the planning and problem solving a task requires.</a:t>
            </a:r>
          </a:p>
          <a:p>
            <a:r>
              <a:rPr lang="en-US" dirty="0"/>
              <a:t>Pay attention to the psychology of a user and the limits on memory and attention.</a:t>
            </a:r>
          </a:p>
          <a:p>
            <a:r>
              <a:rPr lang="en-US" dirty="0"/>
              <a:t>Progressive disclosure of information</a:t>
            </a:r>
          </a:p>
          <a:p>
            <a:r>
              <a:rPr lang="en-US" dirty="0"/>
              <a:t>Clear navigation and feedback</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9137014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BF93E0-B53D-0A16-D4DD-7BB3AE3BDABF}"/>
              </a:ext>
            </a:extLst>
          </p:cNvPr>
          <p:cNvSpPr>
            <a:spLocks noGrp="1"/>
          </p:cNvSpPr>
          <p:nvPr>
            <p:ph idx="1"/>
          </p:nvPr>
        </p:nvSpPr>
        <p:spPr>
          <a:xfrm>
            <a:off x="457200" y="228600"/>
            <a:ext cx="8229600" cy="5897563"/>
          </a:xfrm>
        </p:spPr>
        <p:txBody>
          <a:bodyPr>
            <a:normAutofit fontScale="92500" lnSpcReduction="10000"/>
          </a:bodyPr>
          <a:lstStyle/>
          <a:p>
            <a:r>
              <a:rPr lang="en-IN" dirty="0"/>
              <a:t>Break a complex task into simple, manageable steps so users can complete it easily with fewer errors.</a:t>
            </a:r>
          </a:p>
          <a:p>
            <a:r>
              <a:rPr lang="en-IN" b="1" dirty="0"/>
              <a:t>Example: Online Food Delivery App</a:t>
            </a:r>
          </a:p>
          <a:p>
            <a:r>
              <a:rPr lang="en-IN" dirty="0"/>
              <a:t>Saved addresses eliminate repeated typing. </a:t>
            </a:r>
          </a:p>
          <a:p>
            <a:r>
              <a:rPr lang="en-IN" b="1" dirty="0"/>
              <a:t>Reorder</a:t>
            </a:r>
            <a:r>
              <a:rPr lang="en-IN" dirty="0"/>
              <a:t> lets users order previous meals with one tap. </a:t>
            </a:r>
          </a:p>
          <a:p>
            <a:r>
              <a:rPr lang="en-IN" dirty="0"/>
              <a:t>Step-by-step flow: </a:t>
            </a:r>
          </a:p>
          <a:p>
            <a:pPr lvl="1"/>
            <a:r>
              <a:rPr lang="en-IN" dirty="0"/>
              <a:t>Select food </a:t>
            </a:r>
          </a:p>
          <a:p>
            <a:pPr lvl="1"/>
            <a:r>
              <a:rPr lang="en-IN" dirty="0"/>
              <a:t>Confirm address </a:t>
            </a:r>
          </a:p>
          <a:p>
            <a:pPr lvl="1"/>
            <a:r>
              <a:rPr lang="en-IN" dirty="0"/>
              <a:t>Choose payment </a:t>
            </a:r>
          </a:p>
          <a:p>
            <a:pPr lvl="1"/>
            <a:r>
              <a:rPr lang="en-IN" dirty="0"/>
              <a:t>Place order</a:t>
            </a:r>
          </a:p>
          <a:p>
            <a:endParaRPr lang="en-IN" dirty="0"/>
          </a:p>
        </p:txBody>
      </p:sp>
      <p:pic>
        <p:nvPicPr>
          <p:cNvPr id="4" name="Picture 3" descr="The Slice App | Direct Ordering For Pizzerias">
            <a:extLst>
              <a:ext uri="{FF2B5EF4-FFF2-40B4-BE49-F238E27FC236}">
                <a16:creationId xmlns:a16="http://schemas.microsoft.com/office/drawing/2014/main" id="{78769EC2-AAA2-3938-3E51-E5D41ED57A70}"/>
              </a:ext>
            </a:extLst>
          </p:cNvPr>
          <p:cNvPicPr>
            <a:picLocks noChangeAspect="1"/>
          </p:cNvPicPr>
          <p:nvPr/>
        </p:nvPicPr>
        <p:blipFill>
          <a:blip r:embed="rId2"/>
          <a:stretch>
            <a:fillRect/>
          </a:stretch>
        </p:blipFill>
        <p:spPr>
          <a:xfrm>
            <a:off x="4347058" y="3276600"/>
            <a:ext cx="4386376" cy="2971800"/>
          </a:xfrm>
          <a:prstGeom prst="rect">
            <a:avLst/>
          </a:prstGeom>
        </p:spPr>
      </p:pic>
    </p:spTree>
    <p:extLst>
      <p:ext uri="{BB962C8B-B14F-4D97-AF65-F5344CB8AC3E}">
        <p14:creationId xmlns:p14="http://schemas.microsoft.com/office/powerpoint/2010/main" val="1910069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F3FD6-3CA1-5B34-2F2A-A8416DA9F15B}"/>
              </a:ext>
            </a:extLst>
          </p:cNvPr>
          <p:cNvSpPr>
            <a:spLocks noGrp="1"/>
          </p:cNvSpPr>
          <p:nvPr>
            <p:ph type="title"/>
          </p:nvPr>
        </p:nvSpPr>
        <p:spPr/>
        <p:txBody>
          <a:bodyPr>
            <a:normAutofit/>
          </a:bodyPr>
          <a:lstStyle/>
          <a:p>
            <a:r>
              <a:rPr lang="en-US" dirty="0"/>
              <a:t>Make things visible.</a:t>
            </a:r>
          </a:p>
        </p:txBody>
      </p:sp>
      <p:sp>
        <p:nvSpPr>
          <p:cNvPr id="3" name="Content Placeholder 2">
            <a:extLst>
              <a:ext uri="{FF2B5EF4-FFF2-40B4-BE49-F238E27FC236}">
                <a16:creationId xmlns:a16="http://schemas.microsoft.com/office/drawing/2014/main" id="{C129F9F6-759B-BB35-6F05-4FB3583D3486}"/>
              </a:ext>
            </a:extLst>
          </p:cNvPr>
          <p:cNvSpPr>
            <a:spLocks noGrp="1"/>
          </p:cNvSpPr>
          <p:nvPr>
            <p:ph idx="1"/>
          </p:nvPr>
        </p:nvSpPr>
        <p:spPr/>
        <p:txBody>
          <a:bodyPr>
            <a:normAutofit lnSpcReduction="10000"/>
          </a:bodyPr>
          <a:lstStyle/>
          <a:p>
            <a:r>
              <a:rPr lang="en-US" dirty="0"/>
              <a:t>Bridge Gulfs Between Execution and Evaluation</a:t>
            </a:r>
          </a:p>
          <a:p>
            <a:r>
              <a:rPr lang="en-US" dirty="0"/>
              <a:t>Easy to see what’s visible: what can be done and what their effects are.</a:t>
            </a:r>
          </a:p>
          <a:p>
            <a:r>
              <a:rPr lang="en-US" dirty="0"/>
              <a:t>Actions should match intentions</a:t>
            </a:r>
          </a:p>
          <a:p>
            <a:r>
              <a:rPr lang="en-US" dirty="0"/>
              <a:t>It’s important to make the correct things visible so the users for the correct interpretations and mental models through the system image</a:t>
            </a:r>
            <a:endParaRPr lang="en-IN" dirty="0"/>
          </a:p>
        </p:txBody>
      </p:sp>
    </p:spTree>
    <p:extLst>
      <p:ext uri="{BB962C8B-B14F-4D97-AF65-F5344CB8AC3E}">
        <p14:creationId xmlns:p14="http://schemas.microsoft.com/office/powerpoint/2010/main" val="219907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28DD7B-1319-A616-22EE-01F278A2C555}"/>
              </a:ext>
            </a:extLst>
          </p:cNvPr>
          <p:cNvSpPr>
            <a:spLocks noGrp="1"/>
          </p:cNvSpPr>
          <p:nvPr>
            <p:ph idx="1"/>
          </p:nvPr>
        </p:nvSpPr>
        <p:spPr>
          <a:xfrm>
            <a:off x="457200" y="304800"/>
            <a:ext cx="8305800" cy="6400800"/>
          </a:xfrm>
        </p:spPr>
        <p:txBody>
          <a:bodyPr>
            <a:normAutofit/>
          </a:bodyPr>
          <a:lstStyle/>
          <a:p>
            <a:r>
              <a:rPr lang="en-IN" dirty="0"/>
              <a:t>Ensure that important controls, options, and system status are clearly visible so users know what actions are possible and what is happening.</a:t>
            </a:r>
          </a:p>
          <a:p>
            <a:pPr marL="0" indent="0">
              <a:buNone/>
            </a:pPr>
            <a:r>
              <a:rPr lang="en-IN" b="1" dirty="0"/>
              <a:t>Example: Car Dashboard</a:t>
            </a:r>
          </a:p>
          <a:p>
            <a:r>
              <a:rPr lang="en-IN" dirty="0"/>
              <a:t>Fuel warning light indicates </a:t>
            </a:r>
            <a:r>
              <a:rPr lang="en-IN" b="1" dirty="0"/>
              <a:t>low fuel</a:t>
            </a:r>
            <a:r>
              <a:rPr lang="en-IN" dirty="0"/>
              <a:t>. </a:t>
            </a:r>
          </a:p>
          <a:p>
            <a:r>
              <a:rPr lang="en-IN" dirty="0"/>
              <a:t>Speedometer shows the </a:t>
            </a:r>
            <a:r>
              <a:rPr lang="en-IN" b="1" dirty="0"/>
              <a:t>current speed</a:t>
            </a:r>
            <a:r>
              <a:rPr lang="en-IN" dirty="0"/>
              <a:t>. </a:t>
            </a:r>
          </a:p>
          <a:p>
            <a:r>
              <a:rPr lang="en-IN" dirty="0"/>
              <a:t>Turn signal arrows blink when indicators are on. </a:t>
            </a:r>
          </a:p>
          <a:p>
            <a:r>
              <a:rPr lang="en-IN" dirty="0"/>
              <a:t>Seatbelt warning reminds the driver to buckle up.</a:t>
            </a:r>
          </a:p>
          <a:p>
            <a:endParaRPr lang="en-IN" dirty="0"/>
          </a:p>
        </p:txBody>
      </p:sp>
    </p:spTree>
    <p:extLst>
      <p:ext uri="{BB962C8B-B14F-4D97-AF65-F5344CB8AC3E}">
        <p14:creationId xmlns:p14="http://schemas.microsoft.com/office/powerpoint/2010/main" val="9397906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2E4B-3DC1-75C9-12CD-7655AD858D2B}"/>
              </a:ext>
            </a:extLst>
          </p:cNvPr>
          <p:cNvSpPr>
            <a:spLocks noGrp="1"/>
          </p:cNvSpPr>
          <p:nvPr>
            <p:ph type="title"/>
          </p:nvPr>
        </p:nvSpPr>
        <p:spPr/>
        <p:txBody>
          <a:bodyPr/>
          <a:lstStyle/>
          <a:p>
            <a:endParaRPr lang="en-IN"/>
          </a:p>
        </p:txBody>
      </p:sp>
      <p:pic>
        <p:nvPicPr>
          <p:cNvPr id="5" name="Content Placeholder 4" descr="EZclicker Universal TV Remote for Seniors - Works with Major Brands  | eBay UK">
            <a:extLst>
              <a:ext uri="{FF2B5EF4-FFF2-40B4-BE49-F238E27FC236}">
                <a16:creationId xmlns:a16="http://schemas.microsoft.com/office/drawing/2014/main" id="{D28CF647-6798-1C57-A86A-DB9B445C5592}"/>
              </a:ext>
            </a:extLst>
          </p:cNvPr>
          <p:cNvPicPr>
            <a:picLocks noGrp="1" noChangeAspect="1"/>
          </p:cNvPicPr>
          <p:nvPr>
            <p:ph idx="1"/>
          </p:nvPr>
        </p:nvPicPr>
        <p:blipFill>
          <a:blip r:embed="rId2"/>
          <a:stretch>
            <a:fillRect/>
          </a:stretch>
        </p:blipFill>
        <p:spPr>
          <a:xfrm>
            <a:off x="4038600" y="274638"/>
            <a:ext cx="4525963" cy="4525963"/>
          </a:xfrm>
          <a:prstGeom prst="rect">
            <a:avLst/>
          </a:prstGeom>
        </p:spPr>
      </p:pic>
      <p:pic>
        <p:nvPicPr>
          <p:cNvPr id="4" name="Picture 3" descr="Voyant de carburant allumé : combien de kilomètres peut-on encore parcourir avant la panne ?">
            <a:extLst>
              <a:ext uri="{FF2B5EF4-FFF2-40B4-BE49-F238E27FC236}">
                <a16:creationId xmlns:a16="http://schemas.microsoft.com/office/drawing/2014/main" id="{A88EC442-A309-3429-DCD8-27A445579A52}"/>
              </a:ext>
            </a:extLst>
          </p:cNvPr>
          <p:cNvPicPr>
            <a:picLocks noChangeAspect="1"/>
          </p:cNvPicPr>
          <p:nvPr/>
        </p:nvPicPr>
        <p:blipFill>
          <a:blip r:embed="rId3"/>
          <a:stretch>
            <a:fillRect/>
          </a:stretch>
        </p:blipFill>
        <p:spPr>
          <a:xfrm>
            <a:off x="489857" y="274638"/>
            <a:ext cx="2800350" cy="2800350"/>
          </a:xfrm>
          <a:prstGeom prst="rect">
            <a:avLst/>
          </a:prstGeom>
        </p:spPr>
      </p:pic>
      <p:pic>
        <p:nvPicPr>
          <p:cNvPr id="6" name="Picture 5" descr="Cách khắc phục sạc pin Laptop Asus không vào điện không lên nguồn">
            <a:extLst>
              <a:ext uri="{FF2B5EF4-FFF2-40B4-BE49-F238E27FC236}">
                <a16:creationId xmlns:a16="http://schemas.microsoft.com/office/drawing/2014/main" id="{2F6BB965-4712-04DE-497C-1850F3345054}"/>
              </a:ext>
            </a:extLst>
          </p:cNvPr>
          <p:cNvPicPr>
            <a:picLocks noChangeAspect="1"/>
          </p:cNvPicPr>
          <p:nvPr/>
        </p:nvPicPr>
        <p:blipFill>
          <a:blip r:embed="rId4"/>
          <a:stretch>
            <a:fillRect/>
          </a:stretch>
        </p:blipFill>
        <p:spPr>
          <a:xfrm>
            <a:off x="612094" y="3657600"/>
            <a:ext cx="3695700" cy="2771775"/>
          </a:xfrm>
          <a:prstGeom prst="rect">
            <a:avLst/>
          </a:prstGeom>
        </p:spPr>
      </p:pic>
    </p:spTree>
    <p:extLst>
      <p:ext uri="{BB962C8B-B14F-4D97-AF65-F5344CB8AC3E}">
        <p14:creationId xmlns:p14="http://schemas.microsoft.com/office/powerpoint/2010/main" val="17391941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4D271-3354-F20D-759A-E68AFF660139}"/>
              </a:ext>
            </a:extLst>
          </p:cNvPr>
          <p:cNvSpPr>
            <a:spLocks noGrp="1"/>
          </p:cNvSpPr>
          <p:nvPr>
            <p:ph type="title"/>
          </p:nvPr>
        </p:nvSpPr>
        <p:spPr/>
        <p:txBody>
          <a:bodyPr/>
          <a:lstStyle/>
          <a:p>
            <a:r>
              <a:rPr lang="en-US" dirty="0"/>
              <a:t>Get the mapping right</a:t>
            </a:r>
            <a:endParaRPr lang="en-IN" dirty="0"/>
          </a:p>
        </p:txBody>
      </p:sp>
      <p:sp>
        <p:nvSpPr>
          <p:cNvPr id="3" name="Content Placeholder 2">
            <a:extLst>
              <a:ext uri="{FF2B5EF4-FFF2-40B4-BE49-F238E27FC236}">
                <a16:creationId xmlns:a16="http://schemas.microsoft.com/office/drawing/2014/main" id="{E2934E3B-A624-DBAB-9A85-37A0841BC640}"/>
              </a:ext>
            </a:extLst>
          </p:cNvPr>
          <p:cNvSpPr>
            <a:spLocks noGrp="1"/>
          </p:cNvSpPr>
          <p:nvPr>
            <p:ph idx="1"/>
          </p:nvPr>
        </p:nvSpPr>
        <p:spPr/>
        <p:txBody>
          <a:bodyPr>
            <a:normAutofit lnSpcReduction="10000"/>
          </a:bodyPr>
          <a:lstStyle/>
          <a:p>
            <a:r>
              <a:rPr lang="en-US" dirty="0"/>
              <a:t>Ensure the user’s mental model matches the conceptual and designed model.</a:t>
            </a:r>
          </a:p>
          <a:p>
            <a:r>
              <a:rPr lang="en-US" dirty="0"/>
              <a:t>Users should predict system behavior based on design.</a:t>
            </a:r>
          </a:p>
          <a:p>
            <a:r>
              <a:rPr lang="en-US" dirty="0"/>
              <a:t>The movements of the control should be similar or analogous to the expected operation of the system.</a:t>
            </a:r>
          </a:p>
          <a:p>
            <a:r>
              <a:rPr lang="en-US" dirty="0"/>
              <a:t>feedback must be timely and easy to understand</a:t>
            </a:r>
            <a:endParaRPr lang="en-IN" dirty="0"/>
          </a:p>
        </p:txBody>
      </p:sp>
    </p:spTree>
    <p:extLst>
      <p:ext uri="{BB962C8B-B14F-4D97-AF65-F5344CB8AC3E}">
        <p14:creationId xmlns:p14="http://schemas.microsoft.com/office/powerpoint/2010/main" val="17031553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F113C0-476F-DF42-23E5-CEF625291A20}"/>
              </a:ext>
            </a:extLst>
          </p:cNvPr>
          <p:cNvSpPr>
            <a:spLocks noGrp="1"/>
          </p:cNvSpPr>
          <p:nvPr>
            <p:ph idx="1"/>
          </p:nvPr>
        </p:nvSpPr>
        <p:spPr>
          <a:xfrm>
            <a:off x="457200" y="304800"/>
            <a:ext cx="8229600" cy="6248400"/>
          </a:xfrm>
        </p:spPr>
        <p:txBody>
          <a:bodyPr>
            <a:normAutofit lnSpcReduction="10000"/>
          </a:bodyPr>
          <a:lstStyle/>
          <a:p>
            <a:r>
              <a:rPr lang="en-IN" dirty="0"/>
              <a:t>Arrange controls so that their relationship to the action or result is </a:t>
            </a:r>
            <a:r>
              <a:rPr lang="en-IN" b="1" dirty="0"/>
              <a:t>natural and intuitive</a:t>
            </a:r>
            <a:r>
              <a:rPr lang="en-IN" dirty="0"/>
              <a:t>.</a:t>
            </a:r>
          </a:p>
          <a:p>
            <a:pPr marL="0" indent="0">
              <a:buNone/>
            </a:pPr>
            <a:r>
              <a:rPr lang="en-IN" b="1" dirty="0"/>
              <a:t>Example: Gas Stove</a:t>
            </a:r>
          </a:p>
          <a:p>
            <a:r>
              <a:rPr lang="en-IN" dirty="0"/>
              <a:t>Each control knob corresponds to </a:t>
            </a:r>
            <a:r>
              <a:rPr lang="en-IN" b="1" dirty="0"/>
              <a:t>one specific burner</a:t>
            </a:r>
            <a:r>
              <a:rPr lang="en-IN" dirty="0"/>
              <a:t>. </a:t>
            </a:r>
          </a:p>
          <a:p>
            <a:r>
              <a:rPr lang="en-IN" dirty="0"/>
              <a:t>The layout of the knobs matches the </a:t>
            </a:r>
            <a:r>
              <a:rPr lang="en-IN" b="1" dirty="0"/>
              <a:t>physical arrangement of the burners</a:t>
            </a:r>
            <a:r>
              <a:rPr lang="en-IN" dirty="0"/>
              <a:t>. </a:t>
            </a:r>
          </a:p>
          <a:p>
            <a:r>
              <a:rPr lang="en-IN" dirty="0"/>
              <a:t>Users can easily identify which knob controls which burner. </a:t>
            </a:r>
          </a:p>
          <a:p>
            <a:r>
              <a:rPr lang="en-IN" b="1" dirty="0"/>
              <a:t>Good mapping creates a natural connection between controls and their effects, reducing confusion and user errors.</a:t>
            </a:r>
            <a:endParaRPr lang="en-IN" dirty="0"/>
          </a:p>
          <a:p>
            <a:endParaRPr lang="en-IN" dirty="0"/>
          </a:p>
        </p:txBody>
      </p:sp>
    </p:spTree>
    <p:extLst>
      <p:ext uri="{BB962C8B-B14F-4D97-AF65-F5344CB8AC3E}">
        <p14:creationId xmlns:p14="http://schemas.microsoft.com/office/powerpoint/2010/main" val="33642673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B8E2-B926-BB51-3363-55D6311AF7E3}"/>
              </a:ext>
            </a:extLst>
          </p:cNvPr>
          <p:cNvSpPr>
            <a:spLocks noGrp="1"/>
          </p:cNvSpPr>
          <p:nvPr>
            <p:ph type="title"/>
          </p:nvPr>
        </p:nvSpPr>
        <p:spPr/>
        <p:txBody>
          <a:bodyPr/>
          <a:lstStyle/>
          <a:p>
            <a:r>
              <a:rPr lang="en-US" dirty="0"/>
              <a:t>Get the mapping right</a:t>
            </a:r>
            <a:endParaRPr lang="en-IN" dirty="0"/>
          </a:p>
        </p:txBody>
      </p:sp>
      <p:pic>
        <p:nvPicPr>
          <p:cNvPr id="7" name="Content Placeholder 6">
            <a:extLst>
              <a:ext uri="{FF2B5EF4-FFF2-40B4-BE49-F238E27FC236}">
                <a16:creationId xmlns:a16="http://schemas.microsoft.com/office/drawing/2014/main" id="{B4A0B2FB-6F04-2A41-0D15-1779DF0B497A}"/>
              </a:ext>
            </a:extLst>
          </p:cNvPr>
          <p:cNvPicPr>
            <a:picLocks noGrp="1" noChangeAspect="1"/>
          </p:cNvPicPr>
          <p:nvPr>
            <p:ph idx="1"/>
          </p:nvPr>
        </p:nvPicPr>
        <p:blipFill>
          <a:blip r:embed="rId2"/>
          <a:stretch>
            <a:fillRect/>
          </a:stretch>
        </p:blipFill>
        <p:spPr>
          <a:xfrm>
            <a:off x="304800" y="1428524"/>
            <a:ext cx="4330923" cy="3486329"/>
          </a:xfrm>
        </p:spPr>
      </p:pic>
      <p:pic>
        <p:nvPicPr>
          <p:cNvPr id="5" name="Picture 4">
            <a:extLst>
              <a:ext uri="{FF2B5EF4-FFF2-40B4-BE49-F238E27FC236}">
                <a16:creationId xmlns:a16="http://schemas.microsoft.com/office/drawing/2014/main" id="{8C36AC07-759F-47B9-103B-1BA965DF851B}"/>
              </a:ext>
            </a:extLst>
          </p:cNvPr>
          <p:cNvPicPr>
            <a:picLocks noChangeAspect="1"/>
          </p:cNvPicPr>
          <p:nvPr/>
        </p:nvPicPr>
        <p:blipFill>
          <a:blip r:embed="rId3"/>
          <a:stretch>
            <a:fillRect/>
          </a:stretch>
        </p:blipFill>
        <p:spPr>
          <a:xfrm>
            <a:off x="4736874" y="3276600"/>
            <a:ext cx="4407126" cy="3492679"/>
          </a:xfrm>
          <a:prstGeom prst="rect">
            <a:avLst/>
          </a:prstGeom>
        </p:spPr>
      </p:pic>
    </p:spTree>
    <p:extLst>
      <p:ext uri="{BB962C8B-B14F-4D97-AF65-F5344CB8AC3E}">
        <p14:creationId xmlns:p14="http://schemas.microsoft.com/office/powerpoint/2010/main" val="29494333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E9DF0-7C48-BCB9-3190-1500E975A958}"/>
              </a:ext>
            </a:extLst>
          </p:cNvPr>
          <p:cNvSpPr>
            <a:spLocks noGrp="1"/>
          </p:cNvSpPr>
          <p:nvPr>
            <p:ph type="title"/>
          </p:nvPr>
        </p:nvSpPr>
        <p:spPr/>
        <p:txBody>
          <a:bodyPr/>
          <a:lstStyle/>
          <a:p>
            <a:r>
              <a:rPr lang="en-US" dirty="0"/>
              <a:t>Convert constrains into advantages</a:t>
            </a:r>
            <a:endParaRPr lang="en-IN" dirty="0"/>
          </a:p>
        </p:txBody>
      </p:sp>
      <p:sp>
        <p:nvSpPr>
          <p:cNvPr id="3" name="Content Placeholder 2">
            <a:extLst>
              <a:ext uri="{FF2B5EF4-FFF2-40B4-BE49-F238E27FC236}">
                <a16:creationId xmlns:a16="http://schemas.microsoft.com/office/drawing/2014/main" id="{8E9AAB83-1B07-016B-A0C4-DA6217F6D596}"/>
              </a:ext>
            </a:extLst>
          </p:cNvPr>
          <p:cNvSpPr>
            <a:spLocks noGrp="1"/>
          </p:cNvSpPr>
          <p:nvPr>
            <p:ph idx="1"/>
          </p:nvPr>
        </p:nvSpPr>
        <p:spPr/>
        <p:txBody>
          <a:bodyPr>
            <a:normAutofit fontScale="92500"/>
          </a:bodyPr>
          <a:lstStyle/>
          <a:p>
            <a:r>
              <a:rPr lang="en-US" dirty="0"/>
              <a:t>Reduce the number of possible alternative actions at each step to a few or ideally just one</a:t>
            </a:r>
          </a:p>
          <a:p>
            <a:r>
              <a:rPr lang="en-US" dirty="0"/>
              <a:t>By strategically limiting alternatives at each step, designers guide users toward the correct actions. </a:t>
            </a:r>
          </a:p>
          <a:p>
            <a:r>
              <a:rPr lang="en-US" dirty="0"/>
              <a:t>a well-constructed system that simplifies decision-making for users, fostering a sense of clarity and purpose in their interactions with the designed environment.</a:t>
            </a:r>
            <a:endParaRPr lang="en-IN" dirty="0"/>
          </a:p>
        </p:txBody>
      </p:sp>
    </p:spTree>
    <p:extLst>
      <p:ext uri="{BB962C8B-B14F-4D97-AF65-F5344CB8AC3E}">
        <p14:creationId xmlns:p14="http://schemas.microsoft.com/office/powerpoint/2010/main" val="29407444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B6E66-F031-BD56-97D4-80C5964DB69A}"/>
              </a:ext>
            </a:extLst>
          </p:cNvPr>
          <p:cNvSpPr>
            <a:spLocks noGrp="1"/>
          </p:cNvSpPr>
          <p:nvPr>
            <p:ph idx="1"/>
          </p:nvPr>
        </p:nvSpPr>
        <p:spPr>
          <a:xfrm>
            <a:off x="457200" y="304800"/>
            <a:ext cx="8534400" cy="6629400"/>
          </a:xfrm>
        </p:spPr>
        <p:txBody>
          <a:bodyPr>
            <a:normAutofit fontScale="70000" lnSpcReduction="20000"/>
          </a:bodyPr>
          <a:lstStyle/>
          <a:p>
            <a:r>
              <a:rPr lang="en-IN" dirty="0"/>
              <a:t>Use design constraints to </a:t>
            </a:r>
            <a:r>
              <a:rPr lang="en-IN" b="1" dirty="0"/>
              <a:t>prevent errors and guide users toward the correct action</a:t>
            </a:r>
            <a:r>
              <a:rPr lang="en-IN" dirty="0"/>
              <a:t>. Instead of seeing constraints as limitations, use them to make the product easier and safer to use.</a:t>
            </a:r>
          </a:p>
          <a:p>
            <a:pPr marL="0" indent="0">
              <a:buNone/>
            </a:pPr>
            <a:r>
              <a:rPr lang="en-IN" b="1" dirty="0"/>
              <a:t>Example: SIM Card</a:t>
            </a:r>
          </a:p>
          <a:p>
            <a:r>
              <a:rPr lang="en-IN" dirty="0"/>
              <a:t>The SIM card has a </a:t>
            </a:r>
            <a:r>
              <a:rPr lang="en-IN" b="1" dirty="0"/>
              <a:t>notched corner</a:t>
            </a:r>
            <a:r>
              <a:rPr lang="en-IN" dirty="0"/>
              <a:t>. </a:t>
            </a:r>
          </a:p>
          <a:p>
            <a:r>
              <a:rPr lang="en-IN" dirty="0"/>
              <a:t>It can be inserted in </a:t>
            </a:r>
            <a:r>
              <a:rPr lang="en-IN" b="1" dirty="0"/>
              <a:t>only one correct orientation</a:t>
            </a:r>
            <a:r>
              <a:rPr lang="en-IN" dirty="0"/>
              <a:t>. </a:t>
            </a:r>
          </a:p>
          <a:p>
            <a:r>
              <a:rPr lang="en-IN" dirty="0"/>
              <a:t>This prevents incorrect insertion and protects both the card and the device. </a:t>
            </a:r>
          </a:p>
          <a:p>
            <a:endParaRPr lang="en-IN" b="1" dirty="0"/>
          </a:p>
          <a:p>
            <a:r>
              <a:rPr lang="en-IN" b="1" dirty="0"/>
              <a:t>A good constraint guides users to the correct action, reduces mistakes, and improves usability.</a:t>
            </a:r>
            <a:endParaRPr lang="en-IN" dirty="0"/>
          </a:p>
          <a:p>
            <a:pPr marL="0" indent="0">
              <a:buNone/>
            </a:pPr>
            <a:r>
              <a:rPr lang="en-IN" b="1" dirty="0"/>
              <a:t>Other quick examples:</a:t>
            </a:r>
            <a:endParaRPr lang="en-IN" dirty="0"/>
          </a:p>
          <a:p>
            <a:r>
              <a:rPr lang="en-IN" b="1" dirty="0"/>
              <a:t>USB-C connector</a:t>
            </a:r>
            <a:r>
              <a:rPr lang="en-IN" dirty="0"/>
              <a:t> – Reversible design eliminates the frustration of plugging it in the wrong way. </a:t>
            </a:r>
          </a:p>
          <a:p>
            <a:r>
              <a:rPr lang="en-IN" b="1" dirty="0"/>
              <a:t>Automatic car gear selector</a:t>
            </a:r>
            <a:r>
              <a:rPr lang="en-IN" dirty="0"/>
              <a:t> – You must press the brake before shifting out of </a:t>
            </a:r>
            <a:r>
              <a:rPr lang="en-IN" b="1" dirty="0"/>
              <a:t>Park</a:t>
            </a:r>
            <a:r>
              <a:rPr lang="en-IN" dirty="0"/>
              <a:t>, preventing accidental movement. </a:t>
            </a:r>
          </a:p>
          <a:p>
            <a:r>
              <a:rPr lang="en-IN" b="1" dirty="0"/>
              <a:t>SD card write-protect switch</a:t>
            </a:r>
            <a:r>
              <a:rPr lang="en-IN" dirty="0"/>
              <a:t> – Prevents accidental deletion or modification of data.</a:t>
            </a:r>
          </a:p>
        </p:txBody>
      </p:sp>
    </p:spTree>
    <p:extLst>
      <p:ext uri="{BB962C8B-B14F-4D97-AF65-F5344CB8AC3E}">
        <p14:creationId xmlns:p14="http://schemas.microsoft.com/office/powerpoint/2010/main" val="681645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6BFE4-DD99-E614-16EE-983F248F13C6}"/>
              </a:ext>
            </a:extLst>
          </p:cNvPr>
          <p:cNvSpPr>
            <a:spLocks noGrp="1"/>
          </p:cNvSpPr>
          <p:nvPr>
            <p:ph type="title"/>
          </p:nvPr>
        </p:nvSpPr>
        <p:spPr/>
        <p:txBody>
          <a:bodyPr/>
          <a:lstStyle/>
          <a:p>
            <a:endParaRPr lang="en-IN"/>
          </a:p>
        </p:txBody>
      </p:sp>
      <p:pic>
        <p:nvPicPr>
          <p:cNvPr id="5" name="Content Placeholder 4" descr="WHICH WAY UP DO I PLACE A SIM CARD FROM A… - Apple Community">
            <a:extLst>
              <a:ext uri="{FF2B5EF4-FFF2-40B4-BE49-F238E27FC236}">
                <a16:creationId xmlns:a16="http://schemas.microsoft.com/office/drawing/2014/main" id="{DA76432C-9B00-76D3-EFB2-1EEDD8E8D500}"/>
              </a:ext>
            </a:extLst>
          </p:cNvPr>
          <p:cNvPicPr>
            <a:picLocks noGrp="1" noChangeAspect="1"/>
          </p:cNvPicPr>
          <p:nvPr>
            <p:ph idx="1"/>
          </p:nvPr>
        </p:nvPicPr>
        <p:blipFill>
          <a:blip r:embed="rId2"/>
          <a:stretch>
            <a:fillRect/>
          </a:stretch>
        </p:blipFill>
        <p:spPr>
          <a:xfrm>
            <a:off x="3886199" y="285524"/>
            <a:ext cx="4778829" cy="3468745"/>
          </a:xfrm>
          <a:prstGeom prst="rect">
            <a:avLst/>
          </a:prstGeom>
        </p:spPr>
      </p:pic>
      <p:pic>
        <p:nvPicPr>
          <p:cNvPr id="4" name="Picture 3" descr="Cables  - Anker US">
            <a:extLst>
              <a:ext uri="{FF2B5EF4-FFF2-40B4-BE49-F238E27FC236}">
                <a16:creationId xmlns:a16="http://schemas.microsoft.com/office/drawing/2014/main" id="{EF50467E-AF2B-3BAA-61EC-D917071A4DCC}"/>
              </a:ext>
            </a:extLst>
          </p:cNvPr>
          <p:cNvPicPr>
            <a:picLocks noChangeAspect="1"/>
          </p:cNvPicPr>
          <p:nvPr/>
        </p:nvPicPr>
        <p:blipFill>
          <a:blip r:embed="rId3"/>
          <a:stretch>
            <a:fillRect/>
          </a:stretch>
        </p:blipFill>
        <p:spPr>
          <a:xfrm>
            <a:off x="478971" y="285524"/>
            <a:ext cx="2800350" cy="2800350"/>
          </a:xfrm>
          <a:prstGeom prst="rect">
            <a:avLst/>
          </a:prstGeom>
        </p:spPr>
      </p:pic>
      <p:pic>
        <p:nvPicPr>
          <p:cNvPr id="6" name="Picture 5" descr="Can't Delete Files from SD Card? 6 Must-Try Fixes!">
            <a:extLst>
              <a:ext uri="{FF2B5EF4-FFF2-40B4-BE49-F238E27FC236}">
                <a16:creationId xmlns:a16="http://schemas.microsoft.com/office/drawing/2014/main" id="{8B0584B4-C6C1-F822-3772-79FC00BC3672}"/>
              </a:ext>
            </a:extLst>
          </p:cNvPr>
          <p:cNvPicPr>
            <a:picLocks noChangeAspect="1"/>
          </p:cNvPicPr>
          <p:nvPr/>
        </p:nvPicPr>
        <p:blipFill>
          <a:blip r:embed="rId4"/>
          <a:stretch>
            <a:fillRect/>
          </a:stretch>
        </p:blipFill>
        <p:spPr>
          <a:xfrm>
            <a:off x="5543550" y="4174785"/>
            <a:ext cx="3600450" cy="2408577"/>
          </a:xfrm>
          <a:prstGeom prst="rect">
            <a:avLst/>
          </a:prstGeom>
        </p:spPr>
      </p:pic>
      <p:pic>
        <p:nvPicPr>
          <p:cNvPr id="7" name="Picture 6" descr="Automatic Cars - What Are They and How to Drive - ClickMechanic Blog">
            <a:extLst>
              <a:ext uri="{FF2B5EF4-FFF2-40B4-BE49-F238E27FC236}">
                <a16:creationId xmlns:a16="http://schemas.microsoft.com/office/drawing/2014/main" id="{1376BB81-552A-D833-A21D-9DF22A656764}"/>
              </a:ext>
            </a:extLst>
          </p:cNvPr>
          <p:cNvPicPr>
            <a:picLocks noChangeAspect="1"/>
          </p:cNvPicPr>
          <p:nvPr/>
        </p:nvPicPr>
        <p:blipFill>
          <a:blip r:embed="rId5"/>
          <a:stretch>
            <a:fillRect/>
          </a:stretch>
        </p:blipFill>
        <p:spPr>
          <a:xfrm>
            <a:off x="424543" y="3581400"/>
            <a:ext cx="4953000" cy="2786063"/>
          </a:xfrm>
          <a:prstGeom prst="rect">
            <a:avLst/>
          </a:prstGeom>
        </p:spPr>
      </p:pic>
    </p:spTree>
    <p:extLst>
      <p:ext uri="{BB962C8B-B14F-4D97-AF65-F5344CB8AC3E}">
        <p14:creationId xmlns:p14="http://schemas.microsoft.com/office/powerpoint/2010/main" val="10340719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FBFAF-09BA-7D52-EAC6-9C576AE487F2}"/>
              </a:ext>
            </a:extLst>
          </p:cNvPr>
          <p:cNvSpPr>
            <a:spLocks noGrp="1"/>
          </p:cNvSpPr>
          <p:nvPr>
            <p:ph type="title"/>
          </p:nvPr>
        </p:nvSpPr>
        <p:spPr/>
        <p:txBody>
          <a:bodyPr>
            <a:normAutofit fontScale="90000"/>
          </a:bodyPr>
          <a:lstStyle/>
          <a:p>
            <a:r>
              <a:rPr lang="en-IN" b="1" i="0" dirty="0">
                <a:solidFill>
                  <a:srgbClr val="242424"/>
                </a:solidFill>
                <a:effectLst/>
                <a:latin typeface="sohne"/>
              </a:rPr>
              <a:t>Designing for Error</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id="{4144F467-8A98-85BB-B304-538D917270E0}"/>
              </a:ext>
            </a:extLst>
          </p:cNvPr>
          <p:cNvSpPr>
            <a:spLocks noGrp="1"/>
          </p:cNvSpPr>
          <p:nvPr>
            <p:ph idx="1"/>
          </p:nvPr>
        </p:nvSpPr>
        <p:spPr>
          <a:xfrm>
            <a:off x="457200" y="1066800"/>
            <a:ext cx="8229600" cy="5059363"/>
          </a:xfrm>
        </p:spPr>
        <p:txBody>
          <a:bodyPr>
            <a:normAutofit lnSpcReduction="10000"/>
          </a:bodyPr>
          <a:lstStyle/>
          <a:p>
            <a:r>
              <a:rPr lang="en-US" dirty="0"/>
              <a:t>Acknowledging the inevitability of human error, the principle of designing for error encourages designers to adopt an anticipatory approach.</a:t>
            </a:r>
          </a:p>
          <a:p>
            <a:r>
              <a:rPr lang="en-US" dirty="0"/>
              <a:t>Assume errors will be made. Allow for recovery. Use forcing functions</a:t>
            </a:r>
          </a:p>
          <a:p>
            <a:r>
              <a:rPr lang="en-US" dirty="0"/>
              <a:t>Each user action is an attempt to a step in the right direction</a:t>
            </a:r>
          </a:p>
          <a:p>
            <a:r>
              <a:rPr lang="en-US" dirty="0"/>
              <a:t>An error is incompletely or improperly specified actions</a:t>
            </a:r>
            <a:endParaRPr lang="en-IN" dirty="0"/>
          </a:p>
        </p:txBody>
      </p:sp>
    </p:spTree>
    <p:extLst>
      <p:ext uri="{BB962C8B-B14F-4D97-AF65-F5344CB8AC3E}">
        <p14:creationId xmlns:p14="http://schemas.microsoft.com/office/powerpoint/2010/main" val="9516704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60BEA6-CB35-68FE-E84A-35EC587C9763}"/>
              </a:ext>
            </a:extLst>
          </p:cNvPr>
          <p:cNvSpPr>
            <a:spLocks noGrp="1"/>
          </p:cNvSpPr>
          <p:nvPr>
            <p:ph idx="1"/>
          </p:nvPr>
        </p:nvSpPr>
        <p:spPr>
          <a:xfrm>
            <a:off x="457200" y="457200"/>
            <a:ext cx="8229600" cy="5668963"/>
          </a:xfrm>
        </p:spPr>
        <p:txBody>
          <a:bodyPr>
            <a:normAutofit fontScale="92500" lnSpcReduction="20000"/>
          </a:bodyPr>
          <a:lstStyle/>
          <a:p>
            <a:r>
              <a:rPr lang="en-IN" dirty="0"/>
              <a:t>Design systems that </a:t>
            </a:r>
            <a:r>
              <a:rPr lang="en-IN" b="1" dirty="0"/>
              <a:t>prevent errors, detect mistakes, and allow users to recover easily</a:t>
            </a:r>
            <a:r>
              <a:rPr lang="en-IN" dirty="0"/>
              <a:t> when errors occur.</a:t>
            </a:r>
          </a:p>
          <a:p>
            <a:pPr marL="0" indent="0">
              <a:buNone/>
            </a:pPr>
            <a:r>
              <a:rPr lang="en-IN" b="1" dirty="0"/>
              <a:t>Example: Gmail – Undo Send</a:t>
            </a:r>
          </a:p>
          <a:p>
            <a:r>
              <a:rPr lang="en-IN" dirty="0"/>
              <a:t>After sending an email, Gmail displays an </a:t>
            </a:r>
            <a:r>
              <a:rPr lang="en-IN" b="1" dirty="0"/>
              <a:t>"Undo Send"</a:t>
            </a:r>
            <a:r>
              <a:rPr lang="en-IN" dirty="0"/>
              <a:t> option for a few seconds. </a:t>
            </a:r>
          </a:p>
          <a:p>
            <a:r>
              <a:rPr lang="en-IN" dirty="0"/>
              <a:t>If the user realizes a mistake (wrong recipient, typo, missing attachment), they can </a:t>
            </a:r>
            <a:r>
              <a:rPr lang="en-IN" b="1" dirty="0"/>
              <a:t>cancel the send</a:t>
            </a:r>
            <a:r>
              <a:rPr lang="en-IN" dirty="0"/>
              <a:t> before the email is delivered. </a:t>
            </a:r>
          </a:p>
          <a:p>
            <a:endParaRPr lang="en-IN" b="1" dirty="0"/>
          </a:p>
          <a:p>
            <a:r>
              <a:rPr lang="en-IN" b="1" dirty="0"/>
              <a:t>Good design assumes users will make mistakes and provides simple ways to prevent, correct, or recover from them.</a:t>
            </a:r>
            <a:endParaRPr lang="en-IN" dirty="0"/>
          </a:p>
          <a:p>
            <a:endParaRPr lang="en-IN" dirty="0"/>
          </a:p>
        </p:txBody>
      </p:sp>
    </p:spTree>
    <p:extLst>
      <p:ext uri="{BB962C8B-B14F-4D97-AF65-F5344CB8AC3E}">
        <p14:creationId xmlns:p14="http://schemas.microsoft.com/office/powerpoint/2010/main" val="42645776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8CB23-438B-AF3E-024A-EE859F68C2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0A412E-B281-D3FE-6EEA-D0163E087EFD}"/>
              </a:ext>
            </a:extLst>
          </p:cNvPr>
          <p:cNvSpPr>
            <a:spLocks noGrp="1"/>
          </p:cNvSpPr>
          <p:nvPr>
            <p:ph idx="1"/>
          </p:nvPr>
        </p:nvSpPr>
        <p:spPr/>
        <p:txBody>
          <a:bodyPr/>
          <a:lstStyle/>
          <a:p>
            <a:endParaRPr lang="en-IN"/>
          </a:p>
        </p:txBody>
      </p:sp>
      <p:pic>
        <p:nvPicPr>
          <p:cNvPr id="4" name="Picture 3" descr="How to Recover Files From External Hard Drive | 8 Methods">
            <a:extLst>
              <a:ext uri="{FF2B5EF4-FFF2-40B4-BE49-F238E27FC236}">
                <a16:creationId xmlns:a16="http://schemas.microsoft.com/office/drawing/2014/main" id="{B01DB63C-A918-E2E4-7D2A-8D0A355348F1}"/>
              </a:ext>
            </a:extLst>
          </p:cNvPr>
          <p:cNvPicPr>
            <a:picLocks noChangeAspect="1"/>
          </p:cNvPicPr>
          <p:nvPr/>
        </p:nvPicPr>
        <p:blipFill>
          <a:blip r:embed="rId2"/>
          <a:stretch>
            <a:fillRect/>
          </a:stretch>
        </p:blipFill>
        <p:spPr>
          <a:xfrm>
            <a:off x="381000" y="241981"/>
            <a:ext cx="3636597" cy="2669690"/>
          </a:xfrm>
          <a:prstGeom prst="rect">
            <a:avLst/>
          </a:prstGeom>
        </p:spPr>
      </p:pic>
      <p:pic>
        <p:nvPicPr>
          <p:cNvPr id="5" name="Picture 4" descr="How to Undo in Microsoft Word [Effortless Guide 2024]">
            <a:extLst>
              <a:ext uri="{FF2B5EF4-FFF2-40B4-BE49-F238E27FC236}">
                <a16:creationId xmlns:a16="http://schemas.microsoft.com/office/drawing/2014/main" id="{57C79ADC-889D-02E2-6AB5-158630ED3741}"/>
              </a:ext>
            </a:extLst>
          </p:cNvPr>
          <p:cNvPicPr>
            <a:picLocks noChangeAspect="1"/>
          </p:cNvPicPr>
          <p:nvPr/>
        </p:nvPicPr>
        <p:blipFill>
          <a:blip r:embed="rId3"/>
          <a:stretch>
            <a:fillRect/>
          </a:stretch>
        </p:blipFill>
        <p:spPr>
          <a:xfrm>
            <a:off x="4495800" y="2403217"/>
            <a:ext cx="4064572" cy="3867150"/>
          </a:xfrm>
          <a:prstGeom prst="rect">
            <a:avLst/>
          </a:prstGeom>
        </p:spPr>
      </p:pic>
    </p:spTree>
    <p:extLst>
      <p:ext uri="{BB962C8B-B14F-4D97-AF65-F5344CB8AC3E}">
        <p14:creationId xmlns:p14="http://schemas.microsoft.com/office/powerpoint/2010/main" val="23854119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FBFAF-09BA-7D52-EAC6-9C576AE487F2}"/>
              </a:ext>
            </a:extLst>
          </p:cNvPr>
          <p:cNvSpPr>
            <a:spLocks noGrp="1"/>
          </p:cNvSpPr>
          <p:nvPr>
            <p:ph type="title"/>
          </p:nvPr>
        </p:nvSpPr>
        <p:spPr/>
        <p:txBody>
          <a:bodyPr>
            <a:normAutofit fontScale="90000"/>
          </a:bodyPr>
          <a:lstStyle/>
          <a:p>
            <a:r>
              <a:rPr lang="en-IN" b="1" i="0" dirty="0">
                <a:solidFill>
                  <a:srgbClr val="242424"/>
                </a:solidFill>
                <a:effectLst/>
                <a:latin typeface="sohne"/>
              </a:rPr>
              <a:t>Designing for Error</a:t>
            </a:r>
            <a:br>
              <a:rPr lang="en-IN" b="1" i="0" dirty="0">
                <a:solidFill>
                  <a:srgbClr val="242424"/>
                </a:solidFill>
                <a:effectLst/>
                <a:latin typeface="sohne"/>
              </a:rPr>
            </a:br>
            <a:endParaRPr lang="en-IN" dirty="0"/>
          </a:p>
        </p:txBody>
      </p:sp>
      <p:pic>
        <p:nvPicPr>
          <p:cNvPr id="7" name="Picture 6">
            <a:extLst>
              <a:ext uri="{FF2B5EF4-FFF2-40B4-BE49-F238E27FC236}">
                <a16:creationId xmlns:a16="http://schemas.microsoft.com/office/drawing/2014/main" id="{E789AE5C-AC8F-73F4-F492-2EC535D41D14}"/>
              </a:ext>
            </a:extLst>
          </p:cNvPr>
          <p:cNvPicPr>
            <a:picLocks noChangeAspect="1"/>
          </p:cNvPicPr>
          <p:nvPr/>
        </p:nvPicPr>
        <p:blipFill>
          <a:blip r:embed="rId2"/>
          <a:stretch>
            <a:fillRect/>
          </a:stretch>
        </p:blipFill>
        <p:spPr>
          <a:xfrm>
            <a:off x="304800" y="990600"/>
            <a:ext cx="6778207" cy="3200400"/>
          </a:xfrm>
          <a:prstGeom prst="rect">
            <a:avLst/>
          </a:prstGeom>
        </p:spPr>
      </p:pic>
      <p:pic>
        <p:nvPicPr>
          <p:cNvPr id="9" name="Picture 8">
            <a:extLst>
              <a:ext uri="{FF2B5EF4-FFF2-40B4-BE49-F238E27FC236}">
                <a16:creationId xmlns:a16="http://schemas.microsoft.com/office/drawing/2014/main" id="{6FCBB24A-14A2-280B-CA5D-995C3A60A7D2}"/>
              </a:ext>
            </a:extLst>
          </p:cNvPr>
          <p:cNvPicPr>
            <a:picLocks noChangeAspect="1"/>
          </p:cNvPicPr>
          <p:nvPr/>
        </p:nvPicPr>
        <p:blipFill>
          <a:blip r:embed="rId3"/>
          <a:stretch>
            <a:fillRect/>
          </a:stretch>
        </p:blipFill>
        <p:spPr>
          <a:xfrm>
            <a:off x="5613242" y="2971800"/>
            <a:ext cx="3073558" cy="3454578"/>
          </a:xfrm>
          <a:prstGeom prst="rect">
            <a:avLst/>
          </a:prstGeom>
        </p:spPr>
      </p:pic>
    </p:spTree>
    <p:extLst>
      <p:ext uri="{BB962C8B-B14F-4D97-AF65-F5344CB8AC3E}">
        <p14:creationId xmlns:p14="http://schemas.microsoft.com/office/powerpoint/2010/main" val="18273968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EA474-CA53-E3F2-43E8-C5A906358474}"/>
              </a:ext>
            </a:extLst>
          </p:cNvPr>
          <p:cNvSpPr>
            <a:spLocks noGrp="1"/>
          </p:cNvSpPr>
          <p:nvPr>
            <p:ph type="title"/>
          </p:nvPr>
        </p:nvSpPr>
        <p:spPr/>
        <p:txBody>
          <a:bodyPr/>
          <a:lstStyle/>
          <a:p>
            <a:r>
              <a:rPr lang="en-US" dirty="0"/>
              <a:t>When All Fails, Standardize</a:t>
            </a:r>
            <a:endParaRPr lang="en-IN" dirty="0"/>
          </a:p>
        </p:txBody>
      </p:sp>
      <p:sp>
        <p:nvSpPr>
          <p:cNvPr id="3" name="Content Placeholder 2">
            <a:extLst>
              <a:ext uri="{FF2B5EF4-FFF2-40B4-BE49-F238E27FC236}">
                <a16:creationId xmlns:a16="http://schemas.microsoft.com/office/drawing/2014/main" id="{A2478BF4-B984-2F58-BDDD-18B7699A0430}"/>
              </a:ext>
            </a:extLst>
          </p:cNvPr>
          <p:cNvSpPr>
            <a:spLocks noGrp="1"/>
          </p:cNvSpPr>
          <p:nvPr>
            <p:ph idx="1"/>
          </p:nvPr>
        </p:nvSpPr>
        <p:spPr/>
        <p:txBody>
          <a:bodyPr>
            <a:normAutofit fontScale="92500" lnSpcReduction="20000"/>
          </a:bodyPr>
          <a:lstStyle/>
          <a:p>
            <a:r>
              <a:rPr lang="en-US" dirty="0"/>
              <a:t>Standardize the problem and processes, so arbitrary mappings only have to be learned once</a:t>
            </a:r>
          </a:p>
          <a:p>
            <a:r>
              <a:rPr lang="en-US" dirty="0"/>
              <a:t>It maybe difficult to obtain an agreement, early enough to save trouble later on, and late enough to take into account of the existing technologies and procedures</a:t>
            </a:r>
          </a:p>
          <a:p>
            <a:r>
              <a:rPr lang="en-US" dirty="0"/>
              <a:t>Standardization is only essential when all necessary information cannot be placed in the world or when normal mapping cannot be exploited</a:t>
            </a:r>
          </a:p>
          <a:p>
            <a:r>
              <a:rPr lang="en-US" dirty="0"/>
              <a:t>Users must be trained for this</a:t>
            </a:r>
            <a:endParaRPr lang="en-IN" dirty="0"/>
          </a:p>
        </p:txBody>
      </p:sp>
    </p:spTree>
    <p:extLst>
      <p:ext uri="{BB962C8B-B14F-4D97-AF65-F5344CB8AC3E}">
        <p14:creationId xmlns:p14="http://schemas.microsoft.com/office/powerpoint/2010/main" val="539641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2931</TotalTime>
  <Words>3783</Words>
  <Application>Microsoft Office PowerPoint</Application>
  <PresentationFormat>On-screen Show (4:3)</PresentationFormat>
  <Paragraphs>395</Paragraphs>
  <Slides>63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sohne</vt:lpstr>
      <vt:lpstr>source-serif-pro</vt:lpstr>
      <vt:lpstr>Office Theme</vt:lpstr>
      <vt:lpstr>User Interface Principles , Guidelines and Theories</vt:lpstr>
      <vt:lpstr>Principle 1  : Recognize User Diversity</vt:lpstr>
      <vt:lpstr>Three classes of usage </vt:lpstr>
      <vt:lpstr>Cont..</vt:lpstr>
      <vt:lpstr>Cont..</vt:lpstr>
      <vt:lpstr>Task profiles and user-needs assessment</vt:lpstr>
      <vt:lpstr>Task profiles and user-needs assessment (cont..) </vt:lpstr>
      <vt:lpstr>PowerPoint Presentation</vt:lpstr>
      <vt:lpstr>Principle 1 (cont..)</vt:lpstr>
      <vt:lpstr>Direct manipulation </vt:lpstr>
      <vt:lpstr>Menu selection </vt:lpstr>
      <vt:lpstr>Form fill-in </vt:lpstr>
      <vt:lpstr>Spreadsheets</vt:lpstr>
      <vt:lpstr>Command language </vt:lpstr>
      <vt:lpstr>Natural language</vt:lpstr>
      <vt:lpstr>Question/answer interfaces </vt:lpstr>
      <vt:lpstr>Question/answer interfaces </vt:lpstr>
      <vt:lpstr>Metaphors</vt:lpstr>
      <vt:lpstr>Metaphors</vt:lpstr>
      <vt:lpstr>Metaphors</vt:lpstr>
      <vt:lpstr>Skeuomorphism</vt:lpstr>
      <vt:lpstr>Web Navigation</vt:lpstr>
      <vt:lpstr>Web Navigation</vt:lpstr>
      <vt:lpstr>3D Environments</vt:lpstr>
      <vt:lpstr>3D Environments</vt:lpstr>
      <vt:lpstr>3D Environments</vt:lpstr>
      <vt:lpstr>Zoomable Interface</vt:lpstr>
      <vt:lpstr>Zoomable Interface</vt:lpstr>
      <vt:lpstr>Principle 2: Use the Eight Golden Rules of Interface Design</vt:lpstr>
      <vt:lpstr>Strive for consistency</vt:lpstr>
      <vt:lpstr>Enable frequent users to use shortcuts</vt:lpstr>
      <vt:lpstr>Offer informative feedback</vt:lpstr>
      <vt:lpstr>Design dialogs to yield closure</vt:lpstr>
      <vt:lpstr>Prevent errors</vt:lpstr>
      <vt:lpstr>Permit easy reversal of actions</vt:lpstr>
      <vt:lpstr>Support internal locus of control</vt:lpstr>
      <vt:lpstr>Reduce short-term memory load</vt:lpstr>
      <vt:lpstr>Principle 3: Prevent Errors</vt:lpstr>
      <vt:lpstr>Guidelines for Data Display</vt:lpstr>
      <vt:lpstr>Cont..</vt:lpstr>
      <vt:lpstr>Guidelines for Data Entry</vt:lpstr>
      <vt:lpstr>Balance of Automation and Human Control</vt:lpstr>
      <vt:lpstr>Norman’s Seven Principles </vt:lpstr>
      <vt:lpstr>Norman’s Seven Principles </vt:lpstr>
      <vt:lpstr>Use both knowledge in world &amp; in the head. </vt:lpstr>
      <vt:lpstr>PowerPoint Presentation</vt:lpstr>
      <vt:lpstr>Use both knowledge in world &amp; in the head. </vt:lpstr>
      <vt:lpstr>Simplify task structures.</vt:lpstr>
      <vt:lpstr>PowerPoint Presentation</vt:lpstr>
      <vt:lpstr>Make things visible.</vt:lpstr>
      <vt:lpstr>PowerPoint Presentation</vt:lpstr>
      <vt:lpstr>PowerPoint Presentation</vt:lpstr>
      <vt:lpstr>Get the mapping right</vt:lpstr>
      <vt:lpstr>PowerPoint Presentation</vt:lpstr>
      <vt:lpstr>Get the mapping right</vt:lpstr>
      <vt:lpstr>Convert constrains into advantages</vt:lpstr>
      <vt:lpstr>PowerPoint Presentation</vt:lpstr>
      <vt:lpstr>PowerPoint Presentation</vt:lpstr>
      <vt:lpstr>Designing for Error </vt:lpstr>
      <vt:lpstr>PowerPoint Presentation</vt:lpstr>
      <vt:lpstr>PowerPoint Presentation</vt:lpstr>
      <vt:lpstr>Designing for Error </vt:lpstr>
      <vt:lpstr>When All Fails, Standardize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Interface Principles , Guidelines and Theories</dc:title>
  <dc:creator>Administrator</dc:creator>
  <cp:lastModifiedBy>Prassanna J</cp:lastModifiedBy>
  <cp:revision>69</cp:revision>
  <dcterms:created xsi:type="dcterms:W3CDTF">2014-07-18T06:27:24Z</dcterms:created>
  <dcterms:modified xsi:type="dcterms:W3CDTF">2026-07-20T10:16:20Z</dcterms:modified>
</cp:coreProperties>
</file>