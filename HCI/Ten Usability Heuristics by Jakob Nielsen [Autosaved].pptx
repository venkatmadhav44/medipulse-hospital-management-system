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  <p:sldId id="262" r:id="rId12"/>
    <p:sldId id="272" r:id="rId13"/>
    <p:sldId id="273" r:id="rId14"/>
    <p:sldId id="263" r:id="rId15"/>
    <p:sldId id="274" r:id="rId16"/>
    <p:sldId id="264" r:id="rId17"/>
    <p:sldId id="275" r:id="rId18"/>
    <p:sldId id="265" r:id="rId19"/>
    <p:sldId id="276" r:id="rId20"/>
    <p:sldId id="266" r:id="rId21"/>
    <p:sldId id="277" r:id="rId22"/>
    <p:sldId id="267" r:id="rId23"/>
    <p:sldId id="26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59" d="100"/>
          <a:sy n="59" d="100"/>
        </p:scale>
        <p:origin x="15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9603B-C1EE-409C-BFF8-6D767B108546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FCF8B-B91A-458B-BD5C-E7E17DC0D5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Ten Usability Heuristics by </a:t>
            </a:r>
            <a:r>
              <a:rPr lang="en-US" dirty="0" err="1"/>
              <a:t>Jakob</a:t>
            </a:r>
            <a:r>
              <a:rPr lang="en-US" dirty="0"/>
              <a:t> Nielsen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A16F-1D44-2A07-8742-ABCFF0EA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56ED-CDB4-FA18-4237-4FAA488D6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Usability heuristics are general principles or best practices used in user interface (UI) and user experience (UX) design to ensure that a system is easy to use, efficient, and user-friendly. </a:t>
            </a:r>
          </a:p>
          <a:p>
            <a:r>
              <a:rPr lang="en-US" dirty="0"/>
              <a:t>These heuristics help designers evaluate and improve the usability of interfaces.</a:t>
            </a:r>
          </a:p>
          <a:p>
            <a:r>
              <a:rPr lang="en-US" dirty="0"/>
              <a:t>One of the most well-known sets of usability heuristics is </a:t>
            </a:r>
            <a:r>
              <a:rPr lang="en-US" b="1" dirty="0"/>
              <a:t>Jakob Nielsen's 10 Usability Heuristics for User Interface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35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https://www.datocms-assets.com/16499/1644183188-usability-heuristics.png?auto=format&amp;dpr=0.21&amp;w=384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8643207" cy="4857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Jakob Nielsen's 10 Usability Heuristics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1: Visibility of System Status</a:t>
            </a:r>
          </a:p>
          <a:p>
            <a:pPr>
              <a:buNone/>
            </a:pPr>
            <a:r>
              <a:rPr lang="en-US" dirty="0"/>
              <a:t>2: Match Between the System and the Real World</a:t>
            </a:r>
          </a:p>
          <a:p>
            <a:pPr>
              <a:buNone/>
            </a:pPr>
            <a:r>
              <a:rPr lang="en-US" dirty="0"/>
              <a:t>3: User Control and Freedom</a:t>
            </a:r>
          </a:p>
          <a:p>
            <a:pPr>
              <a:buNone/>
            </a:pPr>
            <a:r>
              <a:rPr lang="en-US" dirty="0"/>
              <a:t>4: Consistency and Standards</a:t>
            </a:r>
          </a:p>
          <a:p>
            <a:pPr>
              <a:buNone/>
            </a:pPr>
            <a:r>
              <a:rPr lang="en-US" dirty="0"/>
              <a:t>5: Error Prevention</a:t>
            </a:r>
          </a:p>
          <a:p>
            <a:pPr>
              <a:buNone/>
            </a:pPr>
            <a:r>
              <a:rPr lang="en-US" dirty="0"/>
              <a:t>6: Recognition Rather than Recall</a:t>
            </a:r>
          </a:p>
          <a:p>
            <a:pPr>
              <a:buNone/>
            </a:pPr>
            <a:r>
              <a:rPr lang="en-US" dirty="0"/>
              <a:t>7: Flexibility and Efficiency of Use</a:t>
            </a:r>
          </a:p>
          <a:p>
            <a:pPr>
              <a:buNone/>
            </a:pPr>
            <a:r>
              <a:rPr lang="en-US" dirty="0"/>
              <a:t>8: Aesthetic and Minimalist Design</a:t>
            </a:r>
          </a:p>
          <a:p>
            <a:pPr>
              <a:buNone/>
            </a:pPr>
            <a:r>
              <a:rPr lang="en-US" dirty="0"/>
              <a:t>9: Help Users Recognize, Diagnose, and Recover from Errors</a:t>
            </a:r>
          </a:p>
          <a:p>
            <a:pPr>
              <a:buNone/>
            </a:pPr>
            <a:r>
              <a:rPr lang="en-US" dirty="0"/>
              <a:t>10: Help and Documentation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Visibility of System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design should always keep users informed about what is going on, through appropriate feedback within a reasonable amount of time.</a:t>
            </a:r>
          </a:p>
          <a:p>
            <a:r>
              <a:rPr lang="en-US" dirty="0"/>
              <a:t>When users know the current system status, they learn the outcome of their prior interactions and determine next steps. </a:t>
            </a:r>
          </a:p>
          <a:p>
            <a:r>
              <a:rPr lang="en-US" dirty="0"/>
              <a:t>Predictable interactions create trust in the product as well as the brand.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Visibility of System Status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4876464" cy="425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500694" y="2214554"/>
            <a:ext cx="335758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Communicate clearly to users what the system’s state is — no action with consequences to users should be taken without informing them.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Present feedback to the user as quickly as possible (ideally, immediately).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Build trust through open and continuous communication.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Match between system and the real world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system should speak the users' language, with words, phrases and concepts familiar to the user, rather than system-oriented terms. </a:t>
            </a:r>
          </a:p>
          <a:p>
            <a:r>
              <a:rPr lang="en-US" dirty="0"/>
              <a:t>Follow real-world conventions, making information appear in a natural and logical order</a:t>
            </a:r>
          </a:p>
          <a:p>
            <a:r>
              <a:rPr lang="en-US" dirty="0"/>
              <a:t>The way you should design depends very much on your specific users. </a:t>
            </a:r>
          </a:p>
          <a:p>
            <a:r>
              <a:rPr lang="en-US" dirty="0"/>
              <a:t>Terms, concepts, icons, and images that seem perfectly clear to you and your colleagues may be unfamiliar or confusing to your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Match between system and the real world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600200"/>
            <a:ext cx="8143932" cy="26860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Ensure that users can understand meaning without having to go look up a word’s definition.</a:t>
            </a:r>
          </a:p>
          <a:p>
            <a:r>
              <a:rPr lang="en-US" dirty="0"/>
              <a:t>Never assume your understanding of words or concepts will match that of your users.</a:t>
            </a:r>
          </a:p>
          <a:p>
            <a:r>
              <a:rPr lang="en-US" dirty="0"/>
              <a:t>User research will uncover your users' familiar terminology, as well as their mental models around important concepts.</a:t>
            </a:r>
          </a:p>
          <a:p>
            <a:endParaRPr lang="en-US" dirty="0"/>
          </a:p>
        </p:txBody>
      </p:sp>
      <p:pic>
        <p:nvPicPr>
          <p:cNvPr id="7170" name="Picture 2" descr="https://miro.medium.com/v2/resize:fit:700/1*xynOsFh0VB5xzrZQhilgD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500546"/>
            <a:ext cx="4188369" cy="23574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control and freedom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525963"/>
          </a:xfrm>
        </p:spPr>
        <p:txBody>
          <a:bodyPr/>
          <a:lstStyle/>
          <a:p>
            <a:r>
              <a:rPr lang="en-US" dirty="0"/>
              <a:t>Users often choose system functions by mistake and will need a clearly marked "emergency exit" to leave the unwanted state without having to go through an extended dialogue. </a:t>
            </a:r>
          </a:p>
          <a:p>
            <a:r>
              <a:rPr lang="en-US" dirty="0"/>
              <a:t>Support undo and redo.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92896" y="4357694"/>
            <a:ext cx="3922470" cy="2371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4286257"/>
            <a:ext cx="3756764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control and freedom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 </a:t>
            </a:r>
            <a:r>
              <a:rPr lang="en-US" i="1" dirty="0"/>
              <a:t>Undo</a:t>
            </a:r>
            <a:r>
              <a:rPr lang="en-US" dirty="0"/>
              <a:t> and </a:t>
            </a:r>
            <a:r>
              <a:rPr lang="en-US" i="1" dirty="0"/>
              <a:t>Redo</a:t>
            </a:r>
            <a:r>
              <a:rPr lang="en-US" dirty="0"/>
              <a:t>.</a:t>
            </a:r>
          </a:p>
          <a:p>
            <a:r>
              <a:rPr lang="en-US" dirty="0"/>
              <a:t>Show a clear way to exit the current interaction, like a Cancel button.</a:t>
            </a:r>
          </a:p>
          <a:p>
            <a:r>
              <a:rPr lang="en-US" dirty="0"/>
              <a:t>Make sure the exit is clearly labeled and discoverable.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429132"/>
            <a:ext cx="372343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4714884"/>
            <a:ext cx="4500562" cy="1301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Consistency and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should not have to wonder whether different words, situations, or actions mean the same thing. Follow platform conventions.</a:t>
            </a:r>
          </a:p>
          <a:p>
            <a:r>
              <a:rPr lang="en-US" dirty="0"/>
              <a:t>Failing to maintain consistency may increase the users' cognitive load by forcing them to learn something new.</a:t>
            </a:r>
          </a:p>
          <a:p>
            <a:r>
              <a:rPr lang="en-US" dirty="0"/>
              <a:t>Improve </a:t>
            </a:r>
            <a:r>
              <a:rPr lang="en-US" dirty="0" err="1"/>
              <a:t>learnability</a:t>
            </a:r>
            <a:r>
              <a:rPr lang="en-US" dirty="0"/>
              <a:t> by maintaining both types of consistency: internal and external.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Consistency and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85860"/>
            <a:ext cx="8229600" cy="4525963"/>
          </a:xfrm>
        </p:spPr>
        <p:txBody>
          <a:bodyPr/>
          <a:lstStyle/>
          <a:p>
            <a:r>
              <a:rPr lang="en-US" dirty="0"/>
              <a:t>Internal consistency relates to consistency within a product or a family of products, either within a single application or across a family or suite of applications.</a:t>
            </a:r>
          </a:p>
        </p:txBody>
      </p:sp>
      <p:pic>
        <p:nvPicPr>
          <p:cNvPr id="29698" name="Picture 2" descr="Microsoft Office ribbon of tools for Word, Excel, and PowerPoint, displaying text contro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3286124"/>
            <a:ext cx="6491458" cy="1785928"/>
          </a:xfrm>
          <a:prstGeom prst="rect">
            <a:avLst/>
          </a:prstGeom>
          <a:noFill/>
        </p:spPr>
      </p:pic>
      <p:pic>
        <p:nvPicPr>
          <p:cNvPr id="29702" name="Picture 6" descr="Google's application icons, before and af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60" y="4946200"/>
            <a:ext cx="2981289" cy="191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Consistency and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525963"/>
          </a:xfrm>
        </p:spPr>
        <p:txBody>
          <a:bodyPr/>
          <a:lstStyle/>
          <a:p>
            <a:r>
              <a:rPr lang="en-US" dirty="0"/>
              <a:t>External consistency refers to established conventions in an industry or on the web at large, beyond one application or family of applications.</a:t>
            </a:r>
          </a:p>
        </p:txBody>
      </p:sp>
      <p:pic>
        <p:nvPicPr>
          <p:cNvPr id="30722" name="Picture 2" descr="Toolbars of four websites highlighting search, account information, and shopping cart access: IKEA, Target, Etsy, Graing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500438"/>
            <a:ext cx="7381302" cy="3232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34004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Minimize the likelihood of making mistakes</a:t>
            </a:r>
          </a:p>
          <a:p>
            <a:r>
              <a:rPr lang="en-US" dirty="0"/>
              <a:t>Good error messages are important, but the best designs carefully prevent problems from occurring in the first place. </a:t>
            </a:r>
          </a:p>
          <a:p>
            <a:r>
              <a:rPr lang="en-US" dirty="0"/>
              <a:t>Either eliminate error-prone conditions, or check for them and present users with a confirmation option before they commit to the action.</a:t>
            </a: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7604" y="4429132"/>
            <a:ext cx="4304456" cy="21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500570"/>
            <a:ext cx="2062479" cy="2000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4414446"/>
            <a:ext cx="1743079" cy="2443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3"/>
            <a:ext cx="8572560" cy="17859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Prioritize your effort: Prevent high-cost errors first, then little frustrations.</a:t>
            </a:r>
          </a:p>
          <a:p>
            <a:r>
              <a:rPr lang="en-US" dirty="0"/>
              <a:t>Avoid slips by providing helpful constraints and good defaults.</a:t>
            </a:r>
          </a:p>
          <a:p>
            <a:r>
              <a:rPr lang="en-US" dirty="0"/>
              <a:t>Prevent mistakes by removing memory burdens, supporting undo, and warning your users.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3143248"/>
            <a:ext cx="33909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214686"/>
            <a:ext cx="490537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Recognition rather than recall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401080" cy="27146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Minimize the user's memory load by making elements, actions, and options visible. </a:t>
            </a:r>
          </a:p>
          <a:p>
            <a:r>
              <a:rPr lang="en-US" dirty="0"/>
              <a:t>The user should not have to remember information from one part of the interface to another. </a:t>
            </a:r>
          </a:p>
          <a:p>
            <a:r>
              <a:rPr lang="en-US" dirty="0"/>
              <a:t>Information required to use the design (e.g. field labels or menu items) should be visible or easily retrievable when needed.</a:t>
            </a: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3714752"/>
            <a:ext cx="3439810" cy="290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929066"/>
            <a:ext cx="4429156" cy="2690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Recognition rather than recall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2"/>
            <a:ext cx="8043890" cy="161448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Let people recognize information in the interface, rather than forcing them to remember (“recall”) it.</a:t>
            </a:r>
          </a:p>
          <a:p>
            <a:r>
              <a:rPr lang="en-US" dirty="0"/>
              <a:t>Offer help in context, instead of giving users a long tutorial to memorize.</a:t>
            </a:r>
          </a:p>
          <a:p>
            <a:r>
              <a:rPr lang="en-US" dirty="0"/>
              <a:t>Reduce the information that users have to remember.</a:t>
            </a:r>
          </a:p>
        </p:txBody>
      </p:sp>
      <p:pic>
        <p:nvPicPr>
          <p:cNvPr id="32770" name="Picture 2" descr="https://public-images.interaction-design.org/tags/Screenshot%202023-06-30%20at%2019.49.3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928934"/>
            <a:ext cx="4285172" cy="1928825"/>
          </a:xfrm>
          <a:prstGeom prst="rect">
            <a:avLst/>
          </a:prstGeom>
          <a:noFill/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29722" y="2928934"/>
            <a:ext cx="448571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4929198"/>
            <a:ext cx="2686053" cy="174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Flexibility and efficiency of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329642" cy="27574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Shortcuts — hidden from novice users — may speed up the interaction for the expert user so that the design can cater to both inexperienced and experienced users. Allow users to tailor frequent actions.</a:t>
            </a:r>
          </a:p>
          <a:p>
            <a:r>
              <a:rPr lang="en-US" dirty="0"/>
              <a:t>Flexible processes can be carried out in different ways, so that people can pick whichever method works for them.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00438"/>
            <a:ext cx="30194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3786190"/>
            <a:ext cx="489585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Flexibility and efficiency of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 accelerators like keyboard shortcuts and touch gestures.</a:t>
            </a:r>
          </a:p>
          <a:p>
            <a:r>
              <a:rPr lang="en-US" dirty="0"/>
              <a:t>Provide personalization by tailoring content and functionality for individual users.</a:t>
            </a:r>
          </a:p>
          <a:p>
            <a:r>
              <a:rPr lang="en-US" dirty="0"/>
              <a:t>Allow for customization, so users can make selections about how they want the product to work.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3286124"/>
            <a:ext cx="20574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 aesthetic and minimalist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1"/>
            <a:ext cx="8229600" cy="2500330"/>
          </a:xfrm>
        </p:spPr>
        <p:txBody>
          <a:bodyPr>
            <a:normAutofit fontScale="92500"/>
          </a:bodyPr>
          <a:lstStyle/>
          <a:p>
            <a:r>
              <a:rPr lang="en-US" dirty="0"/>
              <a:t>Interfaces should not contain information that is irrelevant or rarely needed. </a:t>
            </a:r>
          </a:p>
          <a:p>
            <a:r>
              <a:rPr lang="en-US" dirty="0"/>
              <a:t>Every extra unit of information in an interface competes with the relevant units of information and diminishes their relative visibility.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357694"/>
            <a:ext cx="331470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3786190"/>
            <a:ext cx="1647828" cy="2851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 aesthetic and minimalist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 content and visual design of UI focused on the essentials.</a:t>
            </a:r>
          </a:p>
          <a:p>
            <a:r>
              <a:rPr lang="en-US" dirty="0"/>
              <a:t>Don't let unnecessary elements distract users from the information they really need.</a:t>
            </a:r>
          </a:p>
          <a:p>
            <a:r>
              <a:rPr lang="en-US" dirty="0"/>
              <a:t>Prioritize the content and features to support primary goals.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Help users recognize, diagnose, and recover from errors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58204" cy="168592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Error messages should be expressed in plain language (no error codes), precisely indicate the problem, and constructively suggest a solution.</a:t>
            </a:r>
          </a:p>
          <a:p>
            <a:r>
              <a:rPr lang="en-US" dirty="0"/>
              <a:t>These error messages should also be presented with visual treatments that will help users notice and recognize them.</a:t>
            </a:r>
          </a:p>
        </p:txBody>
      </p:sp>
      <p:pic>
        <p:nvPicPr>
          <p:cNvPr id="9218" name="Picture 2" descr="https://alliescomputing.com/cms-admin/resources/uh-error-recover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643314"/>
            <a:ext cx="3214678" cy="1234574"/>
          </a:xfrm>
          <a:prstGeom prst="rect">
            <a:avLst/>
          </a:prstGeom>
          <a:noFill/>
        </p:spPr>
      </p:pic>
      <p:pic>
        <p:nvPicPr>
          <p:cNvPr id="9220" name="Picture 4" descr="https://miro.medium.com/v2/resize:fit:1400/0*Fv3rWU783F4M911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2" y="3500438"/>
            <a:ext cx="3643338" cy="24592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Help and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29642" cy="297180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It’s best if the system doesn’t need any additional explanation. However, it may be necessary to provide documentation to help users understand how to complete their tasks.</a:t>
            </a:r>
          </a:p>
          <a:p>
            <a:r>
              <a:rPr lang="en-US" dirty="0"/>
              <a:t>Help and documentation content should be easy to search and focused on the user's task. Keep it concise, and list concrete steps that need to be carried out.</a:t>
            </a:r>
          </a:p>
          <a:p>
            <a:endParaRPr lang="en-US" dirty="0"/>
          </a:p>
        </p:txBody>
      </p:sp>
      <p:pic>
        <p:nvPicPr>
          <p:cNvPr id="8194" name="Picture 2" descr="https://media.nngroup.com/media/editor/2020/11/12/oreill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826" y="4714884"/>
            <a:ext cx="2289436" cy="1863431"/>
          </a:xfrm>
          <a:prstGeom prst="rect">
            <a:avLst/>
          </a:prstGeom>
          <a:noFill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714884"/>
            <a:ext cx="576237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1094</Words>
  <Application>Microsoft Office PowerPoint</Application>
  <PresentationFormat>On-screen Show (4:3)</PresentationFormat>
  <Paragraphs>85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Ten Usability Heuristics by Jakob Nielsen</vt:lpstr>
      <vt:lpstr>Introduction</vt:lpstr>
      <vt:lpstr>PowerPoint Presentation</vt:lpstr>
      <vt:lpstr>Jakob Nielsen's 10 Usability Heuristics</vt:lpstr>
      <vt:lpstr>Visibility of System Status</vt:lpstr>
      <vt:lpstr>Visibility of System Status</vt:lpstr>
      <vt:lpstr>Match between system and the real world </vt:lpstr>
      <vt:lpstr>Match between system and the real world </vt:lpstr>
      <vt:lpstr>User control and freedom</vt:lpstr>
      <vt:lpstr>User control and freedom</vt:lpstr>
      <vt:lpstr>Consistency and standard</vt:lpstr>
      <vt:lpstr>Consistency and standard</vt:lpstr>
      <vt:lpstr>Consistency and standard</vt:lpstr>
      <vt:lpstr>Error prevention</vt:lpstr>
      <vt:lpstr>Error prevention</vt:lpstr>
      <vt:lpstr>Recognition rather than recall</vt:lpstr>
      <vt:lpstr>Recognition rather than recall</vt:lpstr>
      <vt:lpstr>Flexibility and efficiency of use</vt:lpstr>
      <vt:lpstr>Flexibility and efficiency of use</vt:lpstr>
      <vt:lpstr>An aesthetic and minimalist design</vt:lpstr>
      <vt:lpstr>An aesthetic and minimalist design</vt:lpstr>
      <vt:lpstr>Help users recognize, diagnose, and recover from errors </vt:lpstr>
      <vt:lpstr>Help and 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 Usability Heuristics by Jakob Nielsen</dc:title>
  <dc:creator>Personal</dc:creator>
  <cp:lastModifiedBy>prassanna jayachandran</cp:lastModifiedBy>
  <cp:revision>7</cp:revision>
  <dcterms:created xsi:type="dcterms:W3CDTF">2024-03-04T10:02:11Z</dcterms:created>
  <dcterms:modified xsi:type="dcterms:W3CDTF">2025-03-07T09:41:23Z</dcterms:modified>
</cp:coreProperties>
</file>