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84" r:id="rId13"/>
    <p:sldId id="268" r:id="rId14"/>
    <p:sldId id="269" r:id="rId15"/>
    <p:sldId id="270" r:id="rId16"/>
    <p:sldId id="278" r:id="rId17"/>
    <p:sldId id="271" r:id="rId18"/>
    <p:sldId id="272" r:id="rId19"/>
    <p:sldId id="273" r:id="rId20"/>
    <p:sldId id="274" r:id="rId21"/>
    <p:sldId id="275" r:id="rId22"/>
    <p:sldId id="276" r:id="rId23"/>
    <p:sldId id="277" r:id="rId24"/>
    <p:sldId id="279" r:id="rId25"/>
    <p:sldId id="280" r:id="rId26"/>
    <p:sldId id="281" r:id="rId27"/>
    <p:sldId id="282" r:id="rId28"/>
    <p:sldId id="28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52" d="100"/>
          <a:sy n="52" d="100"/>
        </p:scale>
        <p:origin x="-1020"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F5FD63D-47D2-45FF-B0C9-7F086C399117}"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069282-F7E0-41C7-8844-CFD290358F1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5FD63D-47D2-45FF-B0C9-7F086C399117}"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069282-F7E0-41C7-8844-CFD290358F1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F5FD63D-47D2-45FF-B0C9-7F086C399117}"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069282-F7E0-41C7-8844-CFD290358F1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F5FD63D-47D2-45FF-B0C9-7F086C399117}" type="datetimeFigureOut">
              <a:rPr lang="en-US" smtClean="0"/>
              <a:pPr/>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069282-F7E0-41C7-8844-CFD290358F1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F5FD63D-47D2-45FF-B0C9-7F086C399117}" type="datetimeFigureOut">
              <a:rPr lang="en-US" smtClean="0"/>
              <a:pPr/>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069282-F7E0-41C7-8844-CFD290358F1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F5FD63D-47D2-45FF-B0C9-7F086C399117}" type="datetimeFigureOut">
              <a:rPr lang="en-US" smtClean="0"/>
              <a:pPr/>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069282-F7E0-41C7-8844-CFD290358F1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5FD63D-47D2-45FF-B0C9-7F086C399117}" type="datetimeFigureOut">
              <a:rPr lang="en-US" smtClean="0"/>
              <a:pPr/>
              <a:t>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069282-F7E0-41C7-8844-CFD290358F1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5FD63D-47D2-45FF-B0C9-7F086C399117}" type="datetimeFigureOut">
              <a:rPr lang="en-US" smtClean="0"/>
              <a:pPr/>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069282-F7E0-41C7-8844-CFD290358F1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5FD63D-47D2-45FF-B0C9-7F086C399117}" type="datetimeFigureOut">
              <a:rPr lang="en-US" smtClean="0"/>
              <a:pPr/>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069282-F7E0-41C7-8844-CFD290358F1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5FD63D-47D2-45FF-B0C9-7F086C399117}"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069282-F7E0-41C7-8844-CFD290358F1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5FD63D-47D2-45FF-B0C9-7F086C399117}" type="datetimeFigureOut">
              <a:rPr lang="en-US" smtClean="0"/>
              <a:pPr/>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069282-F7E0-41C7-8844-CFD290358F1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5FD63D-47D2-45FF-B0C9-7F086C399117}" type="datetimeFigureOut">
              <a:rPr lang="en-US" smtClean="0"/>
              <a:pPr/>
              <a:t>1/22/2024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069282-F7E0-41C7-8844-CFD290358F1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Module_2</a:t>
            </a:r>
            <a:endParaRPr lang="en-US" dirty="0"/>
          </a:p>
        </p:txBody>
      </p:sp>
      <p:sp>
        <p:nvSpPr>
          <p:cNvPr id="3" name="Subtitle 2"/>
          <p:cNvSpPr>
            <a:spLocks noGrp="1"/>
          </p:cNvSpPr>
          <p:nvPr>
            <p:ph type="subTitle" idx="1"/>
          </p:nvPr>
        </p:nvSpPr>
        <p:spPr/>
        <p:txBody>
          <a:bodyPr/>
          <a:lstStyle/>
          <a:p>
            <a:r>
              <a:rPr lang="en-US" dirty="0" smtClean="0"/>
              <a:t>HUMAN FACTORS AS HCI THEORIES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HUMAN INFORMATION PROCESSING</a:t>
            </a:r>
            <a:endParaRPr lang="en-US" dirty="0"/>
          </a:p>
        </p:txBody>
      </p:sp>
      <p:sp>
        <p:nvSpPr>
          <p:cNvPr id="3" name="Content Placeholder 2"/>
          <p:cNvSpPr>
            <a:spLocks noGrp="1"/>
          </p:cNvSpPr>
          <p:nvPr>
            <p:ph idx="1"/>
          </p:nvPr>
        </p:nvSpPr>
        <p:spPr/>
        <p:txBody>
          <a:bodyPr/>
          <a:lstStyle/>
          <a:p>
            <a:r>
              <a:rPr lang="en-US" dirty="0"/>
              <a:t>T</a:t>
            </a:r>
            <a:r>
              <a:rPr lang="en-US" dirty="0" smtClean="0"/>
              <a:t>wo basic elements to design an effective interface </a:t>
            </a:r>
          </a:p>
          <a:p>
            <a:pPr lvl="1"/>
            <a:r>
              <a:rPr lang="en-US" dirty="0" smtClean="0"/>
              <a:t>an understanding of </a:t>
            </a:r>
          </a:p>
          <a:p>
            <a:pPr marL="1371600" lvl="2" indent="-457200">
              <a:buFont typeface="+mj-lt"/>
              <a:buAutoNum type="arabicPeriod"/>
            </a:pPr>
            <a:r>
              <a:rPr lang="en-US" dirty="0" smtClean="0"/>
              <a:t>computer factors (software/hardware)</a:t>
            </a:r>
          </a:p>
          <a:p>
            <a:pPr marL="1371600" lvl="2" indent="-457200">
              <a:buFont typeface="+mj-lt"/>
              <a:buAutoNum type="arabicPeriod"/>
            </a:pPr>
            <a:r>
              <a:rPr lang="en-US" dirty="0" smtClean="0"/>
              <a:t>human behavior</a:t>
            </a:r>
            <a:endParaRPr lang="en-US" dirty="0"/>
          </a:p>
        </p:txBody>
      </p:sp>
      <p:pic>
        <p:nvPicPr>
          <p:cNvPr id="1026" name="Picture 2" descr="Premium Photo | Human behavior mind map written on chalkboard"/>
          <p:cNvPicPr>
            <a:picLocks noChangeAspect="1" noChangeArrowheads="1"/>
          </p:cNvPicPr>
          <p:nvPr/>
        </p:nvPicPr>
        <p:blipFill>
          <a:blip r:embed="rId2"/>
          <a:srcRect/>
          <a:stretch>
            <a:fillRect/>
          </a:stretch>
        </p:blipFill>
        <p:spPr bwMode="auto">
          <a:xfrm>
            <a:off x="5786446" y="4333730"/>
            <a:ext cx="3070266" cy="2050114"/>
          </a:xfrm>
          <a:prstGeom prst="rect">
            <a:avLst/>
          </a:prstGeom>
          <a:noFill/>
        </p:spPr>
      </p:pic>
      <p:pic>
        <p:nvPicPr>
          <p:cNvPr id="1028" name="Picture 4"/>
          <p:cNvPicPr>
            <a:picLocks noChangeAspect="1" noChangeArrowheads="1"/>
          </p:cNvPicPr>
          <p:nvPr/>
        </p:nvPicPr>
        <p:blipFill>
          <a:blip r:embed="rId3"/>
          <a:srcRect/>
          <a:stretch>
            <a:fillRect/>
          </a:stretch>
        </p:blipFill>
        <p:spPr bwMode="auto">
          <a:xfrm>
            <a:off x="571472" y="4357694"/>
            <a:ext cx="4929222" cy="203707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focus - Human factors</a:t>
            </a:r>
            <a:endParaRPr lang="en-US" dirty="0"/>
          </a:p>
        </p:txBody>
      </p:sp>
      <p:sp>
        <p:nvSpPr>
          <p:cNvPr id="3" name="Content Placeholder 2"/>
          <p:cNvSpPr>
            <a:spLocks noGrp="1"/>
          </p:cNvSpPr>
          <p:nvPr>
            <p:ph idx="1"/>
          </p:nvPr>
        </p:nvSpPr>
        <p:spPr>
          <a:xfrm>
            <a:off x="457200" y="1600200"/>
            <a:ext cx="8229600" cy="4900634"/>
          </a:xfrm>
        </p:spPr>
        <p:txBody>
          <a:bodyPr>
            <a:normAutofit fontScale="85000" lnSpcReduction="20000"/>
          </a:bodyPr>
          <a:lstStyle/>
          <a:p>
            <a:pPr>
              <a:buNone/>
            </a:pPr>
            <a:r>
              <a:rPr lang="en-US" dirty="0" smtClean="0"/>
              <a:t>Human factors be divided into: </a:t>
            </a:r>
          </a:p>
          <a:p>
            <a:pPr marL="514350" indent="-514350">
              <a:buFont typeface="+mj-lt"/>
              <a:buAutoNum type="alphaLcParenR"/>
            </a:pPr>
            <a:r>
              <a:rPr lang="en-US" dirty="0" smtClean="0"/>
              <a:t>cognitive science</a:t>
            </a:r>
          </a:p>
          <a:p>
            <a:pPr marL="914400" lvl="1" indent="-514350"/>
            <a:r>
              <a:rPr lang="en-US" dirty="0" smtClean="0"/>
              <a:t>the human’s capability and model of conscious processing of high-level information </a:t>
            </a:r>
          </a:p>
          <a:p>
            <a:pPr marL="914400" lvl="1" indent="-514350"/>
            <a:r>
              <a:rPr lang="en-US" dirty="0" smtClean="0"/>
              <a:t>the </a:t>
            </a:r>
            <a:r>
              <a:rPr lang="en-US" dirty="0"/>
              <a:t>human mind and brain, focusing on how the mind represents and manipulates knowledge and how mental representations and processes are realized in the brain.</a:t>
            </a:r>
            <a:endParaRPr lang="en-US" dirty="0" smtClean="0"/>
          </a:p>
          <a:p>
            <a:pPr marL="514350" indent="-514350">
              <a:buFont typeface="+mj-lt"/>
              <a:buAutoNum type="alphaLcParenR"/>
            </a:pPr>
            <a:r>
              <a:rPr lang="en-US" dirty="0" smtClean="0"/>
              <a:t>ergonomics, </a:t>
            </a:r>
          </a:p>
          <a:p>
            <a:pPr marL="914400" lvl="1" indent="-514350"/>
            <a:r>
              <a:rPr lang="en-US" dirty="0" smtClean="0"/>
              <a:t>how raw external stimulation signals are accepted by our five senses, are processed up to the pre attentive level, and are later acted upon in the outer world through the motor organs.</a:t>
            </a:r>
          </a:p>
          <a:p>
            <a:pPr marL="914400" lvl="1" indent="-514350"/>
            <a:r>
              <a:rPr lang="en-US" dirty="0" smtClean="0"/>
              <a:t>design </a:t>
            </a:r>
            <a:r>
              <a:rPr lang="en-US" dirty="0"/>
              <a:t>and implementation of interfaces that ensure user comfort, efficiency, and effectiveness.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Human factors</a:t>
            </a:r>
            <a:endParaRPr lang="en-US" dirty="0"/>
          </a:p>
        </p:txBody>
      </p:sp>
      <p:sp>
        <p:nvSpPr>
          <p:cNvPr id="3" name="Content Placeholder 2"/>
          <p:cNvSpPr>
            <a:spLocks noGrp="1"/>
          </p:cNvSpPr>
          <p:nvPr>
            <p:ph idx="1"/>
          </p:nvPr>
        </p:nvSpPr>
        <p:spPr/>
        <p:txBody>
          <a:bodyPr/>
          <a:lstStyle/>
          <a:p>
            <a:r>
              <a:rPr lang="en-US" dirty="0" smtClean="0"/>
              <a:t>Human-factors knowledge will particularly help us design HCI in the following ways.</a:t>
            </a:r>
          </a:p>
          <a:p>
            <a:pPr lvl="1"/>
            <a:r>
              <a:rPr lang="en-US" dirty="0" smtClean="0"/>
              <a:t>Task/interaction modeling</a:t>
            </a:r>
          </a:p>
          <a:p>
            <a:pPr lvl="1"/>
            <a:r>
              <a:rPr lang="en-US" dirty="0" smtClean="0"/>
              <a:t>Prediction, assessment, and evaluation of interactive behavior</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Human factors</a:t>
            </a:r>
            <a:endParaRPr lang="en-US" dirty="0"/>
          </a:p>
        </p:txBody>
      </p:sp>
      <p:sp>
        <p:nvSpPr>
          <p:cNvPr id="3" name="Content Placeholder 2"/>
          <p:cNvSpPr>
            <a:spLocks noGrp="1"/>
          </p:cNvSpPr>
          <p:nvPr>
            <p:ph idx="1"/>
          </p:nvPr>
        </p:nvSpPr>
        <p:spPr>
          <a:xfrm>
            <a:off x="457200" y="1357298"/>
            <a:ext cx="8229600" cy="4768865"/>
          </a:xfrm>
        </p:spPr>
        <p:txBody>
          <a:bodyPr>
            <a:normAutofit/>
          </a:bodyPr>
          <a:lstStyle/>
          <a:p>
            <a:pPr marL="342900" lvl="1" indent="-342900">
              <a:buFont typeface="Arial" pitchFamily="34" charset="0"/>
              <a:buChar char="•"/>
            </a:pPr>
            <a:r>
              <a:rPr lang="en-US" dirty="0" smtClean="0"/>
              <a:t>Task/interaction modeling</a:t>
            </a:r>
          </a:p>
          <a:p>
            <a:pPr marL="742950" lvl="2" indent="-342900"/>
            <a:r>
              <a:rPr lang="en-US" dirty="0" smtClean="0"/>
              <a:t>Formulate the steps for how humans might interact to solve and carry out a given task/problem and derive the interaction model.  </a:t>
            </a:r>
          </a:p>
          <a:p>
            <a:pPr marL="742950" lvl="2" indent="-342900"/>
            <a:r>
              <a:rPr lang="en-US" dirty="0" smtClean="0"/>
              <a:t>A </a:t>
            </a:r>
            <a:r>
              <a:rPr lang="en-US" dirty="0"/>
              <a:t>thoughtful HCI designer integrates direct user observation and cognitive science expertise for comprehensive model development</a:t>
            </a:r>
            <a:r>
              <a:rPr lang="en-US" dirty="0" smtClean="0"/>
              <a:t>. </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Human factors</a:t>
            </a:r>
            <a:endParaRPr lang="en-US" dirty="0"/>
          </a:p>
        </p:txBody>
      </p:sp>
      <p:sp>
        <p:nvSpPr>
          <p:cNvPr id="3" name="Content Placeholder 2"/>
          <p:cNvSpPr>
            <a:spLocks noGrp="1"/>
          </p:cNvSpPr>
          <p:nvPr>
            <p:ph idx="1"/>
          </p:nvPr>
        </p:nvSpPr>
        <p:spPr/>
        <p:txBody>
          <a:bodyPr>
            <a:normAutofit/>
          </a:bodyPr>
          <a:lstStyle/>
          <a:p>
            <a:r>
              <a:rPr lang="en-US" dirty="0" smtClean="0"/>
              <a:t>Prediction, Assessment, and Evaluation of interactive behavior:</a:t>
            </a:r>
          </a:p>
          <a:p>
            <a:pPr lvl="1"/>
            <a:r>
              <a:rPr lang="en-US" dirty="0" smtClean="0"/>
              <a:t>Understand and predict how humans might react mentally to various information-presentation and input-solicitation methods as a basis for interface selection. </a:t>
            </a:r>
          </a:p>
          <a:p>
            <a:pPr lvl="1"/>
            <a:r>
              <a:rPr lang="en-US" dirty="0" smtClean="0"/>
              <a:t>Evaluate interaction models and interface implementations and explain or predict their performance and usability. </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Task Modeling and Human Problem-Solving Model</a:t>
            </a:r>
            <a:endParaRPr lang="en-US" dirty="0"/>
          </a:p>
        </p:txBody>
      </p:sp>
      <p:sp>
        <p:nvSpPr>
          <p:cNvPr id="3" name="Content Placeholder 2"/>
          <p:cNvSpPr>
            <a:spLocks noGrp="1"/>
          </p:cNvSpPr>
          <p:nvPr>
            <p:ph idx="1"/>
          </p:nvPr>
        </p:nvSpPr>
        <p:spPr>
          <a:xfrm>
            <a:off x="457200" y="1600200"/>
            <a:ext cx="8229600" cy="5043510"/>
          </a:xfrm>
        </p:spPr>
        <p:txBody>
          <a:bodyPr>
            <a:normAutofit fontScale="77500" lnSpcReduction="20000"/>
          </a:bodyPr>
          <a:lstStyle/>
          <a:p>
            <a:r>
              <a:rPr lang="en-US" dirty="0" smtClean="0"/>
              <a:t>Sensation, which senses external information (e.g., visual, aural, </a:t>
            </a:r>
            <a:r>
              <a:rPr lang="en-US" dirty="0" err="1" smtClean="0"/>
              <a:t>haptic</a:t>
            </a:r>
            <a:r>
              <a:rPr lang="en-US" dirty="0" smtClean="0"/>
              <a:t>), and Perception, which interprets and extracts basic meanings of the external information. </a:t>
            </a:r>
          </a:p>
          <a:p>
            <a:r>
              <a:rPr lang="en-US" dirty="0" smtClean="0"/>
              <a:t>Memory, which stores momentary and short-term information or long-term knowledge. This knowledge includes information about the external world, procedures, rules, relations, schemas, candidates of actions to apply, the current objective (e.g., accomplishing the interactive task successfully), the plan of action, etc. </a:t>
            </a:r>
          </a:p>
          <a:p>
            <a:r>
              <a:rPr lang="en-US" dirty="0" smtClean="0"/>
              <a:t>Decision maker/executor, which formulates and revises a “plan,” then decides what to do based on the various knowledge in the memory, and finally acts it out by commanding the motor system (e.g., to click the mouse left button).</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O</a:t>
            </a:r>
            <a:r>
              <a:rPr lang="en-US" sz="2800" dirty="0" smtClean="0"/>
              <a:t>verall human problem-solving model and process</a:t>
            </a:r>
            <a:endParaRPr lang="en-US" sz="2800" dirty="0"/>
          </a:p>
        </p:txBody>
      </p:sp>
      <p:pic>
        <p:nvPicPr>
          <p:cNvPr id="6146" name="Picture 2"/>
          <p:cNvPicPr>
            <a:picLocks noChangeAspect="1" noChangeArrowheads="1"/>
          </p:cNvPicPr>
          <p:nvPr/>
        </p:nvPicPr>
        <p:blipFill>
          <a:blip r:embed="rId2"/>
          <a:srcRect/>
          <a:stretch>
            <a:fillRect/>
          </a:stretch>
        </p:blipFill>
        <p:spPr bwMode="auto">
          <a:xfrm>
            <a:off x="2000232" y="1285860"/>
            <a:ext cx="5414985" cy="51327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D</a:t>
            </a:r>
            <a:r>
              <a:rPr lang="en-US" sz="3200" dirty="0" smtClean="0"/>
              <a:t>etailed view of the “decision maker/executor.”</a:t>
            </a:r>
            <a:endParaRPr lang="en-US" sz="3200" dirty="0"/>
          </a:p>
        </p:txBody>
      </p:sp>
      <p:pic>
        <p:nvPicPr>
          <p:cNvPr id="7170" name="Picture 2"/>
          <p:cNvPicPr>
            <a:picLocks noGrp="1" noChangeAspect="1" noChangeArrowheads="1"/>
          </p:cNvPicPr>
          <p:nvPr>
            <p:ph idx="1"/>
          </p:nvPr>
        </p:nvPicPr>
        <p:blipFill>
          <a:blip r:embed="rId2"/>
          <a:srcRect/>
          <a:stretch>
            <a:fillRect/>
          </a:stretch>
        </p:blipFill>
        <p:spPr bwMode="auto">
          <a:xfrm>
            <a:off x="1905523" y="1285860"/>
            <a:ext cx="6024063" cy="54340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smtClean="0"/>
              <a:t>Hierarchical task model of changing a font for a short text</a:t>
            </a:r>
            <a:endParaRPr lang="en-US" sz="2400" dirty="0"/>
          </a:p>
        </p:txBody>
      </p:sp>
      <p:pic>
        <p:nvPicPr>
          <p:cNvPr id="9218" name="Picture 2"/>
          <p:cNvPicPr>
            <a:picLocks noGrp="1" noChangeAspect="1" noChangeArrowheads="1"/>
          </p:cNvPicPr>
          <p:nvPr>
            <p:ph idx="1"/>
          </p:nvPr>
        </p:nvPicPr>
        <p:blipFill>
          <a:blip r:embed="rId2"/>
          <a:srcRect/>
          <a:stretch>
            <a:fillRect/>
          </a:stretch>
        </p:blipFill>
        <p:spPr bwMode="auto">
          <a:xfrm>
            <a:off x="457200" y="1954599"/>
            <a:ext cx="8229600" cy="381716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Human Reaction and Prediction of Cognitive Performance</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i="1" dirty="0" smtClean="0">
                <a:latin typeface="Arial" panose="020B0604020202020204" pitchFamily="34" charset="0"/>
                <a:cs typeface="Arial" panose="020B0604020202020204" pitchFamily="34" charset="0"/>
              </a:rPr>
              <a:t>GOMS </a:t>
            </a:r>
            <a:r>
              <a:rPr lang="en-IN" dirty="0" smtClean="0">
                <a:latin typeface="Arial" panose="020B0604020202020204" pitchFamily="34" charset="0"/>
                <a:cs typeface="Arial" panose="020B0604020202020204" pitchFamily="34" charset="0"/>
              </a:rPr>
              <a:t>(Goals, Operators, Methods, and Selection)</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smtClean="0">
                <a:latin typeface="Arial" panose="020B0604020202020204" pitchFamily="34" charset="0"/>
                <a:cs typeface="Arial" panose="020B0604020202020204" pitchFamily="34" charset="0"/>
              </a:rPr>
              <a:t>Human Body Ergonomics (Motor Capabilities) </a:t>
            </a:r>
            <a:r>
              <a:rPr lang="en-US" sz="3100" b="1" dirty="0" smtClean="0">
                <a:latin typeface="Arial" panose="020B0604020202020204" pitchFamily="34" charset="0"/>
                <a:cs typeface="Arial" panose="020B0604020202020204" pitchFamily="34" charset="0"/>
              </a:rPr>
              <a:t> </a:t>
            </a:r>
            <a:br>
              <a:rPr lang="en-US" sz="3100" b="1" dirty="0" smtClean="0">
                <a:latin typeface="Arial" panose="020B0604020202020204" pitchFamily="34" charset="0"/>
                <a:cs typeface="Arial" panose="020B0604020202020204" pitchFamily="34" charset="0"/>
              </a:rPr>
            </a:br>
            <a:r>
              <a:rPr lang="en-US" sz="3100" b="1" dirty="0" err="1" smtClean="0"/>
              <a:t>Fitts’s</a:t>
            </a:r>
            <a:r>
              <a:rPr lang="en-US" sz="3100" b="1" dirty="0" smtClean="0"/>
              <a:t> </a:t>
            </a:r>
            <a:r>
              <a:rPr lang="en-US" sz="3100" b="1" dirty="0" smtClean="0"/>
              <a:t>Law</a:t>
            </a:r>
            <a:r>
              <a:rPr lang="en-US" b="1" dirty="0" smtClean="0"/>
              <a:t/>
            </a:r>
            <a:br>
              <a:rPr lang="en-US" b="1" dirty="0" smtClean="0"/>
            </a:br>
            <a:endParaRPr lang="en-US" dirty="0"/>
          </a:p>
        </p:txBody>
      </p:sp>
      <p:sp>
        <p:nvSpPr>
          <p:cNvPr id="3" name="Content Placeholder 2"/>
          <p:cNvSpPr>
            <a:spLocks noGrp="1"/>
          </p:cNvSpPr>
          <p:nvPr>
            <p:ph idx="1"/>
          </p:nvPr>
        </p:nvSpPr>
        <p:spPr>
          <a:xfrm>
            <a:off x="457200" y="1071546"/>
            <a:ext cx="8229600" cy="5054617"/>
          </a:xfrm>
        </p:spPr>
        <p:txBody>
          <a:bodyPr>
            <a:normAutofit fontScale="85000" lnSpcReduction="20000"/>
          </a:bodyPr>
          <a:lstStyle/>
          <a:p>
            <a:r>
              <a:rPr lang="en-US" dirty="0" smtClean="0"/>
              <a:t>The </a:t>
            </a:r>
            <a:r>
              <a:rPr lang="en-US" dirty="0" smtClean="0"/>
              <a:t>relationship between the time it takes a </a:t>
            </a:r>
            <a:r>
              <a:rPr lang="en-US" b="1" dirty="0" smtClean="0"/>
              <a:t>pointer</a:t>
            </a:r>
            <a:r>
              <a:rPr lang="en-US" dirty="0" smtClean="0"/>
              <a:t> (such as a mouse cursor, a human finger, or a hand) to move to a particular </a:t>
            </a:r>
            <a:r>
              <a:rPr lang="en-US" b="1" dirty="0" smtClean="0"/>
              <a:t>target</a:t>
            </a:r>
            <a:r>
              <a:rPr lang="en-US" dirty="0" smtClean="0"/>
              <a:t> (e.g., physical or digital button, a physical object) in order to interact with it in some way (e.g., by clicking or tapping it, grasping it, etc</a:t>
            </a:r>
            <a:r>
              <a:rPr lang="en-US" dirty="0" smtClean="0"/>
              <a:t>.)</a:t>
            </a:r>
          </a:p>
          <a:p>
            <a:endParaRPr lang="en-US" dirty="0" smtClean="0"/>
          </a:p>
          <a:p>
            <a:endParaRPr lang="en-US" dirty="0" smtClean="0"/>
          </a:p>
          <a:p>
            <a:endParaRPr lang="en-US" dirty="0" smtClean="0"/>
          </a:p>
          <a:p>
            <a:r>
              <a:rPr lang="en-US" i="1" dirty="0" smtClean="0"/>
              <a:t>D</a:t>
            </a:r>
            <a:r>
              <a:rPr lang="en-US" dirty="0" smtClean="0"/>
              <a:t> is the distance to the target, </a:t>
            </a:r>
            <a:r>
              <a:rPr lang="en-US" i="1" dirty="0" smtClean="0"/>
              <a:t>w</a:t>
            </a:r>
            <a:r>
              <a:rPr lang="en-US" dirty="0" smtClean="0"/>
              <a:t> is the width of the target (technically, measured along the axis of movement), and </a:t>
            </a:r>
            <a:r>
              <a:rPr lang="en-US" i="1" dirty="0" smtClean="0"/>
              <a:t>a</a:t>
            </a:r>
            <a:r>
              <a:rPr lang="en-US" dirty="0" smtClean="0"/>
              <a:t> and </a:t>
            </a:r>
            <a:r>
              <a:rPr lang="en-US" i="1" dirty="0" smtClean="0"/>
              <a:t>b</a:t>
            </a:r>
            <a:r>
              <a:rPr lang="en-US" dirty="0" smtClean="0"/>
              <a:t> are constants that vary depending on the type of pointer (e.g., mouse, finger, etc.).</a:t>
            </a:r>
            <a:endParaRPr lang="en-US" dirty="0"/>
          </a:p>
        </p:txBody>
      </p:sp>
      <p:pic>
        <p:nvPicPr>
          <p:cNvPr id="1026" name="Picture 2"/>
          <p:cNvPicPr>
            <a:picLocks noChangeAspect="1" noChangeArrowheads="1"/>
          </p:cNvPicPr>
          <p:nvPr/>
        </p:nvPicPr>
        <p:blipFill>
          <a:blip r:embed="rId2"/>
          <a:srcRect/>
          <a:stretch>
            <a:fillRect/>
          </a:stretch>
        </p:blipFill>
        <p:spPr bwMode="auto">
          <a:xfrm>
            <a:off x="2857488" y="3143248"/>
            <a:ext cx="2714625" cy="104775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6000760" y="3000372"/>
            <a:ext cx="2852726" cy="116043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an index of difficulty</a:t>
            </a:r>
            <a:endParaRPr lang="en-US" dirty="0"/>
          </a:p>
        </p:txBody>
      </p:sp>
      <p:sp>
        <p:nvSpPr>
          <p:cNvPr id="3" name="Content Placeholder 2"/>
          <p:cNvSpPr>
            <a:spLocks noGrp="1"/>
          </p:cNvSpPr>
          <p:nvPr>
            <p:ph idx="1"/>
          </p:nvPr>
        </p:nvSpPr>
        <p:spPr>
          <a:xfrm>
            <a:off x="457200" y="3357562"/>
            <a:ext cx="8115328" cy="2768601"/>
          </a:xfrm>
        </p:spPr>
        <p:txBody>
          <a:bodyPr/>
          <a:lstStyle/>
          <a:p>
            <a:r>
              <a:rPr lang="en-US" dirty="0" smtClean="0"/>
              <a:t>an index of difficulty and is measured in bits. An alternative formulation of </a:t>
            </a:r>
            <a:r>
              <a:rPr lang="en-US" dirty="0" err="1" smtClean="0"/>
              <a:t>Fitts’s</a:t>
            </a:r>
            <a:r>
              <a:rPr lang="en-US" dirty="0" smtClean="0"/>
              <a:t> law is then:</a:t>
            </a:r>
            <a:endParaRPr lang="en-US" dirty="0"/>
          </a:p>
        </p:txBody>
      </p:sp>
      <p:pic>
        <p:nvPicPr>
          <p:cNvPr id="2050" name="Picture 2"/>
          <p:cNvPicPr>
            <a:picLocks noChangeAspect="1" noChangeArrowheads="1"/>
          </p:cNvPicPr>
          <p:nvPr/>
        </p:nvPicPr>
        <p:blipFill>
          <a:blip r:embed="rId2"/>
          <a:srcRect/>
          <a:stretch>
            <a:fillRect/>
          </a:stretch>
        </p:blipFill>
        <p:spPr bwMode="auto">
          <a:xfrm>
            <a:off x="3571868" y="1428736"/>
            <a:ext cx="2009775" cy="126682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3714744" y="5143512"/>
            <a:ext cx="2000250" cy="704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US" b="1" dirty="0" err="1" smtClean="0"/>
              <a:t>Fitts’s</a:t>
            </a:r>
            <a:r>
              <a:rPr lang="en-US" b="1" dirty="0" smtClean="0"/>
              <a:t> </a:t>
            </a:r>
            <a:r>
              <a:rPr lang="en-US" b="1" dirty="0" smtClean="0"/>
              <a:t>Law</a:t>
            </a:r>
            <a:endParaRPr lang="en-US" dirty="0"/>
          </a:p>
        </p:txBody>
      </p:sp>
      <p:sp>
        <p:nvSpPr>
          <p:cNvPr id="3" name="Content Placeholder 2"/>
          <p:cNvSpPr>
            <a:spLocks noGrp="1"/>
          </p:cNvSpPr>
          <p:nvPr>
            <p:ph idx="1"/>
          </p:nvPr>
        </p:nvSpPr>
        <p:spPr>
          <a:xfrm>
            <a:off x="571472" y="1000109"/>
            <a:ext cx="8215370" cy="3857652"/>
          </a:xfrm>
        </p:spPr>
        <p:txBody>
          <a:bodyPr>
            <a:normAutofit lnSpcReduction="10000"/>
          </a:bodyPr>
          <a:lstStyle/>
          <a:p>
            <a:r>
              <a:rPr lang="en-US" b="1" dirty="0" smtClean="0"/>
              <a:t>The bigger the distance to the target, the longer it will take for the pointer to move to it. </a:t>
            </a:r>
            <a:r>
              <a:rPr lang="en-US" dirty="0" smtClean="0"/>
              <a:t>In other words, closer targets are faster to acquire.</a:t>
            </a:r>
          </a:p>
          <a:p>
            <a:r>
              <a:rPr lang="en-US" b="1" dirty="0" smtClean="0"/>
              <a:t>The larger the target, the shorter the movement time to it. </a:t>
            </a:r>
            <a:r>
              <a:rPr lang="en-US" dirty="0" smtClean="0"/>
              <a:t>In other words, bigger targets are better</a:t>
            </a:r>
            <a:r>
              <a:rPr lang="en-US" dirty="0" smtClean="0"/>
              <a:t>.</a:t>
            </a:r>
            <a:r>
              <a:rPr lang="en-US" dirty="0" smtClean="0"/>
              <a:t/>
            </a:r>
            <a:br>
              <a:rPr lang="en-US" dirty="0" smtClean="0"/>
            </a:br>
            <a:endParaRPr lang="en-US" dirty="0"/>
          </a:p>
        </p:txBody>
      </p:sp>
      <p:pic>
        <p:nvPicPr>
          <p:cNvPr id="3074" name="Picture 2"/>
          <p:cNvPicPr>
            <a:picLocks noChangeAspect="1" noChangeArrowheads="1"/>
          </p:cNvPicPr>
          <p:nvPr/>
        </p:nvPicPr>
        <p:blipFill>
          <a:blip r:embed="rId2"/>
          <a:srcRect/>
          <a:stretch>
            <a:fillRect/>
          </a:stretch>
        </p:blipFill>
        <p:spPr bwMode="auto">
          <a:xfrm>
            <a:off x="1928794" y="4214818"/>
            <a:ext cx="5172070" cy="243539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0034" y="2928934"/>
            <a:ext cx="8229600" cy="1143000"/>
          </a:xfrm>
        </p:spPr>
        <p:txBody>
          <a:bodyPr/>
          <a:lstStyle/>
          <a:p>
            <a:r>
              <a:rPr lang="en-US" dirty="0" smtClean="0"/>
              <a:t> </a:t>
            </a:r>
            <a:r>
              <a:rPr lang="en-US" dirty="0" smtClean="0"/>
              <a:t>Implications </a:t>
            </a:r>
            <a:r>
              <a:rPr lang="en-US" dirty="0" smtClean="0"/>
              <a:t>of </a:t>
            </a:r>
            <a:r>
              <a:rPr lang="en-US" dirty="0" err="1" smtClean="0"/>
              <a:t>Fitts’s</a:t>
            </a:r>
            <a:r>
              <a:rPr lang="en-US" dirty="0" smtClean="0"/>
              <a:t> law </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Fitts’s</a:t>
            </a:r>
            <a:r>
              <a:rPr lang="en-US" b="1" dirty="0" smtClean="0"/>
              <a:t> Law</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1428728" y="1571612"/>
            <a:ext cx="6410350" cy="42809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Fitts’s</a:t>
            </a:r>
            <a:r>
              <a:rPr lang="en-US" b="1" dirty="0" smtClean="0"/>
              <a:t> Law</a:t>
            </a: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1347787" y="1920081"/>
            <a:ext cx="6448425" cy="3886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Optimizing Distance to Target</a:t>
            </a:r>
            <a:endParaRPr lang="en-US" b="1" dirty="0"/>
          </a:p>
        </p:txBody>
      </p:sp>
      <p:pic>
        <p:nvPicPr>
          <p:cNvPr id="6146" name="Picture 2"/>
          <p:cNvPicPr>
            <a:picLocks noGrp="1" noChangeAspect="1" noChangeArrowheads="1"/>
          </p:cNvPicPr>
          <p:nvPr>
            <p:ph idx="1"/>
          </p:nvPr>
        </p:nvPicPr>
        <p:blipFill>
          <a:blip r:embed="rId2"/>
          <a:srcRect/>
          <a:stretch>
            <a:fillRect/>
          </a:stretch>
        </p:blipFill>
        <p:spPr bwMode="auto">
          <a:xfrm>
            <a:off x="500034" y="1500174"/>
            <a:ext cx="7898933" cy="3571900"/>
          </a:xfrm>
          <a:prstGeom prst="rect">
            <a:avLst/>
          </a:prstGeom>
          <a:noFill/>
          <a:ln w="9525">
            <a:noFill/>
            <a:miter lim="800000"/>
            <a:headEnd/>
            <a:tailEnd/>
          </a:ln>
          <a:effectLst/>
        </p:spPr>
      </p:pic>
      <p:sp>
        <p:nvSpPr>
          <p:cNvPr id="5" name="Rectangle 4"/>
          <p:cNvSpPr/>
          <p:nvPr/>
        </p:nvSpPr>
        <p:spPr>
          <a:xfrm>
            <a:off x="571472" y="5429264"/>
            <a:ext cx="8001056" cy="923330"/>
          </a:xfrm>
          <a:prstGeom prst="rect">
            <a:avLst/>
          </a:prstGeom>
        </p:spPr>
        <p:txBody>
          <a:bodyPr wrap="square">
            <a:spAutoFit/>
          </a:bodyPr>
          <a:lstStyle/>
          <a:p>
            <a:r>
              <a:rPr lang="en-US" i="1" dirty="0" smtClean="0"/>
              <a:t>The average distance from menu handle to a menu element depends on the type of menu: linear menus are less efficient than rectangular menus, which, in turn, are less efficient than pie menus.</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Optimizing Distance to Target</a:t>
            </a:r>
            <a:endParaRPr lang="en-US" b="1" dirty="0"/>
          </a:p>
        </p:txBody>
      </p:sp>
      <p:pic>
        <p:nvPicPr>
          <p:cNvPr id="7170" name="Picture 2"/>
          <p:cNvPicPr>
            <a:picLocks noGrp="1" noChangeAspect="1" noChangeArrowheads="1"/>
          </p:cNvPicPr>
          <p:nvPr>
            <p:ph idx="1"/>
          </p:nvPr>
        </p:nvPicPr>
        <p:blipFill>
          <a:blip r:embed="rId2"/>
          <a:srcRect/>
          <a:stretch>
            <a:fillRect/>
          </a:stretch>
        </p:blipFill>
        <p:spPr bwMode="auto">
          <a:xfrm>
            <a:off x="1285852" y="1357298"/>
            <a:ext cx="6366204" cy="4429156"/>
          </a:xfrm>
          <a:prstGeom prst="rect">
            <a:avLst/>
          </a:prstGeom>
          <a:noFill/>
          <a:ln w="9525">
            <a:noFill/>
            <a:miter lim="800000"/>
            <a:headEnd/>
            <a:tailEnd/>
          </a:ln>
          <a:effectLst/>
        </p:spPr>
      </p:pic>
      <p:sp>
        <p:nvSpPr>
          <p:cNvPr id="5" name="Rectangle 4"/>
          <p:cNvSpPr/>
          <p:nvPr/>
        </p:nvSpPr>
        <p:spPr>
          <a:xfrm>
            <a:off x="571472" y="5786454"/>
            <a:ext cx="7858180" cy="646331"/>
          </a:xfrm>
          <a:prstGeom prst="rect">
            <a:avLst/>
          </a:prstGeom>
        </p:spPr>
        <p:txBody>
          <a:bodyPr wrap="square">
            <a:spAutoFit/>
          </a:bodyPr>
          <a:lstStyle/>
          <a:p>
            <a:r>
              <a:rPr lang="en-US" i="1" dirty="0" smtClean="0"/>
              <a:t>The average movement time in a linear menu can be improved by aligning the handle with the middle of the menu.</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t>Place Related Targets Close to Each Other</a:t>
            </a:r>
            <a:r>
              <a:rPr lang="en-US" b="1" dirty="0" smtClean="0"/>
              <a:t/>
            </a:r>
            <a:br>
              <a:rPr lang="en-US" b="1" dirty="0" smtClean="0"/>
            </a:br>
            <a:endParaRPr lang="en-US" dirty="0"/>
          </a:p>
        </p:txBody>
      </p:sp>
      <p:pic>
        <p:nvPicPr>
          <p:cNvPr id="8194" name="Picture 2"/>
          <p:cNvPicPr>
            <a:picLocks noGrp="1" noChangeAspect="1" noChangeArrowheads="1"/>
          </p:cNvPicPr>
          <p:nvPr>
            <p:ph idx="1"/>
          </p:nvPr>
        </p:nvPicPr>
        <p:blipFill>
          <a:blip r:embed="rId2"/>
          <a:srcRect/>
          <a:stretch>
            <a:fillRect/>
          </a:stretch>
        </p:blipFill>
        <p:spPr bwMode="auto">
          <a:xfrm>
            <a:off x="714348" y="1000108"/>
            <a:ext cx="2786082" cy="5869210"/>
          </a:xfrm>
          <a:prstGeom prst="rect">
            <a:avLst/>
          </a:prstGeom>
          <a:noFill/>
          <a:ln w="9525">
            <a:noFill/>
            <a:miter lim="800000"/>
            <a:headEnd/>
            <a:tailEnd/>
          </a:ln>
          <a:effectLst/>
        </p:spPr>
      </p:pic>
      <p:sp>
        <p:nvSpPr>
          <p:cNvPr id="5" name="Rectangle 4"/>
          <p:cNvSpPr/>
          <p:nvPr/>
        </p:nvSpPr>
        <p:spPr>
          <a:xfrm>
            <a:off x="3786182" y="3000372"/>
            <a:ext cx="4572000" cy="1477328"/>
          </a:xfrm>
          <a:prstGeom prst="rect">
            <a:avLst/>
          </a:prstGeom>
        </p:spPr>
        <p:txBody>
          <a:bodyPr>
            <a:spAutoFit/>
          </a:bodyPr>
          <a:lstStyle/>
          <a:p>
            <a:pPr>
              <a:buFont typeface="Arial" pitchFamily="34" charset="0"/>
              <a:buChar char="•"/>
            </a:pPr>
            <a:r>
              <a:rPr lang="en-US" i="1" dirty="0" smtClean="0"/>
              <a:t> </a:t>
            </a:r>
            <a:r>
              <a:rPr lang="en-US" i="1" dirty="0" err="1" smtClean="0"/>
              <a:t>Sephora</a:t>
            </a:r>
            <a:r>
              <a:rPr lang="en-US" i="1" dirty="0" smtClean="0"/>
              <a:t> for </a:t>
            </a:r>
            <a:r>
              <a:rPr lang="en-US" i="1" dirty="0" err="1" smtClean="0"/>
              <a:t>iPhone</a:t>
            </a:r>
            <a:r>
              <a:rPr lang="en-US" i="1" dirty="0" smtClean="0"/>
              <a:t> places the </a:t>
            </a:r>
            <a:r>
              <a:rPr lang="en-US" dirty="0" smtClean="0"/>
              <a:t>Save</a:t>
            </a:r>
            <a:r>
              <a:rPr lang="en-US" i="1" dirty="0" smtClean="0"/>
              <a:t> button in the top right corner of the screen. The user’s finger needs to travel a relatively long way from the last field of the form to the </a:t>
            </a:r>
            <a:r>
              <a:rPr lang="en-US" dirty="0" smtClean="0"/>
              <a:t>Save</a:t>
            </a:r>
            <a:r>
              <a:rPr lang="en-US" i="1" dirty="0" smtClean="0"/>
              <a:t> button.</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t>Place Related Targets Close to Each Other</a:t>
            </a:r>
            <a:r>
              <a:rPr lang="en-US" b="1" dirty="0" smtClean="0"/>
              <a:t/>
            </a:r>
            <a:br>
              <a:rPr lang="en-US" b="1" dirty="0" smtClean="0"/>
            </a:br>
            <a:endParaRPr lang="en-US" dirty="0"/>
          </a:p>
        </p:txBody>
      </p:sp>
      <p:pic>
        <p:nvPicPr>
          <p:cNvPr id="9218" name="Picture 2"/>
          <p:cNvPicPr>
            <a:picLocks noGrp="1" noChangeAspect="1" noChangeArrowheads="1"/>
          </p:cNvPicPr>
          <p:nvPr>
            <p:ph idx="1"/>
          </p:nvPr>
        </p:nvPicPr>
        <p:blipFill>
          <a:blip r:embed="rId2"/>
          <a:srcRect/>
          <a:stretch>
            <a:fillRect/>
          </a:stretch>
        </p:blipFill>
        <p:spPr bwMode="auto">
          <a:xfrm>
            <a:off x="642910" y="928670"/>
            <a:ext cx="2857520" cy="5946163"/>
          </a:xfrm>
          <a:prstGeom prst="rect">
            <a:avLst/>
          </a:prstGeom>
          <a:noFill/>
          <a:ln w="9525">
            <a:noFill/>
            <a:miter lim="800000"/>
            <a:headEnd/>
            <a:tailEnd/>
          </a:ln>
          <a:effectLst/>
        </p:spPr>
      </p:pic>
      <p:sp>
        <p:nvSpPr>
          <p:cNvPr id="5" name="Rectangle 4"/>
          <p:cNvSpPr/>
          <p:nvPr/>
        </p:nvSpPr>
        <p:spPr>
          <a:xfrm>
            <a:off x="4143372" y="2786058"/>
            <a:ext cx="4572000" cy="923330"/>
          </a:xfrm>
          <a:prstGeom prst="rect">
            <a:avLst/>
          </a:prstGeom>
        </p:spPr>
        <p:txBody>
          <a:bodyPr>
            <a:spAutoFit/>
          </a:bodyPr>
          <a:lstStyle/>
          <a:p>
            <a:pPr>
              <a:buFont typeface="Arial" pitchFamily="34" charset="0"/>
              <a:buChar char="•"/>
            </a:pPr>
            <a:r>
              <a:rPr lang="en-US" i="1" dirty="0" smtClean="0"/>
              <a:t> In </a:t>
            </a:r>
            <a:r>
              <a:rPr lang="en-US" i="1" dirty="0" smtClean="0"/>
              <a:t>contrast, </a:t>
            </a:r>
            <a:r>
              <a:rPr lang="en-US" i="1" dirty="0" err="1" smtClean="0"/>
              <a:t>Taxa</a:t>
            </a:r>
            <a:r>
              <a:rPr lang="en-US" i="1" dirty="0" smtClean="0"/>
              <a:t> 4x35, a Danish taxi app, places the main call to action at the very bottom of the form, close to the last form field.</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Optimizing Target Size</a:t>
            </a:r>
            <a:br>
              <a:rPr lang="en-US" b="1" dirty="0" smtClean="0"/>
            </a:br>
            <a:endParaRPr lang="en-US" dirty="0"/>
          </a:p>
        </p:txBody>
      </p:sp>
      <p:sp>
        <p:nvSpPr>
          <p:cNvPr id="3" name="Content Placeholder 2"/>
          <p:cNvSpPr>
            <a:spLocks noGrp="1"/>
          </p:cNvSpPr>
          <p:nvPr>
            <p:ph idx="1"/>
          </p:nvPr>
        </p:nvSpPr>
        <p:spPr/>
        <p:txBody>
          <a:bodyPr/>
          <a:lstStyle/>
          <a:p>
            <a:r>
              <a:rPr lang="en-US" b="1" dirty="0" smtClean="0"/>
              <a:t>Bigger Is </a:t>
            </a:r>
            <a:r>
              <a:rPr lang="en-US" b="1" dirty="0" smtClean="0"/>
              <a:t>Better</a:t>
            </a:r>
          </a:p>
          <a:p>
            <a:pPr lvl="1"/>
            <a:r>
              <a:rPr lang="en-US" dirty="0" smtClean="0"/>
              <a:t>make </a:t>
            </a:r>
            <a:r>
              <a:rPr lang="en-US" dirty="0" smtClean="0"/>
              <a:t>targets big. </a:t>
            </a:r>
            <a:endParaRPr lang="en-US" dirty="0" smtClean="0"/>
          </a:p>
          <a:p>
            <a:pPr lvl="1"/>
            <a:r>
              <a:rPr lang="en-US" dirty="0" err="1" smtClean="0"/>
              <a:t>Fitts’s</a:t>
            </a:r>
            <a:r>
              <a:rPr lang="en-US" dirty="0" smtClean="0"/>
              <a:t> </a:t>
            </a:r>
            <a:r>
              <a:rPr lang="en-US" dirty="0" smtClean="0"/>
              <a:t>law clearly says that people will be faster to click, tap, or hover on bigger targets. </a:t>
            </a:r>
            <a:endParaRPr lang="en-US" dirty="0" smtClean="0"/>
          </a:p>
          <a:p>
            <a:pPr lvl="1"/>
            <a:r>
              <a:rPr lang="en-US" dirty="0" smtClean="0"/>
              <a:t>Not </a:t>
            </a:r>
            <a:r>
              <a:rPr lang="en-US" dirty="0" smtClean="0"/>
              <a:t>only that, but error rates go down as target sizes increases.</a:t>
            </a:r>
            <a:endParaRPr lang="en-US" b="1" dirty="0" smtClean="0"/>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Optimizing Target Size</a:t>
            </a:r>
            <a:br>
              <a:rPr lang="en-US" b="1" dirty="0" smtClean="0"/>
            </a:br>
            <a:endParaRPr lang="en-US" dirty="0"/>
          </a:p>
        </p:txBody>
      </p:sp>
      <p:sp>
        <p:nvSpPr>
          <p:cNvPr id="3" name="Content Placeholder 2"/>
          <p:cNvSpPr>
            <a:spLocks noGrp="1"/>
          </p:cNvSpPr>
          <p:nvPr>
            <p:ph idx="1"/>
          </p:nvPr>
        </p:nvSpPr>
        <p:spPr/>
        <p:txBody>
          <a:bodyPr/>
          <a:lstStyle/>
          <a:p>
            <a:r>
              <a:rPr lang="en-US" b="1" dirty="0" smtClean="0"/>
              <a:t>Icons Plus </a:t>
            </a:r>
            <a:r>
              <a:rPr lang="en-US" b="1" dirty="0" smtClean="0"/>
              <a:t>Labels</a:t>
            </a:r>
          </a:p>
          <a:p>
            <a:pPr lvl="1"/>
            <a:r>
              <a:rPr lang="en-US" dirty="0" smtClean="0"/>
              <a:t>any target made up of both an icon and a label will be greater than just an icon and, therefore, according to </a:t>
            </a:r>
            <a:r>
              <a:rPr lang="en-US" dirty="0" err="1" smtClean="0"/>
              <a:t>Fitts’s</a:t>
            </a:r>
            <a:r>
              <a:rPr lang="en-US" dirty="0" smtClean="0"/>
              <a:t> law, will be easier to acquire. </a:t>
            </a:r>
            <a:endParaRPr lang="en-US" b="1" dirty="0" smtClean="0"/>
          </a:p>
          <a:p>
            <a:endParaRPr lang="en-US" dirty="0"/>
          </a:p>
        </p:txBody>
      </p:sp>
      <p:pic>
        <p:nvPicPr>
          <p:cNvPr id="10243" name="Picture 3"/>
          <p:cNvPicPr>
            <a:picLocks noChangeAspect="1" noChangeArrowheads="1"/>
          </p:cNvPicPr>
          <p:nvPr/>
        </p:nvPicPr>
        <p:blipFill>
          <a:blip r:embed="rId2"/>
          <a:srcRect/>
          <a:stretch>
            <a:fillRect/>
          </a:stretch>
        </p:blipFill>
        <p:spPr bwMode="auto">
          <a:xfrm>
            <a:off x="857224" y="3929066"/>
            <a:ext cx="7680403" cy="200026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Optimizing Target Size</a:t>
            </a:r>
            <a:br>
              <a:rPr lang="en-US" b="1" dirty="0" smtClean="0"/>
            </a:br>
            <a:endParaRPr lang="en-US" dirty="0"/>
          </a:p>
        </p:txBody>
      </p:sp>
      <p:sp>
        <p:nvSpPr>
          <p:cNvPr id="3" name="Content Placeholder 2"/>
          <p:cNvSpPr>
            <a:spLocks noGrp="1"/>
          </p:cNvSpPr>
          <p:nvPr>
            <p:ph idx="1"/>
          </p:nvPr>
        </p:nvSpPr>
        <p:spPr>
          <a:xfrm>
            <a:off x="285720" y="1285860"/>
            <a:ext cx="8229600" cy="4525963"/>
          </a:xfrm>
        </p:spPr>
        <p:txBody>
          <a:bodyPr/>
          <a:lstStyle/>
          <a:p>
            <a:r>
              <a:rPr lang="en-US" b="1" dirty="0" smtClean="0"/>
              <a:t>Infinite Targets Along Screen </a:t>
            </a:r>
            <a:r>
              <a:rPr lang="en-US" b="1" dirty="0" smtClean="0"/>
              <a:t>Edges</a:t>
            </a:r>
          </a:p>
          <a:p>
            <a:pPr lvl="1"/>
            <a:r>
              <a:rPr lang="en-US" dirty="0" smtClean="0"/>
              <a:t>the final-movement component can be greatly reduced if the target is very big — or even infinite. </a:t>
            </a:r>
            <a:endParaRPr lang="en-US" b="1" dirty="0" smtClean="0"/>
          </a:p>
          <a:p>
            <a:endParaRPr lang="en-US" dirty="0"/>
          </a:p>
        </p:txBody>
      </p:sp>
      <p:pic>
        <p:nvPicPr>
          <p:cNvPr id="11266" name="Picture 2"/>
          <p:cNvPicPr>
            <a:picLocks noChangeAspect="1" noChangeArrowheads="1"/>
          </p:cNvPicPr>
          <p:nvPr/>
        </p:nvPicPr>
        <p:blipFill>
          <a:blip r:embed="rId2"/>
          <a:srcRect/>
          <a:stretch>
            <a:fillRect/>
          </a:stretch>
        </p:blipFill>
        <p:spPr bwMode="auto">
          <a:xfrm>
            <a:off x="6715140" y="928670"/>
            <a:ext cx="2286016" cy="928083"/>
          </a:xfrm>
          <a:prstGeom prst="rect">
            <a:avLst/>
          </a:prstGeom>
          <a:noFill/>
          <a:ln w="9525">
            <a:noFill/>
            <a:miter lim="800000"/>
            <a:headEnd/>
            <a:tailEnd/>
          </a:ln>
          <a:effectLst/>
        </p:spPr>
      </p:pic>
      <p:pic>
        <p:nvPicPr>
          <p:cNvPr id="11268" name="Picture 4"/>
          <p:cNvPicPr>
            <a:picLocks noChangeAspect="1" noChangeArrowheads="1"/>
          </p:cNvPicPr>
          <p:nvPr/>
        </p:nvPicPr>
        <p:blipFill>
          <a:blip r:embed="rId3"/>
          <a:srcRect/>
          <a:stretch>
            <a:fillRect/>
          </a:stretch>
        </p:blipFill>
        <p:spPr bwMode="auto">
          <a:xfrm>
            <a:off x="2643174" y="3000372"/>
            <a:ext cx="5732284" cy="371477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Optimizing Target Size</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Infinite Targets Along Screen Edges</a:t>
            </a:r>
          </a:p>
          <a:p>
            <a:pPr lvl="1"/>
            <a:r>
              <a:rPr lang="en-US" dirty="0" smtClean="0"/>
              <a:t>in </a:t>
            </a:r>
            <a:r>
              <a:rPr lang="en-US" dirty="0" smtClean="0"/>
              <a:t>order to reach a target placed on the edge of the screen, the user doesn’t have to slow down as much as if the target was in the middle of the screen because there is no danger of overshooting – the pointer will be automatically stopped once it hits the edge of the screen</a:t>
            </a:r>
            <a:r>
              <a:rPr lang="en-US" dirty="0" smtClean="0"/>
              <a:t>.</a:t>
            </a:r>
          </a:p>
          <a:p>
            <a:pPr lvl="1"/>
            <a:r>
              <a:rPr lang="en-US" dirty="0" smtClean="0"/>
              <a:t> </a:t>
            </a:r>
            <a:r>
              <a:rPr lang="en-US" dirty="0" smtClean="0"/>
              <a:t>Ex., in </a:t>
            </a:r>
            <a:r>
              <a:rPr lang="en-US" dirty="0" err="1" smtClean="0"/>
              <a:t>MacOS</a:t>
            </a:r>
            <a:r>
              <a:rPr lang="en-US" dirty="0" smtClean="0"/>
              <a:t>, application menus are shown at the very top of the screen, on the horizontal edge. This enables the user to reach that area very easily.  </a:t>
            </a:r>
            <a:endParaRPr lang="en-US" dirty="0" smtClean="0"/>
          </a:p>
          <a:p>
            <a:pPr lvl="1"/>
            <a:r>
              <a:rPr lang="en-US" dirty="0" smtClean="0"/>
              <a:t>Ex., in </a:t>
            </a:r>
            <a:r>
              <a:rPr lang="en-US" dirty="0" smtClean="0"/>
              <a:t>Windows (at least until Windows 8) the start button was placed in the bottom left corner of the screen. In both operating systems, icons for various frequently used applications are placed along the bottom of the screen.</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357158" y="214290"/>
            <a:ext cx="5086350" cy="3209925"/>
          </a:xfrm>
          <a:prstGeom prst="rect">
            <a:avLst/>
          </a:prstGeom>
          <a:noFill/>
          <a:ln w="9525">
            <a:noFill/>
            <a:miter lim="800000"/>
            <a:headEnd/>
            <a:tailEnd/>
          </a:ln>
          <a:effectLst/>
        </p:spPr>
      </p:pic>
      <p:pic>
        <p:nvPicPr>
          <p:cNvPr id="12291" name="Picture 3"/>
          <p:cNvPicPr>
            <a:picLocks noChangeAspect="1" noChangeArrowheads="1"/>
          </p:cNvPicPr>
          <p:nvPr/>
        </p:nvPicPr>
        <p:blipFill>
          <a:blip r:embed="rId3"/>
          <a:srcRect/>
          <a:stretch>
            <a:fillRect/>
          </a:stretch>
        </p:blipFill>
        <p:spPr bwMode="auto">
          <a:xfrm>
            <a:off x="3286116" y="3571876"/>
            <a:ext cx="5076825" cy="2914650"/>
          </a:xfrm>
          <a:prstGeom prst="rect">
            <a:avLst/>
          </a:prstGeom>
          <a:noFill/>
          <a:ln w="9525">
            <a:noFill/>
            <a:miter lim="800000"/>
            <a:headEnd/>
            <a:tailEnd/>
          </a:ln>
          <a:effectLst/>
        </p:spPr>
      </p:pic>
      <p:sp>
        <p:nvSpPr>
          <p:cNvPr id="6" name="Rectangle 5"/>
          <p:cNvSpPr/>
          <p:nvPr/>
        </p:nvSpPr>
        <p:spPr>
          <a:xfrm>
            <a:off x="357158" y="4000504"/>
            <a:ext cx="2786082" cy="2585323"/>
          </a:xfrm>
          <a:prstGeom prst="rect">
            <a:avLst/>
          </a:prstGeom>
        </p:spPr>
        <p:txBody>
          <a:bodyPr wrap="square">
            <a:spAutoFit/>
          </a:bodyPr>
          <a:lstStyle/>
          <a:p>
            <a:r>
              <a:rPr lang="en-US" i="1" dirty="0" smtClean="0"/>
              <a:t>In Windows, the task bar hosting a variety of commonly used apps, is shown at the bottom of the screen. This location also optimizes movement time because the application icons become infinite targets</a:t>
            </a:r>
            <a:r>
              <a:rPr lang="en-US" dirty="0" smtClean="0"/>
              <a:t>.</a:t>
            </a:r>
            <a:endParaRPr lang="en-US" dirty="0"/>
          </a:p>
        </p:txBody>
      </p:sp>
      <p:sp>
        <p:nvSpPr>
          <p:cNvPr id="7" name="Rectangle 6"/>
          <p:cNvSpPr/>
          <p:nvPr/>
        </p:nvSpPr>
        <p:spPr>
          <a:xfrm>
            <a:off x="5643570" y="214290"/>
            <a:ext cx="3286148" cy="2862322"/>
          </a:xfrm>
          <a:prstGeom prst="rect">
            <a:avLst/>
          </a:prstGeom>
        </p:spPr>
        <p:txBody>
          <a:bodyPr wrap="square">
            <a:spAutoFit/>
          </a:bodyPr>
          <a:lstStyle/>
          <a:p>
            <a:r>
              <a:rPr lang="en-US" i="1" dirty="0" smtClean="0"/>
              <a:t>In </a:t>
            </a:r>
            <a:r>
              <a:rPr lang="en-US" i="1" dirty="0" err="1" smtClean="0"/>
              <a:t>MacOS</a:t>
            </a:r>
            <a:r>
              <a:rPr lang="en-US" i="1" dirty="0" smtClean="0"/>
              <a:t>, the application menu is placed at the top edge of the screen, which acts as an infinite edge. This placement optimizes movement time to this frequently accessed area, as the options in the menu become infinite targets and users will not need to slow down in order to hit them accurately.</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329510" cy="582594"/>
          </a:xfrm>
        </p:spPr>
        <p:txBody>
          <a:bodyPr>
            <a:normAutofit fontScale="90000"/>
          </a:bodyPr>
          <a:lstStyle/>
          <a:p>
            <a:r>
              <a:rPr lang="en-US" b="1" dirty="0" smtClean="0"/>
              <a:t>Optimizing Target Size</a:t>
            </a:r>
            <a:endParaRPr lang="en-US" dirty="0"/>
          </a:p>
        </p:txBody>
      </p:sp>
      <p:sp>
        <p:nvSpPr>
          <p:cNvPr id="3" name="Content Placeholder 2"/>
          <p:cNvSpPr>
            <a:spLocks noGrp="1"/>
          </p:cNvSpPr>
          <p:nvPr>
            <p:ph idx="1"/>
          </p:nvPr>
        </p:nvSpPr>
        <p:spPr>
          <a:xfrm>
            <a:off x="357158" y="1071546"/>
            <a:ext cx="8229600" cy="4525963"/>
          </a:xfrm>
        </p:spPr>
        <p:txBody>
          <a:bodyPr>
            <a:normAutofit lnSpcReduction="10000"/>
          </a:bodyPr>
          <a:lstStyle/>
          <a:p>
            <a:r>
              <a:rPr lang="en-US" b="1" dirty="0" smtClean="0"/>
              <a:t>Don’t Crowd </a:t>
            </a:r>
            <a:r>
              <a:rPr lang="en-US" b="1" dirty="0" smtClean="0"/>
              <a:t>Targets</a:t>
            </a:r>
          </a:p>
          <a:p>
            <a:pPr lvl="1"/>
            <a:r>
              <a:rPr lang="en-US" dirty="0" smtClean="0"/>
              <a:t>If you place targets too close to each other, there is a risk that people will accidentally overshoot and accidentally trigger the wrong target</a:t>
            </a:r>
            <a:r>
              <a:rPr lang="en-US" dirty="0" smtClean="0"/>
              <a:t>.</a:t>
            </a:r>
          </a:p>
          <a:p>
            <a:r>
              <a:rPr lang="en-US" b="1" dirty="0" smtClean="0"/>
              <a:t>Padding Is Not </a:t>
            </a:r>
            <a:r>
              <a:rPr lang="en-US" b="1" dirty="0" smtClean="0"/>
              <a:t>Enough</a:t>
            </a:r>
          </a:p>
          <a:p>
            <a:pPr lvl="1"/>
            <a:r>
              <a:rPr lang="en-US" dirty="0" smtClean="0"/>
              <a:t>if people do not realize that a target is padded, they may still cautiously slow down more than necessary as they get closer to the target, in order to make sure they will not go beyond the target area.</a:t>
            </a:r>
            <a:endParaRPr lang="en-US" b="1" dirty="0" smtClean="0"/>
          </a:p>
          <a:p>
            <a:endParaRPr lang="en-US" b="1" dirty="0" smtClean="0"/>
          </a:p>
          <a:p>
            <a:endParaRPr lang="en-US" dirty="0"/>
          </a:p>
        </p:txBody>
      </p:sp>
      <p:pic>
        <p:nvPicPr>
          <p:cNvPr id="13314" name="Picture 2"/>
          <p:cNvPicPr>
            <a:picLocks noChangeAspect="1" noChangeArrowheads="1"/>
          </p:cNvPicPr>
          <p:nvPr/>
        </p:nvPicPr>
        <p:blipFill>
          <a:blip r:embed="rId2"/>
          <a:srcRect/>
          <a:stretch>
            <a:fillRect/>
          </a:stretch>
        </p:blipFill>
        <p:spPr bwMode="auto">
          <a:xfrm>
            <a:off x="3428992" y="5000636"/>
            <a:ext cx="2786082" cy="1754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3059</TotalTime>
  <Words>925</Words>
  <Application>Microsoft Office PowerPoint</Application>
  <PresentationFormat>On-screen Show (4:3)</PresentationFormat>
  <Paragraphs>81</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Module_2</vt:lpstr>
      <vt:lpstr>HUMAN INFORMATION PROCESSING</vt:lpstr>
      <vt:lpstr>Our focus - Human factors</vt:lpstr>
      <vt:lpstr>Human factors</vt:lpstr>
      <vt:lpstr>Human factors</vt:lpstr>
      <vt:lpstr>Human factors</vt:lpstr>
      <vt:lpstr>Task Modeling and Human Problem-Solving Model</vt:lpstr>
      <vt:lpstr>Overall human problem-solving model and process</vt:lpstr>
      <vt:lpstr>Detailed view of the “decision maker/executor.”</vt:lpstr>
      <vt:lpstr>Hierarchical task model of changing a font for a short text</vt:lpstr>
      <vt:lpstr>Human Reaction and Prediction of Cognitive Performance</vt:lpstr>
      <vt:lpstr>GOMS (Goals, Operators, Methods, and Selection)</vt:lpstr>
      <vt:lpstr>Human Body Ergonomics (Motor Capabilities)   Fitts’s Law </vt:lpstr>
      <vt:lpstr> an index of difficulty</vt:lpstr>
      <vt:lpstr>Fitts’s Law</vt:lpstr>
      <vt:lpstr> Implications of Fitts’s law </vt:lpstr>
      <vt:lpstr>Fitts’s Law</vt:lpstr>
      <vt:lpstr>Fitts’s Law</vt:lpstr>
      <vt:lpstr>Optimizing Distance to Target</vt:lpstr>
      <vt:lpstr>Optimizing Distance to Target</vt:lpstr>
      <vt:lpstr>Place Related Targets Close to Each Other </vt:lpstr>
      <vt:lpstr>Place Related Targets Close to Each Other </vt:lpstr>
      <vt:lpstr>Optimizing Target Size </vt:lpstr>
      <vt:lpstr>Optimizing Target Size </vt:lpstr>
      <vt:lpstr>Optimizing Target Size </vt:lpstr>
      <vt:lpstr>Optimizing Target Size</vt:lpstr>
      <vt:lpstr>Slide 27</vt:lpstr>
      <vt:lpstr>Optimizing Target Size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Module_2</dc:title>
  <dc:creator>Personal</dc:creator>
  <cp:lastModifiedBy>Personal</cp:lastModifiedBy>
  <cp:revision>19</cp:revision>
  <dcterms:created xsi:type="dcterms:W3CDTF">2024-01-20T07:47:23Z</dcterms:created>
  <dcterms:modified xsi:type="dcterms:W3CDTF">2024-01-24T05:01:10Z</dcterms:modified>
</cp:coreProperties>
</file>