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2"/>
  </p:notesMasterIdLst>
  <p:sldIdLst>
    <p:sldId id="256" r:id="rId2"/>
    <p:sldId id="257" r:id="rId3"/>
    <p:sldId id="258" r:id="rId4"/>
    <p:sldId id="260" r:id="rId5"/>
    <p:sldId id="339" r:id="rId6"/>
    <p:sldId id="340" r:id="rId7"/>
    <p:sldId id="341" r:id="rId8"/>
    <p:sldId id="342" r:id="rId9"/>
    <p:sldId id="261" r:id="rId10"/>
    <p:sldId id="262" r:id="rId11"/>
    <p:sldId id="263" r:id="rId12"/>
    <p:sldId id="259" r:id="rId13"/>
    <p:sldId id="346" r:id="rId14"/>
    <p:sldId id="264" r:id="rId15"/>
    <p:sldId id="347" r:id="rId16"/>
    <p:sldId id="265" r:id="rId17"/>
    <p:sldId id="349" r:id="rId18"/>
    <p:sldId id="348" r:id="rId19"/>
    <p:sldId id="266" r:id="rId20"/>
    <p:sldId id="350" r:id="rId21"/>
    <p:sldId id="267" r:id="rId22"/>
    <p:sldId id="351" r:id="rId23"/>
    <p:sldId id="268" r:id="rId24"/>
    <p:sldId id="352" r:id="rId25"/>
    <p:sldId id="271" r:id="rId26"/>
    <p:sldId id="353" r:id="rId27"/>
    <p:sldId id="272" r:id="rId28"/>
    <p:sldId id="354" r:id="rId29"/>
    <p:sldId id="343" r:id="rId30"/>
    <p:sldId id="344" r:id="rId31"/>
    <p:sldId id="355" r:id="rId32"/>
    <p:sldId id="356" r:id="rId33"/>
    <p:sldId id="357" r:id="rId34"/>
    <p:sldId id="345" r:id="rId35"/>
    <p:sldId id="358" r:id="rId36"/>
    <p:sldId id="359" r:id="rId37"/>
    <p:sldId id="360" r:id="rId38"/>
    <p:sldId id="269" r:id="rId39"/>
    <p:sldId id="270" r:id="rId40"/>
    <p:sldId id="361" r:id="rId41"/>
    <p:sldId id="273" r:id="rId42"/>
    <p:sldId id="362" r:id="rId43"/>
    <p:sldId id="274" r:id="rId44"/>
    <p:sldId id="363" r:id="rId45"/>
    <p:sldId id="275" r:id="rId46"/>
    <p:sldId id="364" r:id="rId47"/>
    <p:sldId id="276" r:id="rId48"/>
    <p:sldId id="372" r:id="rId49"/>
    <p:sldId id="366" r:id="rId50"/>
    <p:sldId id="277" r:id="rId51"/>
    <p:sldId id="278" r:id="rId52"/>
    <p:sldId id="367" r:id="rId53"/>
    <p:sldId id="280" r:id="rId54"/>
    <p:sldId id="368" r:id="rId55"/>
    <p:sldId id="279" r:id="rId56"/>
    <p:sldId id="369" r:id="rId57"/>
    <p:sldId id="281" r:id="rId58"/>
    <p:sldId id="370" r:id="rId59"/>
    <p:sldId id="282" r:id="rId60"/>
    <p:sldId id="371" r:id="rId61"/>
    <p:sldId id="284" r:id="rId62"/>
    <p:sldId id="283" r:id="rId63"/>
    <p:sldId id="288" r:id="rId64"/>
    <p:sldId id="290" r:id="rId65"/>
    <p:sldId id="291" r:id="rId66"/>
    <p:sldId id="292" r:id="rId67"/>
    <p:sldId id="285" r:id="rId68"/>
    <p:sldId id="286" r:id="rId69"/>
    <p:sldId id="287" r:id="rId70"/>
    <p:sldId id="293" r:id="rId71"/>
    <p:sldId id="294" r:id="rId72"/>
    <p:sldId id="295" r:id="rId73"/>
    <p:sldId id="297" r:id="rId74"/>
    <p:sldId id="298" r:id="rId75"/>
    <p:sldId id="296" r:id="rId76"/>
    <p:sldId id="299" r:id="rId77"/>
    <p:sldId id="301" r:id="rId78"/>
    <p:sldId id="302" r:id="rId79"/>
    <p:sldId id="303" r:id="rId80"/>
    <p:sldId id="311" r:id="rId81"/>
    <p:sldId id="305" r:id="rId82"/>
    <p:sldId id="306" r:id="rId83"/>
    <p:sldId id="300" r:id="rId84"/>
    <p:sldId id="304" r:id="rId85"/>
    <p:sldId id="307" r:id="rId86"/>
    <p:sldId id="308" r:id="rId87"/>
    <p:sldId id="309" r:id="rId88"/>
    <p:sldId id="310" r:id="rId89"/>
    <p:sldId id="312" r:id="rId90"/>
    <p:sldId id="313" r:id="rId91"/>
    <p:sldId id="332" r:id="rId92"/>
    <p:sldId id="333" r:id="rId93"/>
    <p:sldId id="334" r:id="rId94"/>
    <p:sldId id="335" r:id="rId95"/>
    <p:sldId id="336" r:id="rId96"/>
    <p:sldId id="337" r:id="rId97"/>
    <p:sldId id="338" r:id="rId98"/>
    <p:sldId id="315" r:id="rId99"/>
    <p:sldId id="316" r:id="rId100"/>
    <p:sldId id="317" r:id="rId101"/>
    <p:sldId id="318" r:id="rId102"/>
    <p:sldId id="319" r:id="rId103"/>
    <p:sldId id="320" r:id="rId104"/>
    <p:sldId id="321" r:id="rId105"/>
    <p:sldId id="322" r:id="rId106"/>
    <p:sldId id="323" r:id="rId107"/>
    <p:sldId id="324" r:id="rId108"/>
    <p:sldId id="325" r:id="rId109"/>
    <p:sldId id="378" r:id="rId110"/>
    <p:sldId id="326" r:id="rId111"/>
    <p:sldId id="373" r:id="rId112"/>
    <p:sldId id="327" r:id="rId113"/>
    <p:sldId id="374" r:id="rId114"/>
    <p:sldId id="328" r:id="rId115"/>
    <p:sldId id="377" r:id="rId116"/>
    <p:sldId id="329" r:id="rId117"/>
    <p:sldId id="330" r:id="rId118"/>
    <p:sldId id="375" r:id="rId119"/>
    <p:sldId id="331" r:id="rId120"/>
    <p:sldId id="376" r:id="rId1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1D8A9-E64B-4890-8515-E557C8AD5E0A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CE9F0-50BD-4C98-9AD7-EDC0DF1B81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CE9F0-50BD-4C98-9AD7-EDC0DF1B81D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36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CE9F0-50BD-4C98-9AD7-EDC0DF1B81D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99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CE9F0-50BD-4C98-9AD7-EDC0DF1B81D4}" type="slidenum">
              <a:rPr lang="en-US" smtClean="0"/>
              <a:pPr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CE9F0-50BD-4C98-9AD7-EDC0DF1B81D4}" type="slidenum">
              <a:rPr lang="en-US" smtClean="0"/>
              <a:pPr/>
              <a:t>108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CE9F0-50BD-4C98-9AD7-EDC0DF1B81D4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77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CE9F0-50BD-4C98-9AD7-EDC0DF1B81D4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2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9664F-2C84-48E7-AB95-8F91F540E3E2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096C8-A59D-42CB-B3F4-7D3F79B1DE3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hyperlink" Target="https://guidelines.india.gov.in/quick-tips/" TargetMode="Externa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Human Computer Interaction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Module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Principles of Good Interface and Screen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well-designed interface and screen </a:t>
            </a:r>
          </a:p>
          <a:p>
            <a:pPr lvl="1"/>
            <a:r>
              <a:rPr lang="en-US" dirty="0"/>
              <a:t>Reflects the capabilities, needs and tasks of its users. </a:t>
            </a:r>
          </a:p>
          <a:p>
            <a:pPr lvl="1"/>
            <a:r>
              <a:rPr lang="en-US" dirty="0"/>
              <a:t>Is developed within the physical constraints imposed by the hardware on which it is displayed. </a:t>
            </a:r>
          </a:p>
          <a:p>
            <a:pPr lvl="1"/>
            <a:r>
              <a:rPr lang="en-US" dirty="0"/>
              <a:t>Utilizes the capabilities of its controlling software effectively. </a:t>
            </a:r>
          </a:p>
          <a:p>
            <a:pPr lvl="1"/>
            <a:r>
              <a:rPr lang="en-US" dirty="0"/>
              <a:t>Achieves the business objectives of the system for which it is designed.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Human Considerations in Interface and Screen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Poor Design Discourage the User (Barnett 1993, 2005) </a:t>
            </a:r>
          </a:p>
          <a:p>
            <a:pPr lvl="1"/>
            <a:r>
              <a:rPr lang="en-US" dirty="0"/>
              <a:t>Unclear captions and badly worded questions.</a:t>
            </a:r>
          </a:p>
          <a:p>
            <a:pPr lvl="1"/>
            <a:r>
              <a:rPr lang="en-US" dirty="0"/>
              <a:t>Improper type and graphic emphasis.</a:t>
            </a:r>
          </a:p>
          <a:p>
            <a:pPr lvl="1"/>
            <a:r>
              <a:rPr lang="en-US" dirty="0"/>
              <a:t>Misleading headings.</a:t>
            </a:r>
          </a:p>
          <a:p>
            <a:pPr lvl="1"/>
            <a:r>
              <a:rPr lang="en-US" dirty="0"/>
              <a:t>Information requests perceived to be irrelevant or unnecessary.</a:t>
            </a:r>
          </a:p>
          <a:p>
            <a:pPr lvl="1"/>
            <a:r>
              <a:rPr lang="en-US" dirty="0"/>
              <a:t>Information requests that require one to backtrack and rethink a previous answer, or look ahead to determine possible context.</a:t>
            </a:r>
          </a:p>
          <a:p>
            <a:pPr lvl="1"/>
            <a:r>
              <a:rPr lang="en-US" dirty="0"/>
              <a:t>Cluttered, cramped layout.</a:t>
            </a:r>
          </a:p>
          <a:p>
            <a:pPr lvl="1"/>
            <a:r>
              <a:rPr lang="en-US" dirty="0"/>
              <a:t>Poor quality of presentation, legibility, appearance, and arrangement.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Human Considerations in Interface and Screen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Most common problems in visual interface design </a:t>
            </a:r>
            <a:r>
              <a:rPr lang="en-US" dirty="0" err="1"/>
              <a:t>Howlett</a:t>
            </a:r>
            <a:r>
              <a:rPr lang="en-US" dirty="0"/>
              <a:t> (1995) </a:t>
            </a:r>
          </a:p>
          <a:p>
            <a:pPr lvl="1"/>
            <a:r>
              <a:rPr lang="en-US" dirty="0"/>
              <a:t>Visual inconsistency in screen detail </a:t>
            </a:r>
          </a:p>
          <a:p>
            <a:pPr lvl="1"/>
            <a:r>
              <a:rPr lang="en-US" dirty="0"/>
              <a:t>Lack of restraint in the use of design features and elements. </a:t>
            </a:r>
          </a:p>
          <a:p>
            <a:pPr lvl="1"/>
            <a:r>
              <a:rPr lang="en-US" dirty="0"/>
              <a:t>Overuse of three-dimensional presentations. </a:t>
            </a:r>
          </a:p>
          <a:p>
            <a:pPr lvl="1"/>
            <a:r>
              <a:rPr lang="en-US" dirty="0"/>
              <a:t>Overuse of too many bright colors. </a:t>
            </a:r>
          </a:p>
          <a:p>
            <a:pPr lvl="1"/>
            <a:r>
              <a:rPr lang="en-US" dirty="0"/>
              <a:t>Poorly designed icons. </a:t>
            </a:r>
          </a:p>
          <a:p>
            <a:pPr lvl="1"/>
            <a:r>
              <a:rPr lang="en-US" dirty="0"/>
              <a:t>Bad typography. </a:t>
            </a:r>
          </a:p>
          <a:p>
            <a:pPr lvl="1"/>
            <a:r>
              <a:rPr lang="en-US" dirty="0"/>
              <a:t>Metaphors that are either overbearing, too cute or too literal, thereby restricting design options.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185C-7C4A-4C04-8C27-DFC5EFC7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b="1" i="0" dirty="0">
                <a:solidFill>
                  <a:srgbClr val="2B2B2B"/>
                </a:solidFill>
                <a:effectLst/>
                <a:latin typeface="var(--font-sans-serif)"/>
              </a:rPr>
              <a:t>Ex’s:</a:t>
            </a:r>
            <a:br>
              <a:rPr lang="en-IN" sz="2500" b="1" i="0" dirty="0">
                <a:solidFill>
                  <a:srgbClr val="2B2B2B"/>
                </a:solidFill>
                <a:effectLst/>
                <a:latin typeface="var(--font-sans-serif)"/>
              </a:rPr>
            </a:br>
            <a:r>
              <a:rPr lang="en-IN" sz="2500" b="1" i="0" dirty="0">
                <a:solidFill>
                  <a:srgbClr val="2B2B2B"/>
                </a:solidFill>
                <a:effectLst/>
                <a:latin typeface="var(--font-sans-serif)"/>
              </a:rPr>
              <a:t>Overlapping Elements</a:t>
            </a:r>
            <a:endParaRPr lang="en-IN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8AF86-A6AD-456D-6135-46FA333A2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E1270-D2AA-6E6A-AFE6-67A871FB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7" y="1633669"/>
            <a:ext cx="8433245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896E-7BF2-65F4-E043-414BB86A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  <a:t>Ex’s:</a:t>
            </a:r>
            <a:b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</a:br>
            <a: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  <a:t>Badly Prioritizing Elements</a:t>
            </a:r>
            <a:b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CE40C-1F2F-DC97-D11E-C7C79CD6E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4788C-0D20-E8FE-B773-9159F48B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378" y="1196752"/>
            <a:ext cx="6682006" cy="54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5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4B1B-6759-F7BA-2E4A-E0B4212E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  <a:t>Ex’s:</a:t>
            </a:r>
            <a:b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</a:br>
            <a: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  <a:t>Cluttered Layout</a:t>
            </a:r>
            <a:b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32A2B-899F-3FF6-A568-2D2778047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D546D-2B0D-33B5-506D-F2EE054AD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124744"/>
            <a:ext cx="6192688" cy="53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0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21F4-FF5A-4592-C34A-9172EA8E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Ex’s:</a:t>
            </a:r>
            <a:br>
              <a:rPr lang="en-IN" sz="2400" dirty="0"/>
            </a:br>
            <a: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  <a:t>High Contrast and Visibility</a:t>
            </a:r>
            <a:br>
              <a:rPr lang="en-IN" sz="2400" b="1" i="0" dirty="0">
                <a:solidFill>
                  <a:srgbClr val="2B2B2B"/>
                </a:solidFill>
                <a:effectLst/>
                <a:latin typeface="var(--font-sans-serif)"/>
              </a:rPr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56B51-BCC5-4874-75FE-8765582D2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6FE76-9BD5-B6A6-B180-C6CAB1C03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3" y="1584176"/>
            <a:ext cx="8210141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1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page distractions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64360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Numerous visual and auditory interruptions. </a:t>
            </a:r>
          </a:p>
          <a:p>
            <a:r>
              <a:rPr lang="en-US" dirty="0"/>
              <a:t>Extensive visual clutter. </a:t>
            </a:r>
          </a:p>
          <a:p>
            <a:r>
              <a:rPr lang="en-US" dirty="0"/>
              <a:t>Poor information readability. </a:t>
            </a:r>
          </a:p>
          <a:p>
            <a:r>
              <a:rPr lang="en-US" dirty="0"/>
              <a:t>Poor information legibility. </a:t>
            </a:r>
          </a:p>
          <a:p>
            <a:r>
              <a:rPr lang="en-US" dirty="0"/>
              <a:t>Incomprehensible screen components. </a:t>
            </a:r>
          </a:p>
          <a:p>
            <a:r>
              <a:rPr lang="en-US" dirty="0"/>
              <a:t>Confusing and inefficient navigation. </a:t>
            </a:r>
          </a:p>
          <a:p>
            <a:r>
              <a:rPr lang="en-US" dirty="0"/>
              <a:t>Inefficient operations and extensive waste of user time. </a:t>
            </a:r>
          </a:p>
          <a:p>
            <a:r>
              <a:rPr lang="en-US" dirty="0"/>
              <a:t>Excessive or inefficient page scrolling. </a:t>
            </a:r>
          </a:p>
          <a:p>
            <a:r>
              <a:rPr lang="en-US" dirty="0"/>
              <a:t>Information overload. </a:t>
            </a:r>
          </a:p>
          <a:p>
            <a:r>
              <a:rPr lang="en-US" dirty="0"/>
              <a:t>Design inconsistency. </a:t>
            </a:r>
          </a:p>
          <a:p>
            <a:r>
              <a:rPr lang="en-US" dirty="0"/>
              <a:t>Outdated information. </a:t>
            </a:r>
          </a:p>
          <a:p>
            <a:r>
              <a:rPr lang="en-US" dirty="0"/>
              <a:t>Stale design caused by emulation of printed documents and past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Top design mistakes in Web design Nielsen (2005e)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86412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1. Legibility problems, including small fonts and poor contrast between text and backgrounds. </a:t>
            </a:r>
          </a:p>
          <a:p>
            <a:pPr>
              <a:buNone/>
            </a:pPr>
            <a:r>
              <a:rPr lang="en-US" dirty="0"/>
              <a:t>2. Nonstandard presentation of links. </a:t>
            </a:r>
          </a:p>
          <a:p>
            <a:pPr>
              <a:buNone/>
            </a:pPr>
            <a:r>
              <a:rPr lang="en-US" dirty="0"/>
              <a:t>3. Annoying use of Flash. </a:t>
            </a:r>
          </a:p>
          <a:p>
            <a:pPr>
              <a:buNone/>
            </a:pPr>
            <a:r>
              <a:rPr lang="en-US" dirty="0"/>
              <a:t>4. Content that has not been written for the Web. </a:t>
            </a:r>
          </a:p>
          <a:p>
            <a:pPr>
              <a:buNone/>
            </a:pPr>
            <a:r>
              <a:rPr lang="en-US" dirty="0"/>
              <a:t>5. Poor search facilities. </a:t>
            </a:r>
          </a:p>
          <a:p>
            <a:pPr>
              <a:buNone/>
            </a:pPr>
            <a:r>
              <a:rPr lang="en-US" dirty="0"/>
              <a:t>6. Browser incompatibilities. </a:t>
            </a:r>
          </a:p>
          <a:p>
            <a:pPr>
              <a:buNone/>
            </a:pPr>
            <a:r>
              <a:rPr lang="en-US" dirty="0"/>
              <a:t>7. Cumbersome forms to fill out. </a:t>
            </a:r>
          </a:p>
          <a:p>
            <a:pPr>
              <a:buNone/>
            </a:pPr>
            <a:r>
              <a:rPr lang="en-US" dirty="0"/>
              <a:t>8. No contact or other company information included. </a:t>
            </a:r>
          </a:p>
          <a:p>
            <a:pPr>
              <a:buNone/>
            </a:pPr>
            <a:r>
              <a:rPr lang="en-US" dirty="0"/>
              <a:t>9. Frozen layouts with fixed page widths resulting in cutting off the side of a page. </a:t>
            </a:r>
          </a:p>
          <a:p>
            <a:pPr>
              <a:buNone/>
            </a:pPr>
            <a:r>
              <a:rPr lang="en-US" dirty="0"/>
              <a:t>10. Inadequate photo enlargement.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visual work.</a:t>
            </a:r>
          </a:p>
          <a:p>
            <a:r>
              <a:rPr lang="en-US" dirty="0"/>
              <a:t>Reduce intellectual work.</a:t>
            </a:r>
          </a:p>
          <a:p>
            <a:r>
              <a:rPr lang="en-US" dirty="0"/>
              <a:t>Reduce memory work.</a:t>
            </a:r>
          </a:p>
          <a:p>
            <a:r>
              <a:rPr lang="en-US" dirty="0"/>
              <a:t>Reduce motor work.</a:t>
            </a:r>
          </a:p>
          <a:p>
            <a:r>
              <a:rPr lang="en-US" dirty="0"/>
              <a:t>Minimize or eliminate any burdens or instructions imposed by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864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Provide real-world consistency. Reflect a person’s experiences, expectations, work conventions, and cultural conventions.</a:t>
            </a:r>
          </a:p>
          <a:p>
            <a:r>
              <a:rPr lang="en-US" dirty="0"/>
              <a:t>Provide internal consistency. Observe the same conventions and rules for all aspects of an interface screen, and all application or Web site screens, including</a:t>
            </a:r>
          </a:p>
          <a:p>
            <a:pPr lvl="1"/>
            <a:r>
              <a:rPr lang="en-US" dirty="0"/>
              <a:t>Operational and navigational procedures.</a:t>
            </a:r>
          </a:p>
          <a:p>
            <a:pPr lvl="1"/>
            <a:r>
              <a:rPr lang="en-US" dirty="0"/>
              <a:t>Visual identity or theme.</a:t>
            </a:r>
          </a:p>
          <a:p>
            <a:pPr lvl="1"/>
            <a:r>
              <a:rPr lang="en-US" dirty="0"/>
              <a:t>Component</a:t>
            </a:r>
          </a:p>
          <a:p>
            <a:pPr lvl="2"/>
            <a:r>
              <a:rPr lang="en-US" dirty="0"/>
              <a:t>Organization.</a:t>
            </a:r>
          </a:p>
          <a:p>
            <a:pPr lvl="2"/>
            <a:r>
              <a:rPr lang="en-US" dirty="0"/>
              <a:t>Presentation.</a:t>
            </a:r>
          </a:p>
          <a:p>
            <a:pPr lvl="2"/>
            <a:r>
              <a:rPr lang="en-US" dirty="0"/>
              <a:t>Usage.</a:t>
            </a:r>
          </a:p>
          <a:p>
            <a:pPr lvl="2"/>
            <a:r>
              <a:rPr lang="en-US" dirty="0"/>
              <a:t>Locations.</a:t>
            </a:r>
          </a:p>
          <a:p>
            <a:r>
              <a:rPr lang="en-US" dirty="0"/>
              <a:t>Follow the same conventions and rules across all related interfaces.</a:t>
            </a:r>
          </a:p>
          <a:p>
            <a:r>
              <a:rPr lang="en-US" dirty="0"/>
              <a:t>Deviate only when there is a clear benefit for the user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D446-BF28-ABE0-A120-CE67A0AD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24" y="2708920"/>
            <a:ext cx="4176464" cy="778098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Real-world consistency - Uses familiar Indian conventions—₹ pricing, vegetarian symbol, UPI/Cash on Delivery, delivery time and a clear </a:t>
            </a:r>
            <a:r>
              <a:rPr lang="en-IN" sz="2800" b="1" dirty="0"/>
              <a:t>Place Order</a:t>
            </a:r>
            <a:r>
              <a:rPr lang="en-IN" sz="2800" dirty="0"/>
              <a:t> button.</a:t>
            </a:r>
            <a:br>
              <a:rPr lang="en-IN" sz="2800" dirty="0"/>
            </a:b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0B42A1-1A26-3C71-4F35-DAB988BD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86396"/>
            <a:ext cx="4320480" cy="648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84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Ordering of Data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71546"/>
            <a:ext cx="8358246" cy="5572164"/>
          </a:xfrm>
        </p:spPr>
        <p:txBody>
          <a:bodyPr>
            <a:noAutofit/>
          </a:bodyPr>
          <a:lstStyle/>
          <a:p>
            <a:r>
              <a:rPr lang="en-US" sz="2800" dirty="0"/>
              <a:t>Divide information into units that are logical, meaningful, and sensible.</a:t>
            </a:r>
          </a:p>
          <a:p>
            <a:r>
              <a:rPr lang="en-US" sz="2800" dirty="0"/>
              <a:t>Organize by the degree of interrelationship between data or information.</a:t>
            </a:r>
          </a:p>
          <a:p>
            <a:r>
              <a:rPr lang="en-US" sz="2800" dirty="0"/>
              <a:t>Provide an ordering of screen units of information and elements that is prioritized according to the user’s expectations and needs.</a:t>
            </a:r>
          </a:p>
          <a:p>
            <a:r>
              <a:rPr lang="en-US" sz="2800" dirty="0"/>
              <a:t>Form groups that cover all possibilities.</a:t>
            </a:r>
          </a:p>
          <a:p>
            <a:r>
              <a:rPr lang="en-US" sz="2800" dirty="0"/>
              <a:t>Ensure that information that must be compared is visible at the same time.</a:t>
            </a:r>
          </a:p>
          <a:p>
            <a:r>
              <a:rPr lang="en-US" sz="2800" dirty="0"/>
              <a:t>Ensure that only information relative to the users’ tasks or needs is presented on the screen.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FE9FA-3C62-4439-1AE5-F67ABFD7A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132856"/>
            <a:ext cx="4114800" cy="399330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screen follows a logical order, groups related delivery information, shows product options side by side for comparison, and displays only purchase-relevant details.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344F0-7A3E-BCD2-7F7D-8240CA831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02332"/>
            <a:ext cx="4320480" cy="64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12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of Data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information ordering schemes include the following:</a:t>
            </a:r>
          </a:p>
          <a:p>
            <a:pPr lvl="1"/>
            <a:r>
              <a:rPr lang="en-US" dirty="0"/>
              <a:t>Conventional</a:t>
            </a:r>
          </a:p>
          <a:p>
            <a:pPr lvl="1"/>
            <a:r>
              <a:rPr lang="en-US" dirty="0"/>
              <a:t>Sequence of use</a:t>
            </a:r>
          </a:p>
          <a:p>
            <a:pPr lvl="1"/>
            <a:r>
              <a:rPr lang="en-US" dirty="0"/>
              <a:t>Frequency of use</a:t>
            </a:r>
          </a:p>
          <a:p>
            <a:pPr lvl="1"/>
            <a:r>
              <a:rPr lang="en-US" dirty="0"/>
              <a:t>Function or category</a:t>
            </a:r>
          </a:p>
          <a:p>
            <a:pPr lvl="1"/>
            <a:r>
              <a:rPr lang="en-US" dirty="0"/>
              <a:t>Importance</a:t>
            </a:r>
          </a:p>
          <a:p>
            <a:pPr lvl="1"/>
            <a:r>
              <a:rPr lang="en-US" dirty="0"/>
              <a:t>General to specific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C9CF-1879-78B7-0B26-6C10429F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5075-6BCD-7FB8-159D-08B2A2A68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3E9D6-AEDD-C654-4F05-D1197C26A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4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B8E8-80F3-BF18-8A5F-FBABC930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6E092-5775-91E5-C169-9E1A722F1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UI design ordering examples">
            <a:extLst>
              <a:ext uri="{FF2B5EF4-FFF2-40B4-BE49-F238E27FC236}">
                <a16:creationId xmlns:a16="http://schemas.microsoft.com/office/drawing/2014/main" id="{C44636A8-0AFD-FA46-C00F-C97E7C032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3" y="280385"/>
            <a:ext cx="8794733" cy="586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59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of Data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Ordering Web Pages</a:t>
            </a:r>
          </a:p>
          <a:p>
            <a:pPr lvl="1"/>
            <a:r>
              <a:rPr lang="en-US" dirty="0"/>
              <a:t>Establish levels of importance.</a:t>
            </a:r>
          </a:p>
          <a:p>
            <a:pPr lvl="1"/>
            <a:r>
              <a:rPr lang="en-US" dirty="0"/>
              <a:t>Place critical information near the top of the Web site.</a:t>
            </a:r>
          </a:p>
          <a:p>
            <a:pPr lvl="1"/>
            <a:r>
              <a:rPr lang="en-US" dirty="0"/>
              <a:t>Place important items at the top of a page.</a:t>
            </a:r>
          </a:p>
          <a:p>
            <a:pPr lvl="1"/>
            <a:r>
              <a:rPr lang="en-US" dirty="0"/>
              <a:t>Organize information clearly.</a:t>
            </a:r>
          </a:p>
          <a:p>
            <a:pPr lvl="1"/>
            <a:r>
              <a:rPr lang="en-US" dirty="0"/>
              <a:t>Place important items consistently.</a:t>
            </a:r>
          </a:p>
          <a:p>
            <a:pPr lvl="1"/>
            <a:r>
              <a:rPr lang="en-US" dirty="0"/>
              <a:t>Facilitate scanning.</a:t>
            </a:r>
          </a:p>
          <a:p>
            <a:pPr lvl="1"/>
            <a:r>
              <a:rPr lang="en-US" dirty="0"/>
              <a:t>Structure for easy comparison.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825A-D54E-32A2-56C7-C4220887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6865C-EEDD-F269-B535-8C8F33286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5780511"/>
            <a:ext cx="8147248" cy="835306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The webpage places the application deadline and primary action at the top, groups related information clearly, supports quick scanning, and displays programmes side by side for easy comparison.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EF268-51E8-18FC-BCDB-553F0079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6632"/>
            <a:ext cx="8568952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07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and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578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Provide an ordering of screen information and elements that</a:t>
            </a:r>
          </a:p>
          <a:p>
            <a:pPr lvl="1"/>
            <a:r>
              <a:rPr lang="en-US" dirty="0"/>
              <a:t>Is rhythmic, guiding a person’s eye through the display.</a:t>
            </a:r>
          </a:p>
          <a:p>
            <a:pPr lvl="1"/>
            <a:r>
              <a:rPr lang="en-US" dirty="0"/>
              <a:t>Encourages natural movement sequences.</a:t>
            </a:r>
          </a:p>
          <a:p>
            <a:pPr lvl="1"/>
            <a:r>
              <a:rPr lang="en-US" dirty="0"/>
              <a:t>Minimizes pointer and eye movement distances.</a:t>
            </a:r>
          </a:p>
          <a:p>
            <a:r>
              <a:rPr lang="en-US" dirty="0"/>
              <a:t>Locate the most important and most frequently used elements or controls at the top left.</a:t>
            </a:r>
          </a:p>
          <a:p>
            <a:r>
              <a:rPr lang="en-US" dirty="0"/>
              <a:t>Maintain a top-to-bottom, left-to-right flow.</a:t>
            </a:r>
          </a:p>
          <a:p>
            <a:r>
              <a:rPr lang="en-US" dirty="0"/>
              <a:t>Assist in navigation through a screen by</a:t>
            </a:r>
          </a:p>
          <a:p>
            <a:pPr lvl="1"/>
            <a:r>
              <a:rPr lang="en-US" dirty="0"/>
              <a:t>Aligning elements.</a:t>
            </a:r>
          </a:p>
          <a:p>
            <a:pPr lvl="1"/>
            <a:r>
              <a:rPr lang="en-US" dirty="0"/>
              <a:t>Grouping elements.</a:t>
            </a:r>
          </a:p>
          <a:p>
            <a:pPr lvl="1"/>
            <a:r>
              <a:rPr lang="en-US" dirty="0"/>
              <a:t>Using line borders.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5E44-87A7-BF85-367D-DBBD252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FCF8C-4954-6640-6FB1-CADCB6772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70" y="5517232"/>
            <a:ext cx="8210330" cy="122413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The checkout screen guides the eye naturally from </a:t>
            </a:r>
            <a:r>
              <a:rPr lang="en-IN" b="1" dirty="0"/>
              <a:t>Cart → Delivery → Payment</a:t>
            </a:r>
            <a:r>
              <a:rPr lang="en-IN" dirty="0"/>
              <a:t>, groups related fields, maintains clear alignment and borders, and places actions close to where users complete the task.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BDD6D-A778-2A40-16E6-9444200AD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70" y="116632"/>
            <a:ext cx="7524328" cy="501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97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and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2149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Through focus and emphasis, sequentially, direct attention to items that are</a:t>
            </a:r>
          </a:p>
          <a:p>
            <a:pPr lvl="1"/>
            <a:r>
              <a:rPr lang="en-US" dirty="0"/>
              <a:t>Critical.</a:t>
            </a:r>
          </a:p>
          <a:p>
            <a:pPr lvl="1"/>
            <a:r>
              <a:rPr lang="en-US" dirty="0"/>
              <a:t>Important.</a:t>
            </a:r>
          </a:p>
          <a:p>
            <a:pPr lvl="1"/>
            <a:r>
              <a:rPr lang="en-US" dirty="0"/>
              <a:t>Secondary.</a:t>
            </a:r>
          </a:p>
          <a:p>
            <a:pPr lvl="1"/>
            <a:r>
              <a:rPr lang="en-US" dirty="0"/>
              <a:t>Peripheral.</a:t>
            </a:r>
          </a:p>
          <a:p>
            <a:r>
              <a:rPr lang="en-US" dirty="0"/>
              <a:t>Tab through windows in logical order of displayed information.</a:t>
            </a:r>
          </a:p>
          <a:p>
            <a:r>
              <a:rPr lang="en-US" dirty="0"/>
              <a:t>Locate command buttons at end of the tabbing order sequence.</a:t>
            </a:r>
          </a:p>
          <a:p>
            <a:r>
              <a:rPr lang="en-US" dirty="0"/>
              <a:t>When groups of related information must be broken and displayed on separate screens, provide breaks at logical or natural points in the information flow.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B742-51AD-0877-A80A-8E938596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EDDCD7-0E06-F311-32CE-518B09E64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182" y="288093"/>
            <a:ext cx="8254617" cy="53011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204208-BD35-2D90-C522-8CB12C39CFAB}"/>
              </a:ext>
            </a:extLst>
          </p:cNvPr>
          <p:cNvSpPr txBox="1"/>
          <p:nvPr/>
        </p:nvSpPr>
        <p:spPr>
          <a:xfrm>
            <a:off x="251520" y="5805264"/>
            <a:ext cx="8640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screen emphasizes critical information first, follows a logical </a:t>
            </a:r>
            <a:r>
              <a:rPr lang="en-IN" b="1" dirty="0"/>
              <a:t>1–5 tab order</a:t>
            </a:r>
            <a:r>
              <a:rPr lang="en-IN" dirty="0"/>
              <a:t>, places the command button last, and divides the task into natural stages: </a:t>
            </a:r>
            <a:r>
              <a:rPr lang="en-IN" b="1" dirty="0"/>
              <a:t>Recipient → Amount → Review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0283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and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4948"/>
          </a:xfrm>
        </p:spPr>
        <p:txBody>
          <a:bodyPr>
            <a:normAutofit/>
          </a:bodyPr>
          <a:lstStyle/>
          <a:p>
            <a:r>
              <a:rPr lang="en-US" dirty="0"/>
              <a:t>Eye movement through a screen</a:t>
            </a:r>
          </a:p>
          <a:p>
            <a:pPr>
              <a:buNone/>
            </a:pPr>
            <a:r>
              <a:rPr lang="en-US" dirty="0"/>
              <a:t>	the eye tends to move sequentially, </a:t>
            </a:r>
          </a:p>
          <a:p>
            <a:pPr lvl="1"/>
            <a:r>
              <a:rPr lang="en-US" dirty="0"/>
              <a:t>From dark areas to light areas. </a:t>
            </a:r>
          </a:p>
          <a:p>
            <a:pPr lvl="1"/>
            <a:r>
              <a:rPr lang="en-US" dirty="0"/>
              <a:t>From big objects to little objects. </a:t>
            </a:r>
          </a:p>
          <a:p>
            <a:pPr lvl="1"/>
            <a:r>
              <a:rPr lang="en-US" dirty="0"/>
              <a:t>From unusual shapes to common shapes. </a:t>
            </a:r>
          </a:p>
          <a:p>
            <a:pPr lvl="1"/>
            <a:r>
              <a:rPr lang="en-US" dirty="0"/>
              <a:t> From highly saturated colors to unsaturated colors.</a:t>
            </a:r>
          </a:p>
          <a:p>
            <a:pPr lvl="1">
              <a:buNone/>
            </a:pPr>
            <a:r>
              <a:rPr lang="en-US" dirty="0"/>
              <a:t>Through this, we can guide a person's attention to a specific area of the screen and then redirect it elsewhere.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609F-229E-44E5-691D-0207D22B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FEA65-889A-FEEB-2852-5E8295E2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5411753"/>
            <a:ext cx="8363272" cy="146876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This food-delivery checkout demonstrates:</a:t>
            </a:r>
          </a:p>
          <a:p>
            <a:pPr lvl="0"/>
            <a:r>
              <a:rPr lang="en-IN" dirty="0"/>
              <a:t>Clear emphasis: critical allergy warning appears first. </a:t>
            </a:r>
          </a:p>
          <a:p>
            <a:pPr lvl="0"/>
            <a:r>
              <a:rPr lang="en-IN" dirty="0"/>
              <a:t>Logical navigation: focus order is numbered 1–5. </a:t>
            </a:r>
          </a:p>
          <a:p>
            <a:pPr lvl="0"/>
            <a:r>
              <a:rPr lang="en-IN" dirty="0"/>
              <a:t>Natural stages: Cart → Delivery → Payment → Review. </a:t>
            </a:r>
          </a:p>
          <a:p>
            <a:pPr lvl="0"/>
            <a:r>
              <a:rPr lang="en-IN" dirty="0"/>
              <a:t>The main command, </a:t>
            </a:r>
            <a:r>
              <a:rPr lang="en-IN" b="1" dirty="0"/>
              <a:t>Review Order</a:t>
            </a:r>
            <a:r>
              <a:rPr lang="en-IN" dirty="0"/>
              <a:t>, appears at the end. </a:t>
            </a:r>
          </a:p>
          <a:p>
            <a:pPr lvl="0"/>
            <a:r>
              <a:rPr lang="en-IN" dirty="0"/>
              <a:t>Related information is grouped for easy scanning.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A5478-9D4D-C5AF-6ADF-BB9352427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" y="116632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74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Navigation and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755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Maintain a top-to-bottom, left-to-right flow through the screen.</a:t>
            </a:r>
          </a:p>
          <a:p>
            <a:r>
              <a:rPr lang="en-US" dirty="0"/>
              <a:t>The top-to-bottom orientation is recommended for information entry for the following reasons: </a:t>
            </a:r>
          </a:p>
          <a:p>
            <a:pPr lvl="1"/>
            <a:r>
              <a:rPr lang="en-US" dirty="0"/>
              <a:t>Eye movements between items will be shorter. </a:t>
            </a:r>
          </a:p>
          <a:p>
            <a:pPr lvl="1"/>
            <a:r>
              <a:rPr lang="en-US" dirty="0"/>
              <a:t>Control movements between items will be shorter. </a:t>
            </a:r>
          </a:p>
          <a:p>
            <a:r>
              <a:rPr lang="en-US" dirty="0"/>
              <a:t>Groupings are more obvious perceptually (</a:t>
            </a:r>
            <a:r>
              <a:rPr lang="en-IN" dirty="0"/>
              <a:t>Gestalt principles)</a:t>
            </a:r>
            <a:r>
              <a:rPr lang="en-US" dirty="0"/>
              <a:t>. </a:t>
            </a:r>
          </a:p>
          <a:p>
            <a:r>
              <a:rPr lang="en-US" dirty="0"/>
              <a:t>When one’s eye moves away from the screen and then back, it returns to about the same place it left, even if it is seeking the next item in a sequence (a visual anchor point remains)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1536-3686-8B62-034D-C80DE984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6E70-0A79-04EE-56EA-38FF477A7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Sample registration form UI">
            <a:extLst>
              <a:ext uri="{FF2B5EF4-FFF2-40B4-BE49-F238E27FC236}">
                <a16:creationId xmlns:a16="http://schemas.microsoft.com/office/drawing/2014/main" id="{3137798B-61F2-AF5C-9F3E-1A3E9FA3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2" y="379513"/>
            <a:ext cx="8619975" cy="574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1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42F7-1DB8-88B5-9ACC-C1932359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Gestalt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40E9-E88A-A88B-8CF2-2B5276AC9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AF55A-9197-6C2E-5B7A-7135358FC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761"/>
            <a:ext cx="8229600" cy="534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78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42F7-1DB8-88B5-9ACC-C1932359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Gestalt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40E9-E88A-A88B-8CF2-2B5276AC9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Proximity:</a:t>
            </a:r>
            <a:r>
              <a:rPr lang="en-US" dirty="0"/>
              <a:t> Elements that are close to each other tend to be perceived as a group.</a:t>
            </a:r>
            <a:br>
              <a:rPr lang="en-US" dirty="0"/>
            </a:br>
            <a:r>
              <a:rPr lang="en-US" i="1" dirty="0"/>
              <a:t>Example: Words in a paragraph are seen as separate lines because of spacing.</a:t>
            </a:r>
          </a:p>
          <a:p>
            <a:r>
              <a:rPr lang="en-US" b="1" i="1" dirty="0"/>
              <a:t>Similarity: </a:t>
            </a:r>
            <a:r>
              <a:rPr lang="en-US" i="1" dirty="0"/>
              <a:t>Elements that look alike (in color, shape, size, or texture) are perceived as belonging together.</a:t>
            </a:r>
          </a:p>
          <a:p>
            <a:pPr marL="0" indent="0">
              <a:buNone/>
            </a:pPr>
            <a:r>
              <a:rPr lang="en-US" i="1" dirty="0"/>
              <a:t>   Example: Items in the same color on a   dashboard are grouped mentally.</a:t>
            </a:r>
          </a:p>
          <a:p>
            <a:r>
              <a:rPr lang="en-US" b="1" i="1" dirty="0"/>
              <a:t>Continuity: </a:t>
            </a:r>
            <a:r>
              <a:rPr lang="en-US" i="1" dirty="0"/>
              <a:t>Our eyes follow the smoothest path, creating continuous forms rather than disjointed elements.</a:t>
            </a:r>
          </a:p>
          <a:p>
            <a:pPr marL="0" indent="0">
              <a:buNone/>
            </a:pPr>
            <a:r>
              <a:rPr lang="en-US" i="1" dirty="0"/>
              <a:t>     Example: A curved line intersecting a straight line is </a:t>
            </a:r>
          </a:p>
          <a:p>
            <a:pPr marL="0" indent="0">
              <a:buNone/>
            </a:pPr>
            <a:r>
              <a:rPr lang="en-US" i="1" dirty="0"/>
              <a:t>     seen as two continuous lines, not a random shape.</a:t>
            </a:r>
          </a:p>
          <a:p>
            <a:endParaRPr lang="en-US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082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2E6E-A003-F57C-52C9-DE454A10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6611B-C578-7475-29E5-6AAD1FF1A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BDCD2-24EA-5CC5-6B6D-4F37CCCD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906397"/>
            <a:ext cx="8964488" cy="50452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662658-D57F-2B7B-74ED-41D7647AAF0F}"/>
              </a:ext>
            </a:extLst>
          </p:cNvPr>
          <p:cNvSpPr txBox="1"/>
          <p:nvPr/>
        </p:nvSpPr>
        <p:spPr>
          <a:xfrm>
            <a:off x="457200" y="6183671"/>
            <a:ext cx="8229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Proximity: Related portal options are placed close together in separate cards.</a:t>
            </a:r>
          </a:p>
        </p:txBody>
      </p:sp>
    </p:spTree>
    <p:extLst>
      <p:ext uri="{BB962C8B-B14F-4D97-AF65-F5344CB8AC3E}">
        <p14:creationId xmlns:p14="http://schemas.microsoft.com/office/powerpoint/2010/main" val="3586228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06D2-0094-8B2B-02F1-E1992CEF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1D70-B476-B9BB-4DFD-8E73E24D4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5A4B5-4752-3BA5-AD19-D7AC746BD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87" y="308419"/>
            <a:ext cx="8794225" cy="4949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346BE5-26EA-5F0E-E512-63A2A0FEAB8F}"/>
              </a:ext>
            </a:extLst>
          </p:cNvPr>
          <p:cNvSpPr txBox="1"/>
          <p:nvPr/>
        </p:nvSpPr>
        <p:spPr>
          <a:xfrm>
            <a:off x="611560" y="5662394"/>
            <a:ext cx="8532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Continuity: The eyes naturally follow the smooth metro lines as continuous routes.</a:t>
            </a:r>
          </a:p>
        </p:txBody>
      </p:sp>
    </p:spTree>
    <p:extLst>
      <p:ext uri="{BB962C8B-B14F-4D97-AF65-F5344CB8AC3E}">
        <p14:creationId xmlns:p14="http://schemas.microsoft.com/office/powerpoint/2010/main" val="1159484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16C2-05C8-44E0-A4AE-2FF97CC2B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6DE8B-7D4B-F880-1389-CC969DF3A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D3DE02-62BC-2183-5C05-368AFB929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458"/>
            <a:ext cx="8686800" cy="4888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4F63B7-E1EF-F0C0-AF4A-153D073752E6}"/>
              </a:ext>
            </a:extLst>
          </p:cNvPr>
          <p:cNvSpPr txBox="1"/>
          <p:nvPr/>
        </p:nvSpPr>
        <p:spPr>
          <a:xfrm>
            <a:off x="457200" y="5399661"/>
            <a:ext cx="8075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Similarity: Matching colours and shapes identify vegetarian, non-vegetarian and beverage items.</a:t>
            </a:r>
          </a:p>
        </p:txBody>
      </p:sp>
    </p:spTree>
    <p:extLst>
      <p:ext uri="{BB962C8B-B14F-4D97-AF65-F5344CB8AC3E}">
        <p14:creationId xmlns:p14="http://schemas.microsoft.com/office/powerpoint/2010/main" val="3480070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42F7-1DB8-88B5-9ACC-C1932359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Gestalt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40E9-E88A-A88B-8CF2-2B5276AC9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Closure: </a:t>
            </a:r>
            <a:r>
              <a:rPr lang="en-US" dirty="0"/>
              <a:t>The mind fills in gaps to perceive complete shapes. Example: A circle drawn with gaps is still seen as a complete circle.</a:t>
            </a:r>
          </a:p>
          <a:p>
            <a:r>
              <a:rPr lang="en-US" b="1" dirty="0" err="1"/>
              <a:t>Symmetery</a:t>
            </a:r>
            <a:r>
              <a:rPr lang="en-US" b="1" dirty="0"/>
              <a:t>: </a:t>
            </a:r>
            <a:r>
              <a:rPr lang="en-US" dirty="0"/>
              <a:t>Elements that move together are perceived as part of the same group. Example: Birds flying in the same direction appear as a single flock.</a:t>
            </a:r>
          </a:p>
          <a:p>
            <a:r>
              <a:rPr lang="en-US" b="1" dirty="0"/>
              <a:t>Figure-Ground: </a:t>
            </a:r>
            <a:r>
              <a:rPr lang="en-US" dirty="0"/>
              <a:t>We tend to separate objects from their background, focusing on either the figure or the background at a time. Example: A white vase on a black background can also look like two faces in profile.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405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84BE-C24D-67C7-8622-B9C91FFBF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5768B6-4707-2424-95E5-B9669098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33" y="274638"/>
            <a:ext cx="8538333" cy="480536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35EBC5-FA9A-1A81-A5BA-360677D1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1A49A-DBE9-E827-13C9-C60789574A90}"/>
              </a:ext>
            </a:extLst>
          </p:cNvPr>
          <p:cNvSpPr txBox="1"/>
          <p:nvPr/>
        </p:nvSpPr>
        <p:spPr>
          <a:xfrm>
            <a:off x="476402" y="5289991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Closure: The incomplete circular progress ring is perceived as a complete circle.</a:t>
            </a:r>
          </a:p>
        </p:txBody>
      </p:sp>
    </p:spTree>
    <p:extLst>
      <p:ext uri="{BB962C8B-B14F-4D97-AF65-F5344CB8AC3E}">
        <p14:creationId xmlns:p14="http://schemas.microsoft.com/office/powerpoint/2010/main" val="3927569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54212-0C23-4F71-3882-023CDF67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9BD14-4142-2196-1265-01DC43A39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91A27-96B3-F4A7-97EF-40F67613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1566"/>
            <a:ext cx="8837290" cy="4973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6A6E56-70DD-4020-1C37-6D9AC3280A0F}"/>
              </a:ext>
            </a:extLst>
          </p:cNvPr>
          <p:cNvSpPr txBox="1"/>
          <p:nvPr/>
        </p:nvSpPr>
        <p:spPr>
          <a:xfrm>
            <a:off x="199206" y="5305091"/>
            <a:ext cx="8837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Symmetry: Mirrored departure and return sections appear related and balanced.</a:t>
            </a:r>
          </a:p>
        </p:txBody>
      </p:sp>
    </p:spTree>
    <p:extLst>
      <p:ext uri="{BB962C8B-B14F-4D97-AF65-F5344CB8AC3E}">
        <p14:creationId xmlns:p14="http://schemas.microsoft.com/office/powerpoint/2010/main" val="198119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2626-1B87-44DD-DCE3-E46C6EBB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C5E8D-EB37-2109-1F49-4B74EBBA8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1515B-9A1E-AF8E-1A45-4493B3947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71257"/>
            <a:ext cx="8666279" cy="4877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05F473-F46F-19E4-A100-972295DD860B}"/>
              </a:ext>
            </a:extLst>
          </p:cNvPr>
          <p:cNvSpPr txBox="1"/>
          <p:nvPr/>
        </p:nvSpPr>
        <p:spPr>
          <a:xfrm>
            <a:off x="254247" y="5452730"/>
            <a:ext cx="863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Figure–Ground: The bright music-player card stands out clearly from the dark background.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578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Visually Pleasing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58204" cy="484030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Provide a visually or aesthetically pleasing composition possessing the following qualities:</a:t>
            </a:r>
          </a:p>
          <a:p>
            <a:pPr lvl="1"/>
            <a:r>
              <a:rPr lang="en-US" dirty="0"/>
              <a:t>Balance</a:t>
            </a:r>
          </a:p>
          <a:p>
            <a:pPr lvl="1"/>
            <a:r>
              <a:rPr lang="en-US" dirty="0"/>
              <a:t>Symmetry</a:t>
            </a:r>
          </a:p>
          <a:p>
            <a:pPr lvl="1"/>
            <a:r>
              <a:rPr lang="en-US" dirty="0"/>
              <a:t>Regularity</a:t>
            </a:r>
          </a:p>
          <a:p>
            <a:pPr lvl="1"/>
            <a:r>
              <a:rPr lang="en-US" dirty="0"/>
              <a:t>Predictability</a:t>
            </a:r>
          </a:p>
          <a:p>
            <a:pPr lvl="1"/>
            <a:r>
              <a:rPr lang="en-US" dirty="0" err="1"/>
              <a:t>Sequentiality</a:t>
            </a:r>
            <a:endParaRPr lang="en-US" dirty="0"/>
          </a:p>
          <a:p>
            <a:pPr lvl="1"/>
            <a:r>
              <a:rPr lang="en-US" dirty="0"/>
              <a:t>Economy</a:t>
            </a:r>
          </a:p>
          <a:p>
            <a:pPr lvl="1"/>
            <a:r>
              <a:rPr lang="en-US" dirty="0"/>
              <a:t>Unity</a:t>
            </a:r>
          </a:p>
          <a:p>
            <a:pPr lvl="1"/>
            <a:r>
              <a:rPr lang="en-US" dirty="0"/>
              <a:t>Proportion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Groupings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/>
          <a:lstStyle/>
          <a:p>
            <a:r>
              <a:rPr lang="en-US" dirty="0"/>
              <a:t>Create screen balance by providing an equal weight of screen elements, left and right, top and bottom.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2786058"/>
            <a:ext cx="4843473" cy="3987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2128D-ECB4-0F7F-C0E5-28CDE1A9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E75AC-8860-4269-0F7F-C773D7BC2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600"/>
            <a:ext cx="9144000" cy="5146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E21B95-A26C-2C6C-94CB-7AACC577AC0A}"/>
              </a:ext>
            </a:extLst>
          </p:cNvPr>
          <p:cNvSpPr txBox="1"/>
          <p:nvPr/>
        </p:nvSpPr>
        <p:spPr>
          <a:xfrm>
            <a:off x="440365" y="5802997"/>
            <a:ext cx="7848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Balance:</a:t>
            </a:r>
            <a:r>
              <a:rPr lang="en-IN" dirty="0"/>
              <a:t> The dashboard distributes visual weight evenly between attendance and academic-progress sections.</a:t>
            </a:r>
          </a:p>
        </p:txBody>
      </p:sp>
    </p:spTree>
    <p:extLst>
      <p:ext uri="{BB962C8B-B14F-4D97-AF65-F5344CB8AC3E}">
        <p14:creationId xmlns:p14="http://schemas.microsoft.com/office/powerpoint/2010/main" val="32312546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/>
          <a:lstStyle/>
          <a:p>
            <a:r>
              <a:rPr lang="en-US" dirty="0"/>
              <a:t>Create symmetry by replicating elements left and right of the screen centerline.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2350036"/>
            <a:ext cx="5438790" cy="4507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58FDF-980E-FDFA-8B1F-141C44F3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0" y="260648"/>
            <a:ext cx="9144000" cy="5146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15252-C03E-BF4D-FE0C-88F2FED57BEB}"/>
              </a:ext>
            </a:extLst>
          </p:cNvPr>
          <p:cNvSpPr txBox="1"/>
          <p:nvPr/>
        </p:nvSpPr>
        <p:spPr>
          <a:xfrm>
            <a:off x="179512" y="5733256"/>
            <a:ext cx="864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Symmetry:</a:t>
            </a:r>
            <a:r>
              <a:rPr lang="en-IN" dirty="0"/>
              <a:t> Identical check-in and check-out sections are mirrored around a central axis.</a:t>
            </a:r>
          </a:p>
        </p:txBody>
      </p:sp>
    </p:spTree>
    <p:extLst>
      <p:ext uri="{BB962C8B-B14F-4D97-AF65-F5344CB8AC3E}">
        <p14:creationId xmlns:p14="http://schemas.microsoft.com/office/powerpoint/2010/main" val="2406303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186766" cy="147161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Create regularity by establishing standard and consistently spaced horizontal and vertical alignment points. </a:t>
            </a:r>
          </a:p>
          <a:p>
            <a:r>
              <a:rPr lang="en-US" dirty="0"/>
              <a:t>Also, use similar element sizes, shapes, colors, and spacing.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2" y="2705305"/>
            <a:ext cx="5010162" cy="4152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B518B6-0B47-0467-8878-7D25FCFDE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640"/>
            <a:ext cx="9144000" cy="5146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C022C7-2F86-3458-687B-C29F3776F5D5}"/>
              </a:ext>
            </a:extLst>
          </p:cNvPr>
          <p:cNvSpPr txBox="1"/>
          <p:nvPr/>
        </p:nvSpPr>
        <p:spPr>
          <a:xfrm>
            <a:off x="323528" y="5661248"/>
            <a:ext cx="8280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Regularity:</a:t>
            </a:r>
            <a:r>
              <a:rPr lang="en-IN" dirty="0"/>
              <a:t> Equal rows, columns, spacing and card styles create an orderly timetable.</a:t>
            </a:r>
          </a:p>
        </p:txBody>
      </p:sp>
    </p:spTree>
    <p:extLst>
      <p:ext uri="{BB962C8B-B14F-4D97-AF65-F5344CB8AC3E}">
        <p14:creationId xmlns:p14="http://schemas.microsoft.com/office/powerpoint/2010/main" val="2493471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857232"/>
            <a:ext cx="8286808" cy="1971676"/>
          </a:xfrm>
        </p:spPr>
        <p:txBody>
          <a:bodyPr/>
          <a:lstStyle/>
          <a:p>
            <a:r>
              <a:rPr lang="en-US" dirty="0"/>
              <a:t>Create predictability by being consistent and following conventional orders or arrangements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0773" y="1857364"/>
            <a:ext cx="5867895" cy="471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C9ED20-3D75-68AD-6FD9-A45182036D97}"/>
              </a:ext>
            </a:extLst>
          </p:cNvPr>
          <p:cNvSpPr txBox="1"/>
          <p:nvPr/>
        </p:nvSpPr>
        <p:spPr>
          <a:xfrm>
            <a:off x="251520" y="6021288"/>
            <a:ext cx="7992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Predictability:</a:t>
            </a:r>
            <a:r>
              <a:rPr lang="en-IN" dirty="0"/>
              <a:t> Familiar product-page conventions help users immediately locate the price, size and Add to Cart button.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D0DAB-4982-8B8A-A6DB-AFD2BF6F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80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5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Sequentiality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Provide </a:t>
            </a:r>
            <a:r>
              <a:rPr lang="en-US" dirty="0" err="1"/>
              <a:t>sequentiality</a:t>
            </a:r>
            <a:r>
              <a:rPr lang="en-US" dirty="0"/>
              <a:t> by arranging elements to guide the eye through the screen in an obvious, logical, rhythmic, and efficient manner.</a:t>
            </a:r>
          </a:p>
          <a:p>
            <a:r>
              <a:rPr lang="en-US" dirty="0"/>
              <a:t>The eye tends to be attracted to</a:t>
            </a:r>
          </a:p>
          <a:p>
            <a:pPr lvl="1"/>
            <a:r>
              <a:rPr lang="en-US" dirty="0"/>
              <a:t>A brighter element before one less bright.</a:t>
            </a:r>
          </a:p>
          <a:p>
            <a:pPr lvl="1"/>
            <a:r>
              <a:rPr lang="en-US" dirty="0"/>
              <a:t>Isolated elements before elements in a group.</a:t>
            </a:r>
          </a:p>
          <a:p>
            <a:pPr lvl="1"/>
            <a:r>
              <a:rPr lang="en-US" dirty="0"/>
              <a:t>Graphics before text.</a:t>
            </a:r>
          </a:p>
          <a:p>
            <a:pPr lvl="1"/>
            <a:r>
              <a:rPr lang="en-US" dirty="0"/>
              <a:t>Color before black and white.</a:t>
            </a:r>
          </a:p>
          <a:p>
            <a:pPr lvl="1"/>
            <a:r>
              <a:rPr lang="en-US" dirty="0"/>
              <a:t>Highly saturated colors before those less saturated.</a:t>
            </a:r>
          </a:p>
          <a:p>
            <a:pPr lvl="1"/>
            <a:r>
              <a:rPr lang="en-US" dirty="0"/>
              <a:t>Dark areas before light areas.</a:t>
            </a:r>
          </a:p>
          <a:p>
            <a:pPr lvl="1"/>
            <a:r>
              <a:rPr lang="en-US" dirty="0"/>
              <a:t>A big element before a small one.</a:t>
            </a:r>
          </a:p>
          <a:p>
            <a:pPr lvl="1"/>
            <a:r>
              <a:rPr lang="en-US" dirty="0"/>
              <a:t>An unusual shape before a usual one.</a:t>
            </a:r>
          </a:p>
          <a:p>
            <a:pPr lvl="1"/>
            <a:r>
              <a:rPr lang="en-US" dirty="0"/>
              <a:t>Big objects before little objects.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4EF6-4EE7-F148-F282-FBA97374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6A82F-8F4E-243A-CA75-374B5618C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Netflix sequentiality example">
            <a:extLst>
              <a:ext uri="{FF2B5EF4-FFF2-40B4-BE49-F238E27FC236}">
                <a16:creationId xmlns:a16="http://schemas.microsoft.com/office/drawing/2014/main" id="{E0AFCBFE-6DA3-572E-84A6-5D9D0955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04664"/>
            <a:ext cx="834959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375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D657C-D75B-93BF-4B14-C5709649121E}"/>
              </a:ext>
            </a:extLst>
          </p:cNvPr>
          <p:cNvSpPr txBox="1"/>
          <p:nvPr/>
        </p:nvSpPr>
        <p:spPr>
          <a:xfrm>
            <a:off x="179512" y="6165304"/>
            <a:ext cx="806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Sequentiality</a:t>
            </a:r>
            <a:r>
              <a:rPr lang="en-IN" b="1" dirty="0"/>
              <a:t>:</a:t>
            </a:r>
            <a:r>
              <a:rPr lang="en-IN" dirty="0"/>
              <a:t> Numbered steps guide users through checkout in a clear, logical order.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81224-20F2-CD48-14F6-D2D3FA82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1" y="548680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81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Sequentiality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9936" y="1600200"/>
            <a:ext cx="548412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/>
              <a:t>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/>
          <a:p>
            <a:r>
              <a:rPr lang="en-US" dirty="0"/>
              <a:t>Provide economy by using as few styles, display techniques, and colors as possible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626457"/>
            <a:ext cx="5143513" cy="4231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3F9E3A-02FB-69DC-D004-00203970A1BC}"/>
              </a:ext>
            </a:extLst>
          </p:cNvPr>
          <p:cNvSpPr txBox="1"/>
          <p:nvPr/>
        </p:nvSpPr>
        <p:spPr>
          <a:xfrm>
            <a:off x="323528" y="6021288"/>
            <a:ext cx="8496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Economy:</a:t>
            </a:r>
            <a:r>
              <a:rPr lang="en-IN" dirty="0"/>
              <a:t> Only the information and controls necessary to transfer money are displayed.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12B34-ECF2-DC3A-8D1E-678F7B1AF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" y="332656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267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14422"/>
            <a:ext cx="4429156" cy="4857784"/>
          </a:xfrm>
        </p:spPr>
        <p:txBody>
          <a:bodyPr/>
          <a:lstStyle/>
          <a:p>
            <a:r>
              <a:rPr lang="en-US" dirty="0"/>
              <a:t>Create unity by </a:t>
            </a:r>
          </a:p>
          <a:p>
            <a:pPr lvl="1"/>
            <a:r>
              <a:rPr lang="en-US" dirty="0"/>
              <a:t>Using similar sizes, shapes, or colors for related information. </a:t>
            </a:r>
          </a:p>
          <a:p>
            <a:pPr lvl="1"/>
            <a:r>
              <a:rPr lang="en-US" dirty="0"/>
              <a:t>Leaving less space between elements of a screen than the space left at the margins.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1285860"/>
            <a:ext cx="4052893" cy="515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489BD1-1A76-3CEF-A6B5-584782E04A82}"/>
              </a:ext>
            </a:extLst>
          </p:cNvPr>
          <p:cNvSpPr txBox="1"/>
          <p:nvPr/>
        </p:nvSpPr>
        <p:spPr>
          <a:xfrm>
            <a:off x="179512" y="5934670"/>
            <a:ext cx="8640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Unity:</a:t>
            </a:r>
            <a:r>
              <a:rPr lang="en-IN" dirty="0"/>
              <a:t> Consistent colours, icons, typography and card designs make the dashboard feel like one composition.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D0670-609C-E664-6A48-09ADEE103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" y="476672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23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/>
              <a:t>Create windows and groupings of data or text with aesthetically pleasing proportions.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285860"/>
            <a:ext cx="3705225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AE9655-683D-28F2-00AC-1012AB3EA333}"/>
              </a:ext>
            </a:extLst>
          </p:cNvPr>
          <p:cNvSpPr txBox="1"/>
          <p:nvPr/>
        </p:nvSpPr>
        <p:spPr>
          <a:xfrm>
            <a:off x="395536" y="6021288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Proportion:</a:t>
            </a:r>
            <a:r>
              <a:rPr lang="en-IN" dirty="0"/>
              <a:t> The most important news occupies the largest area, while secondary stories use progressively smaller cards.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EAAC4-DB5C-0DDF-1ED4-B8E6A1CDC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342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Simplicity (Complexity)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29048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Optimize the number of elements on a screen, within limits of clarity. </a:t>
            </a:r>
          </a:p>
          <a:p>
            <a:r>
              <a:rPr lang="en-US" dirty="0"/>
              <a:t>Minimize the alignment points, especially horizontal or columnar. </a:t>
            </a:r>
          </a:p>
          <a:p>
            <a:pPr lvl="1"/>
            <a:r>
              <a:rPr lang="en-US" dirty="0"/>
              <a:t>Provide standard grids of horizontal and vertical lines to position elements.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1285860"/>
            <a:ext cx="4648209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3D1BF5-C4BF-5351-B80B-5A96F9B682E6}"/>
              </a:ext>
            </a:extLst>
          </p:cNvPr>
          <p:cNvSpPr txBox="1"/>
          <p:nvPr/>
        </p:nvSpPr>
        <p:spPr>
          <a:xfrm>
            <a:off x="251520" y="6093296"/>
            <a:ext cx="8640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Simplicity:</a:t>
            </a:r>
            <a:r>
              <a:rPr lang="en-IN" dirty="0"/>
              <a:t> One search field, one action and minimal supporting information make the interface easy to understand.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A914DC-50F8-264D-77D3-256DE17B7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672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930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Provide functional groupings of associated elements. </a:t>
            </a:r>
          </a:p>
          <a:p>
            <a:r>
              <a:rPr lang="en-US" dirty="0"/>
              <a:t>Create spatial groupings as closely as possible to five degrees of visual angle (1.67 inches in diameter or about 6 to 7 lines of text, 12 to 14 characters in width). </a:t>
            </a:r>
          </a:p>
          <a:p>
            <a:r>
              <a:rPr lang="en-US" dirty="0"/>
              <a:t>Evenly space controls within a grouping, allowing 1/8 to 1/4 inch between each. </a:t>
            </a:r>
          </a:p>
          <a:p>
            <a:r>
              <a:rPr lang="en-US" dirty="0"/>
              <a:t>Visually reinforce groupings: </a:t>
            </a:r>
          </a:p>
          <a:p>
            <a:pPr lvl="1"/>
            <a:r>
              <a:rPr lang="en-US" dirty="0"/>
              <a:t>Provide adequate separation between groupings through liberal use of white space. </a:t>
            </a:r>
          </a:p>
          <a:p>
            <a:pPr lvl="1"/>
            <a:r>
              <a:rPr lang="en-US" dirty="0"/>
              <a:t>Provide line borders around groups. </a:t>
            </a:r>
          </a:p>
          <a:p>
            <a:r>
              <a:rPr lang="en-US" dirty="0"/>
              <a:t>Provide meaningful titles for each grouping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32E154-75D1-32E1-8203-006F8BAD77DB}"/>
              </a:ext>
            </a:extLst>
          </p:cNvPr>
          <p:cNvSpPr txBox="1"/>
          <p:nvPr/>
        </p:nvSpPr>
        <p:spPr>
          <a:xfrm>
            <a:off x="179512" y="6093296"/>
            <a:ext cx="8568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Groupings:</a:t>
            </a:r>
            <a:r>
              <a:rPr lang="en-IN" dirty="0"/>
              <a:t> Related settings are placed together under clearly separated category headings.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314D7-4402-81F0-9D41-A128CEF3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86" y="476672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157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1497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Individual screen controls, and groups of controls, must be perceptually distinct. </a:t>
            </a:r>
          </a:p>
          <a:p>
            <a:r>
              <a:rPr lang="en-US" dirty="0"/>
              <a:t>Screen controls </a:t>
            </a:r>
          </a:p>
          <a:p>
            <a:pPr lvl="1"/>
            <a:r>
              <a:rPr lang="en-US" dirty="0"/>
              <a:t>Should not touch a window border. </a:t>
            </a:r>
          </a:p>
          <a:p>
            <a:pPr lvl="1"/>
            <a:r>
              <a:rPr lang="en-US" dirty="0"/>
              <a:t>Should not touch each other. </a:t>
            </a:r>
          </a:p>
          <a:p>
            <a:r>
              <a:rPr lang="en-US" dirty="0"/>
              <a:t>Field and group borders </a:t>
            </a:r>
          </a:p>
          <a:p>
            <a:pPr lvl="1"/>
            <a:r>
              <a:rPr lang="en-US" dirty="0"/>
              <a:t>Should not touch a window border. </a:t>
            </a:r>
          </a:p>
          <a:p>
            <a:pPr lvl="1"/>
            <a:r>
              <a:rPr lang="en-US" dirty="0"/>
              <a:t>Should not touch each other. </a:t>
            </a:r>
          </a:p>
          <a:p>
            <a:r>
              <a:rPr lang="en-US" dirty="0"/>
              <a:t>Buttons </a:t>
            </a:r>
          </a:p>
          <a:p>
            <a:pPr lvl="1"/>
            <a:r>
              <a:rPr lang="en-US" dirty="0"/>
              <a:t>Should not touch a window border. </a:t>
            </a:r>
          </a:p>
          <a:p>
            <a:pPr lvl="1"/>
            <a:r>
              <a:rPr lang="en-US" dirty="0"/>
              <a:t>Should not touch each other. </a:t>
            </a:r>
          </a:p>
          <a:p>
            <a:r>
              <a:rPr lang="en-US" dirty="0"/>
              <a:t>A button label should not touch the button border. </a:t>
            </a:r>
          </a:p>
          <a:p>
            <a:r>
              <a:rPr lang="en-US" dirty="0"/>
              <a:t>Adjacent screen elements must be displayed in colors or shades of sufficient contrast with one another.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and Emphasis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Emphasis is used to indicate importance or dominance.</a:t>
            </a:r>
          </a:p>
          <a:p>
            <a:r>
              <a:rPr lang="en-US" dirty="0"/>
              <a:t>Emphasis is a powerful way to control how a user will experience your design by making elements stand out when necessary.</a:t>
            </a:r>
          </a:p>
          <a:p>
            <a:r>
              <a:rPr lang="en-US" dirty="0"/>
              <a:t>Visually emphasize components such as </a:t>
            </a:r>
          </a:p>
          <a:p>
            <a:pPr lvl="1"/>
            <a:r>
              <a:rPr lang="en-US" dirty="0"/>
              <a:t>Most prominent elements. </a:t>
            </a:r>
          </a:p>
          <a:p>
            <a:pPr lvl="1"/>
            <a:r>
              <a:rPr lang="en-US" dirty="0"/>
              <a:t>Most important elements. </a:t>
            </a:r>
          </a:p>
          <a:p>
            <a:pPr lvl="1"/>
            <a:r>
              <a:rPr lang="en-US" dirty="0"/>
              <a:t>Central idea or focal point. </a:t>
            </a:r>
          </a:p>
          <a:p>
            <a:pPr lvl="1"/>
            <a:r>
              <a:rPr lang="en-US" dirty="0"/>
              <a:t>Changing elements. </a:t>
            </a:r>
          </a:p>
          <a:p>
            <a:pPr lvl="1"/>
            <a:r>
              <a:rPr lang="en-US" dirty="0"/>
              <a:t>Most critical elements.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FC175-C33B-B7F6-25B8-B3D742AD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547" y="4869160"/>
            <a:ext cx="3225966" cy="11684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Visually emphasize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fewer elements you have on a page, the easier it is to understand what you intended to communicate.</a:t>
            </a:r>
          </a:p>
        </p:txBody>
      </p:sp>
      <p:pic>
        <p:nvPicPr>
          <p:cNvPr id="1026" name="Picture 2" descr="alt tex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3571876"/>
            <a:ext cx="4944530" cy="24288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Visually emphasize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elements are added to your design, it becomes difficult for the eye to distinguish what it should focus on first, effectively losing any sense of hierarchy.</a:t>
            </a:r>
          </a:p>
        </p:txBody>
      </p:sp>
      <p:pic>
        <p:nvPicPr>
          <p:cNvPr id="1028" name="Picture 4" descr="alt tex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3786190"/>
            <a:ext cx="4819563" cy="250033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786446" y="3786190"/>
            <a:ext cx="31432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 this case, each element has roughly the same amount of emphasis. As a result, it’s not immediately obvious what your supposed to look at or what you’re supposed to do.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Visually emphasize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14422"/>
            <a:ext cx="5786478" cy="564357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Assessing the Hierarchy </a:t>
            </a:r>
          </a:p>
          <a:p>
            <a:pPr lvl="1"/>
            <a:r>
              <a:rPr lang="en-US" dirty="0"/>
              <a:t>The call-to-action will be to </a:t>
            </a:r>
            <a:r>
              <a:rPr lang="en-US" b="1" dirty="0"/>
              <a:t>“Choose Wisely,”</a:t>
            </a:r>
            <a:r>
              <a:rPr lang="en-US" dirty="0"/>
              <a:t> making it immediately clear what the user should do.</a:t>
            </a:r>
          </a:p>
          <a:p>
            <a:pPr lvl="1"/>
            <a:r>
              <a:rPr lang="en-US" dirty="0"/>
              <a:t>The primary button will be the </a:t>
            </a:r>
            <a:r>
              <a:rPr lang="en-US" b="1" dirty="0"/>
              <a:t>“No Me” button</a:t>
            </a:r>
            <a:r>
              <a:rPr lang="en-US" dirty="0"/>
              <a:t>. We’ll make this the second most emphasized element, so the user can </a:t>
            </a:r>
            <a:r>
              <a:rPr lang="en-US" dirty="0" err="1"/>
              <a:t>can</a:t>
            </a:r>
            <a:r>
              <a:rPr lang="en-US" dirty="0"/>
              <a:t> have confidence that it’s the “right choice.”</a:t>
            </a:r>
          </a:p>
          <a:p>
            <a:pPr lvl="1"/>
            <a:r>
              <a:rPr lang="en-US" dirty="0"/>
              <a:t>The secondary button will be the </a:t>
            </a:r>
            <a:r>
              <a:rPr lang="en-US" b="1" dirty="0"/>
              <a:t>“Click Me” button</a:t>
            </a:r>
            <a:r>
              <a:rPr lang="en-US" dirty="0"/>
              <a:t>. This button will have less emphasize to make it clear that it’s not as important as the primary button. </a:t>
            </a:r>
          </a:p>
          <a:p>
            <a:pPr lvl="1"/>
            <a:r>
              <a:rPr lang="en-US" dirty="0"/>
              <a:t>Next, we’ll make sure the reader knows </a:t>
            </a:r>
            <a:r>
              <a:rPr lang="en-US" b="1" dirty="0"/>
              <a:t>“only one option is correct”</a:t>
            </a:r>
            <a:r>
              <a:rPr lang="en-US" dirty="0"/>
              <a:t> by giving it more emphasis than the remaining text.</a:t>
            </a:r>
          </a:p>
          <a:p>
            <a:pPr lvl="1"/>
            <a:r>
              <a:rPr lang="en-US" dirty="0"/>
              <a:t>The </a:t>
            </a:r>
            <a:r>
              <a:rPr lang="en-US" b="1" dirty="0"/>
              <a:t>remaining text</a:t>
            </a:r>
            <a:r>
              <a:rPr lang="en-US" dirty="0"/>
              <a:t> is merely provided for more context. Since it’s not as important as the previous elements it will be toned down a bit.</a:t>
            </a:r>
          </a:p>
          <a:p>
            <a:pPr lvl="1"/>
            <a:r>
              <a:rPr lang="en-US" dirty="0"/>
              <a:t>Finally, the </a:t>
            </a:r>
            <a:r>
              <a:rPr lang="en-US" b="1" dirty="0"/>
              <a:t>waving hand icon</a:t>
            </a:r>
            <a:r>
              <a:rPr lang="en-US" dirty="0"/>
              <a:t> is the least important element. If anything, it only serves to help communicate the message subconsciously. Therefore, it will be muted to fade into the background.    </a:t>
            </a:r>
          </a:p>
          <a:p>
            <a:endParaRPr lang="en-US" b="1" dirty="0"/>
          </a:p>
        </p:txBody>
      </p:sp>
      <p:pic>
        <p:nvPicPr>
          <p:cNvPr id="47106" name="Picture 2" descr="alt tex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2571744"/>
            <a:ext cx="2786981" cy="15716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Visually emphasize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this plan in place, we can now strategically add or reduce focus for each element until we’ve created visual hierarchy:</a:t>
            </a:r>
          </a:p>
        </p:txBody>
      </p:sp>
      <p:pic>
        <p:nvPicPr>
          <p:cNvPr id="50178" name="Picture 2" descr="alt tex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286124"/>
            <a:ext cx="5600686" cy="31582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and Emphasis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58204" cy="54292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provide emphasis use techniques such as</a:t>
            </a:r>
          </a:p>
          <a:p>
            <a:pPr lvl="1"/>
            <a:r>
              <a:rPr lang="en-US" dirty="0"/>
              <a:t>Higher brightness.</a:t>
            </a:r>
          </a:p>
          <a:p>
            <a:pPr lvl="1"/>
            <a:r>
              <a:rPr lang="en-US" dirty="0"/>
              <a:t>Reverse polarity or inverse video.</a:t>
            </a:r>
          </a:p>
          <a:p>
            <a:pPr lvl="1"/>
            <a:r>
              <a:rPr lang="en-US" dirty="0"/>
              <a:t>Distinctive Typeface.</a:t>
            </a:r>
          </a:p>
          <a:p>
            <a:pPr lvl="2"/>
            <a:r>
              <a:rPr lang="en-US" dirty="0"/>
              <a:t>Bold.</a:t>
            </a:r>
          </a:p>
          <a:p>
            <a:pPr lvl="2"/>
            <a:r>
              <a:rPr lang="en-US" dirty="0"/>
              <a:t>Italics.</a:t>
            </a:r>
          </a:p>
          <a:p>
            <a:pPr lvl="2"/>
            <a:r>
              <a:rPr lang="en-US" dirty="0"/>
              <a:t>Underlining.</a:t>
            </a:r>
          </a:p>
          <a:p>
            <a:r>
              <a:rPr lang="en-US" dirty="0"/>
              <a:t>Blinking.</a:t>
            </a:r>
          </a:p>
          <a:p>
            <a:r>
              <a:rPr lang="en-US" dirty="0"/>
              <a:t>Line rulings and surrounding boxes or frames.</a:t>
            </a:r>
          </a:p>
          <a:p>
            <a:r>
              <a:rPr lang="en-US" dirty="0"/>
              <a:t>Color.</a:t>
            </a:r>
          </a:p>
          <a:p>
            <a:r>
              <a:rPr lang="en-US" dirty="0"/>
              <a:t>Larger size.</a:t>
            </a:r>
          </a:p>
          <a:p>
            <a:r>
              <a:rPr lang="en-US" dirty="0"/>
              <a:t>Animation.</a:t>
            </a:r>
          </a:p>
          <a:p>
            <a:r>
              <a:rPr lang="en-US" dirty="0"/>
              <a:t>Positioning.</a:t>
            </a:r>
          </a:p>
          <a:p>
            <a:r>
              <a:rPr lang="en-US" dirty="0"/>
              <a:t>Distinctive or unusual shape.</a:t>
            </a:r>
          </a:p>
          <a:p>
            <a:r>
              <a:rPr lang="en-US" dirty="0"/>
              <a:t>Isolation.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and Emphasis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De-emphasize less important elements.</a:t>
            </a:r>
          </a:p>
          <a:p>
            <a:r>
              <a:rPr lang="en-US" dirty="0"/>
              <a:t>To ensure that emphasized screen elements stand out, avoid</a:t>
            </a:r>
          </a:p>
          <a:p>
            <a:pPr lvl="1"/>
            <a:r>
              <a:rPr lang="en-US" dirty="0"/>
              <a:t>Emphasizing too many screen elements.</a:t>
            </a:r>
          </a:p>
          <a:p>
            <a:pPr lvl="1"/>
            <a:r>
              <a:rPr lang="en-US" dirty="0"/>
              <a:t>Using too many emphasis techniques.</a:t>
            </a:r>
          </a:p>
          <a:p>
            <a:r>
              <a:rPr lang="en-US" dirty="0"/>
              <a:t>Minimize screen clutter.</a:t>
            </a:r>
          </a:p>
          <a:p>
            <a:r>
              <a:rPr lang="en-US" dirty="0"/>
              <a:t>In Web page design</a:t>
            </a:r>
          </a:p>
          <a:p>
            <a:pPr lvl="1"/>
            <a:r>
              <a:rPr lang="en-US" dirty="0"/>
              <a:t>Call attention to new or changed content.</a:t>
            </a:r>
          </a:p>
          <a:p>
            <a:pPr lvl="1"/>
            <a:r>
              <a:rPr lang="en-US" dirty="0"/>
              <a:t>Ensure that page text is not overwhelmed by page background.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Presenting Information Simply and Meaningfully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Provide legibility.</a:t>
            </a:r>
          </a:p>
          <a:p>
            <a:pPr lvl="1"/>
            <a:r>
              <a:rPr lang="en-US" dirty="0"/>
              <a:t>Information is noticeable and distinguishable.</a:t>
            </a:r>
          </a:p>
          <a:p>
            <a:r>
              <a:rPr lang="en-US" dirty="0"/>
              <a:t>Provide readability.</a:t>
            </a:r>
          </a:p>
          <a:p>
            <a:pPr lvl="1"/>
            <a:r>
              <a:rPr lang="en-US" dirty="0"/>
              <a:t>Information is identifiable, interpretable, and attractive.</a:t>
            </a:r>
          </a:p>
          <a:p>
            <a:r>
              <a:rPr lang="en-US" dirty="0"/>
              <a:t>Present information in usable form.</a:t>
            </a:r>
          </a:p>
          <a:p>
            <a:pPr lvl="1"/>
            <a:r>
              <a:rPr lang="en-US" dirty="0"/>
              <a:t>Translations, transpositions, and references to documentation should not be required to interpret and understand information.</a:t>
            </a:r>
          </a:p>
          <a:p>
            <a:r>
              <a:rPr lang="en-US" dirty="0"/>
              <a:t>Utilize contrasting display features.</a:t>
            </a:r>
          </a:p>
          <a:p>
            <a:pPr lvl="1"/>
            <a:r>
              <a:rPr lang="en-US" dirty="0"/>
              <a:t>To attract and call attention to different screen elements.</a:t>
            </a:r>
          </a:p>
          <a:p>
            <a:r>
              <a:rPr lang="en-US" dirty="0"/>
              <a:t>Create visual lines.</a:t>
            </a:r>
          </a:p>
          <a:p>
            <a:pPr lvl="1"/>
            <a:r>
              <a:rPr lang="en-US" dirty="0"/>
              <a:t>Implicit and explicit, to guide the eye.</a:t>
            </a:r>
          </a:p>
          <a:p>
            <a:r>
              <a:rPr lang="en-US" dirty="0"/>
              <a:t>Be consistent.</a:t>
            </a:r>
          </a:p>
          <a:p>
            <a:pPr lvl="1"/>
            <a:r>
              <a:rPr lang="en-US" dirty="0"/>
              <a:t>In appearance and procedural usage.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statistical graphic is data presented in a graphical format.</a:t>
            </a:r>
          </a:p>
          <a:p>
            <a:r>
              <a:rPr lang="en-US" dirty="0"/>
              <a:t>A chart or graph, consists of complex ideas communicated with clarity, precision, and efficiency.</a:t>
            </a:r>
          </a:p>
          <a:p>
            <a:r>
              <a:rPr lang="en-US" dirty="0"/>
              <a:t>It gives its viewer the greatest number of ideas, in the shortest time and in the smallest space and with least possible clutter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Qualities of statistical graphic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objective and use of the graph should be obvious and apparent. </a:t>
            </a:r>
          </a:p>
          <a:p>
            <a:r>
              <a:rPr lang="en-US" dirty="0"/>
              <a:t>The graph type should be recognizable. </a:t>
            </a:r>
          </a:p>
          <a:p>
            <a:r>
              <a:rPr lang="en-US" dirty="0"/>
              <a:t>The graph type should help users understand the data more easily. </a:t>
            </a:r>
          </a:p>
          <a:p>
            <a:r>
              <a:rPr lang="en-US" dirty="0"/>
              <a:t>The data should be formatted and presented correctly. </a:t>
            </a:r>
          </a:p>
          <a:p>
            <a:r>
              <a:rPr lang="en-US" dirty="0"/>
              <a:t>The data should be formatted and presented for the using audience. </a:t>
            </a:r>
          </a:p>
          <a:p>
            <a:r>
              <a:rPr lang="en-US" dirty="0"/>
              <a:t>The graph should avoid distortions by telling the truth about the data.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Statistical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Graphs are used for </a:t>
            </a:r>
          </a:p>
          <a:p>
            <a:pPr lvl="1"/>
            <a:r>
              <a:rPr lang="en-US" dirty="0"/>
              <a:t>Simple comparisons of data. </a:t>
            </a:r>
          </a:p>
          <a:p>
            <a:pPr lvl="1"/>
            <a:r>
              <a:rPr lang="en-US" dirty="0"/>
              <a:t>Presentation of changes over time. </a:t>
            </a:r>
          </a:p>
          <a:p>
            <a:pPr lvl="1"/>
            <a:r>
              <a:rPr lang="en-US" dirty="0"/>
              <a:t>Statistical analysis. </a:t>
            </a:r>
          </a:p>
          <a:p>
            <a:pPr lvl="1"/>
            <a:r>
              <a:rPr lang="en-US" dirty="0"/>
              <a:t>Illustration of proportions. </a:t>
            </a:r>
          </a:p>
          <a:p>
            <a:r>
              <a:rPr lang="en-US" dirty="0"/>
              <a:t>Reserve for material that is rich, complex or difficult. </a:t>
            </a:r>
          </a:p>
          <a:p>
            <a:pPr lvl="1"/>
            <a:r>
              <a:rPr lang="en-US" dirty="0"/>
              <a:t>Less than or equal to 3 numbers - use a sentence. </a:t>
            </a:r>
          </a:p>
          <a:p>
            <a:pPr lvl="1"/>
            <a:r>
              <a:rPr lang="en-US" dirty="0"/>
              <a:t>For 4 to 20 numbers - use a table. </a:t>
            </a:r>
          </a:p>
          <a:p>
            <a:pPr lvl="1"/>
            <a:r>
              <a:rPr lang="en-US" dirty="0"/>
              <a:t>More than 20 numbers - use a graph.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choose the right chart type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429288"/>
          </a:xfrm>
        </p:spPr>
        <p:txBody>
          <a:bodyPr>
            <a:normAutofit/>
          </a:bodyPr>
          <a:lstStyle/>
          <a:p>
            <a:r>
              <a:rPr lang="en-US" dirty="0"/>
              <a:t>Choosing the right chart type depends on what kind of data you want to present.</a:t>
            </a:r>
          </a:p>
          <a:p>
            <a:pPr lvl="1"/>
            <a:r>
              <a:rPr lang="en-US" dirty="0"/>
              <a:t>Do you want to display </a:t>
            </a:r>
            <a:r>
              <a:rPr lang="en-US" b="1" dirty="0">
                <a:solidFill>
                  <a:srgbClr val="FF0000"/>
                </a:solidFill>
              </a:rPr>
              <a:t>composition</a:t>
            </a:r>
            <a:r>
              <a:rPr lang="en-US" dirty="0"/>
              <a:t> of something?</a:t>
            </a:r>
          </a:p>
          <a:p>
            <a:pPr lvl="1"/>
            <a:r>
              <a:rPr lang="en-US" dirty="0"/>
              <a:t>Do you want to </a:t>
            </a:r>
            <a:r>
              <a:rPr lang="en-US" b="1" dirty="0">
                <a:solidFill>
                  <a:srgbClr val="FF0000"/>
                </a:solidFill>
              </a:rPr>
              <a:t>compare</a:t>
            </a:r>
            <a:r>
              <a:rPr lang="en-US" dirty="0"/>
              <a:t> values or show differences over time?</a:t>
            </a:r>
          </a:p>
          <a:p>
            <a:pPr lvl="1"/>
            <a:r>
              <a:rPr lang="en-US" dirty="0"/>
              <a:t>Do you want to better understand the </a:t>
            </a:r>
            <a:r>
              <a:rPr lang="en-US" b="1" dirty="0">
                <a:solidFill>
                  <a:srgbClr val="FF0000"/>
                </a:solidFill>
              </a:rPr>
              <a:t>relationship</a:t>
            </a:r>
            <a:r>
              <a:rPr lang="en-US" dirty="0"/>
              <a:t> between two or more variables?</a:t>
            </a:r>
          </a:p>
          <a:p>
            <a:pPr lvl="1"/>
            <a:r>
              <a:rPr lang="en-US" dirty="0"/>
              <a:t>Do you want to show the </a:t>
            </a:r>
            <a:r>
              <a:rPr lang="en-US" b="1" dirty="0">
                <a:solidFill>
                  <a:srgbClr val="FF0000"/>
                </a:solidFill>
              </a:rPr>
              <a:t>distribution</a:t>
            </a:r>
            <a:r>
              <a:rPr lang="en-US" dirty="0"/>
              <a:t> of your data?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5298" name="Picture 2" descr="https://miro.medium.com/v2/resize:fit:700/1*cixzdO-gByLAInPcct5jvw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8358246" cy="61731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Visualizations To Present Data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Use Visualizations To Present Dat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71546"/>
            <a:ext cx="8572560" cy="54864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Statistical Graphic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7715059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Statistical Graphic</a:t>
            </a:r>
          </a:p>
        </p:txBody>
      </p:sp>
      <p:pic>
        <p:nvPicPr>
          <p:cNvPr id="58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19831" y="1600200"/>
            <a:ext cx="630433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Statistical Graphic</a:t>
            </a:r>
          </a:p>
        </p:txBody>
      </p:sp>
      <p:pic>
        <p:nvPicPr>
          <p:cNvPr id="593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10149" y="1600200"/>
            <a:ext cx="632370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a Statistical Graphic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28586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 legend in a chart is a guide that explains the symbols, colors, or patterns used in the chart.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076450"/>
            <a:ext cx="6724650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Axes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Center the X-axis label below its scale. </a:t>
            </a:r>
          </a:p>
          <a:p>
            <a:r>
              <a:rPr lang="en-US" dirty="0"/>
              <a:t>Center the Y-axis label above the scale or adjacent to the scale. </a:t>
            </a:r>
          </a:p>
          <a:p>
            <a:r>
              <a:rPr lang="en-US" dirty="0"/>
              <a:t>State units of measurement. </a:t>
            </a:r>
          </a:p>
          <a:p>
            <a:r>
              <a:rPr lang="en-US" dirty="0"/>
              <a:t>Provide information about the source of the data.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578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Values on an axis should increase as they move away from the origin. </a:t>
            </a:r>
          </a:p>
          <a:p>
            <a:r>
              <a:rPr lang="en-US" dirty="0"/>
              <a:t>Use the horizontal axis (X) to show time or cause of an event (the independent variable). </a:t>
            </a:r>
          </a:p>
          <a:p>
            <a:r>
              <a:rPr lang="en-US" dirty="0"/>
              <a:t>Use the vertical axis (Y) to show a caused effect (the dependent variable). </a:t>
            </a:r>
          </a:p>
          <a:p>
            <a:r>
              <a:rPr lang="en-US" dirty="0"/>
              <a:t>Provide additional axes when appropriate. For example, to show </a:t>
            </a:r>
          </a:p>
          <a:p>
            <a:pPr lvl="1"/>
            <a:r>
              <a:rPr lang="en-US" dirty="0"/>
              <a:t>Two scales for the same data. </a:t>
            </a:r>
          </a:p>
          <a:p>
            <a:pPr lvl="1"/>
            <a:r>
              <a:rPr lang="en-US" dirty="0"/>
              <a:t>Two or more related graphs within the same area and frame. </a:t>
            </a:r>
          </a:p>
          <a:p>
            <a:r>
              <a:rPr lang="en-US" dirty="0"/>
              <a:t>Assure the area enclosed by the axes is the proper size for the displayed data.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/>
              <a:t>Scales and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564357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Place ticks to marks scales on the outside edge of each axis. </a:t>
            </a:r>
          </a:p>
          <a:p>
            <a:r>
              <a:rPr lang="en-US" dirty="0"/>
              <a:t>Employ a linear scale. </a:t>
            </a:r>
          </a:p>
          <a:p>
            <a:r>
              <a:rPr lang="en-US" dirty="0"/>
              <a:t>Mark scales at standard or customary intervals. </a:t>
            </a:r>
          </a:p>
          <a:p>
            <a:r>
              <a:rPr lang="en-US" dirty="0"/>
              <a:t>Create relatively square grid cells. </a:t>
            </a:r>
          </a:p>
          <a:p>
            <a:r>
              <a:rPr lang="en-US" dirty="0"/>
              <a:t>Start a numeric scale at zero (0). </a:t>
            </a:r>
          </a:p>
          <a:p>
            <a:r>
              <a:rPr lang="en-US" dirty="0"/>
              <a:t>Keep the number of digits in a scale to a minimum. </a:t>
            </a:r>
          </a:p>
          <a:p>
            <a:r>
              <a:rPr lang="en-US" dirty="0"/>
              <a:t>For scales containing decimals, put zeros in front of the decimal. </a:t>
            </a:r>
          </a:p>
          <a:p>
            <a:r>
              <a:rPr lang="en-US" dirty="0"/>
              <a:t>If data points are on the zero (0) line, offset the scale. </a:t>
            </a:r>
          </a:p>
          <a:p>
            <a:r>
              <a:rPr lang="en-US" dirty="0"/>
              <a:t>Display only a single scale on each axis. </a:t>
            </a:r>
          </a:p>
          <a:p>
            <a:r>
              <a:rPr lang="en-US" dirty="0"/>
              <a:t>For large data matrices, consider displaying duplicate axes. </a:t>
            </a:r>
          </a:p>
          <a:p>
            <a:r>
              <a:rPr lang="en-US" dirty="0"/>
              <a:t>Provide aids for scale interpretation. </a:t>
            </a:r>
          </a:p>
          <a:p>
            <a:r>
              <a:rPr lang="en-US" dirty="0"/>
              <a:t>Provide scaling consistency across two or more related graphics. </a:t>
            </a:r>
          </a:p>
          <a:p>
            <a:r>
              <a:rPr lang="en-US" dirty="0"/>
              <a:t>Clearly label each axis in a left-to-right reading orientation.</a:t>
            </a:r>
          </a:p>
        </p:txBody>
      </p:sp>
      <p:pic>
        <p:nvPicPr>
          <p:cNvPr id="4" name="Picture 2" descr="https://grapherhelp.goldensoftware.com/Resources/image/example_tick_mark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7950" y="2214554"/>
            <a:ext cx="2209800" cy="53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/>
              <a:t>Data Presentation in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000108"/>
            <a:ext cx="8229600" cy="585789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Emphasize the data. </a:t>
            </a:r>
          </a:p>
          <a:p>
            <a:r>
              <a:rPr lang="en-US" dirty="0"/>
              <a:t>Minimize the </a:t>
            </a:r>
            <a:r>
              <a:rPr lang="en-US" dirty="0" err="1"/>
              <a:t>nondata</a:t>
            </a:r>
            <a:r>
              <a:rPr lang="en-US" dirty="0"/>
              <a:t> elements. </a:t>
            </a:r>
          </a:p>
          <a:p>
            <a:r>
              <a:rPr lang="en-US" dirty="0"/>
              <a:t>Minimize redundant data. </a:t>
            </a:r>
          </a:p>
          <a:p>
            <a:r>
              <a:rPr lang="en-US" dirty="0"/>
              <a:t>Show data variation, not design variation. </a:t>
            </a:r>
          </a:p>
          <a:p>
            <a:r>
              <a:rPr lang="en-US" dirty="0"/>
              <a:t>Provide the proper context for data interpretation. </a:t>
            </a:r>
          </a:p>
          <a:p>
            <a:r>
              <a:rPr lang="en-US" dirty="0"/>
              <a:t>Restrict the number of information-carrying dimensions depicted to the number of data dimensions being illustrated. </a:t>
            </a:r>
          </a:p>
          <a:p>
            <a:r>
              <a:rPr lang="en-US" dirty="0"/>
              <a:t>Employ data in multiple ways, whenever possible. </a:t>
            </a:r>
          </a:p>
          <a:p>
            <a:r>
              <a:rPr lang="en-US" dirty="0"/>
              <a:t>Maximize data density. </a:t>
            </a:r>
          </a:p>
          <a:p>
            <a:r>
              <a:rPr lang="en-US" dirty="0"/>
              <a:t>Employ simple data-coding schemes. </a:t>
            </a:r>
          </a:p>
          <a:p>
            <a:r>
              <a:rPr lang="en-US" dirty="0"/>
              <a:t>Avoid unnecessary embellishment (decoration) of </a:t>
            </a:r>
          </a:p>
          <a:p>
            <a:pPr lvl="1"/>
            <a:r>
              <a:rPr lang="en-US" dirty="0"/>
              <a:t>Grids. </a:t>
            </a:r>
          </a:p>
          <a:p>
            <a:pPr lvl="1"/>
            <a:r>
              <a:rPr lang="en-US" dirty="0"/>
              <a:t>Vibration. </a:t>
            </a:r>
          </a:p>
          <a:p>
            <a:pPr lvl="1"/>
            <a:r>
              <a:rPr lang="en-US" dirty="0"/>
              <a:t>Ornamentation. </a:t>
            </a:r>
          </a:p>
          <a:p>
            <a:r>
              <a:rPr lang="en-US" dirty="0"/>
              <a:t>Fill the graph’s available area with data.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Proper context for data interpretation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214554"/>
            <a:ext cx="273367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1428736"/>
            <a:ext cx="481013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71472" y="4786322"/>
            <a:ext cx="27146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 change between 1992 and 1993 without proper context for interpretation.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71934" y="5786454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dirty="0"/>
              <a:t>Changes between 1992 and 1993 with proper contexts for interpretation.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accurate proportion of the displayed surfaces to the data they represent. </a:t>
            </a:r>
          </a:p>
          <a:p>
            <a:r>
              <a:rPr lang="en-US" dirty="0"/>
              <a:t>Provide proper proportion by </a:t>
            </a:r>
          </a:p>
          <a:p>
            <a:pPr lvl="1"/>
            <a:r>
              <a:rPr lang="en-US" dirty="0"/>
              <a:t>Conforming to the shape of the data.</a:t>
            </a:r>
          </a:p>
          <a:p>
            <a:pPr lvl="1"/>
            <a:r>
              <a:rPr lang="en-US" dirty="0"/>
              <a:t>Making the width greater than the height.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lines should be the heaviest. </a:t>
            </a:r>
          </a:p>
          <a:p>
            <a:r>
              <a:rPr lang="en-US" dirty="0"/>
              <a:t>Axes lines should be of medium weight. </a:t>
            </a:r>
          </a:p>
          <a:p>
            <a:pPr lvl="1"/>
            <a:r>
              <a:rPr lang="en-US" dirty="0"/>
              <a:t>Extend the lines entirely around the graphic. </a:t>
            </a:r>
          </a:p>
          <a:p>
            <a:r>
              <a:rPr lang="en-US" dirty="0"/>
              <a:t>Grid lines should be very thin or absent. </a:t>
            </a:r>
          </a:p>
          <a:p>
            <a:pPr lvl="1"/>
            <a:r>
              <a:rPr lang="en-US" dirty="0"/>
              <a:t>Let the user turn the grid on or off.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Employ clear, detailed and thorough labeling. </a:t>
            </a:r>
          </a:p>
          <a:p>
            <a:r>
              <a:rPr lang="en-US" dirty="0"/>
              <a:t>Maintain a left-to-right reading orientation. </a:t>
            </a:r>
          </a:p>
          <a:p>
            <a:r>
              <a:rPr lang="en-US" dirty="0"/>
              <a:t>Integrate the labeling with the drawing. </a:t>
            </a:r>
          </a:p>
          <a:p>
            <a:pPr lvl="1"/>
            <a:r>
              <a:rPr lang="en-US" dirty="0"/>
              <a:t>Do not curve letters to match the shape of curved lines. </a:t>
            </a:r>
          </a:p>
          <a:p>
            <a:r>
              <a:rPr lang="en-US" dirty="0"/>
              <a:t>Use only one typeface, font, and weight. </a:t>
            </a:r>
          </a:p>
          <a:p>
            <a:pPr lvl="1"/>
            <a:r>
              <a:rPr lang="en-US" dirty="0"/>
              <a:t>For emphasis, use different type sizes. </a:t>
            </a:r>
          </a:p>
          <a:p>
            <a:r>
              <a:rPr lang="en-US" dirty="0"/>
              <a:t>Do not separate labeling from the data through ruled lines.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short, simple, clear, and distinctive title describing the purpose of the graphic. </a:t>
            </a:r>
          </a:p>
          <a:p>
            <a:r>
              <a:rPr lang="en-US" dirty="0"/>
              <a:t>Position the title above, centered, or left-aligned to the rectangle formed by the extended axes. </a:t>
            </a:r>
          </a:p>
          <a:p>
            <a:r>
              <a:rPr lang="en-US" dirty="0"/>
              <a:t>Spell it out fully, using a mixed-case or uppercase font.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or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Incorporate a key or legend for complicated graphs.</a:t>
            </a:r>
          </a:p>
          <a:p>
            <a:r>
              <a:rPr lang="en-US" dirty="0"/>
              <a:t>Data Labels</a:t>
            </a:r>
          </a:p>
          <a:p>
            <a:pPr lvl="1"/>
            <a:r>
              <a:rPr lang="en-US" dirty="0"/>
              <a:t>Permit data labels to be turned on or off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Aiding Interpretation of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Display a grid on request. </a:t>
            </a:r>
          </a:p>
          <a:p>
            <a:r>
              <a:rPr lang="en-US" dirty="0"/>
              <a:t>Permit the viewer to click on a data point to display actual values. </a:t>
            </a:r>
          </a:p>
          <a:p>
            <a:r>
              <a:rPr lang="en-US" dirty="0"/>
              <a:t>Show numeric values automatically for each point or bar. </a:t>
            </a:r>
          </a:p>
          <a:p>
            <a:r>
              <a:rPr lang="en-US" dirty="0"/>
              <a:t>Permit the viewer to zoom in on an area of the graphic. </a:t>
            </a:r>
          </a:p>
          <a:p>
            <a:r>
              <a:rPr lang="en-US" dirty="0"/>
              <a:t>Permit the user to change the scale values. </a:t>
            </a:r>
          </a:p>
          <a:p>
            <a:r>
              <a:rPr lang="en-US" dirty="0"/>
              <a:t>Permit toggling between a graphic and a table.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884" y="1142984"/>
            <a:ext cx="3052790" cy="1416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graphs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Surface Charts</a:t>
            </a:r>
          </a:p>
          <a:p>
            <a:r>
              <a:rPr lang="en-US" dirty="0"/>
              <a:t>Order the data categories so that</a:t>
            </a:r>
          </a:p>
          <a:p>
            <a:pPr lvl="1"/>
            <a:r>
              <a:rPr lang="en-US" dirty="0"/>
              <a:t>The least variable is at the bottom, and the most variable at the top.</a:t>
            </a:r>
          </a:p>
          <a:p>
            <a:pPr lvl="1"/>
            <a:r>
              <a:rPr lang="en-US" dirty="0"/>
              <a:t>The largest is at the bottom and the smallest at the top.</a:t>
            </a:r>
          </a:p>
          <a:p>
            <a:r>
              <a:rPr lang="en-US" dirty="0"/>
              <a:t>Use different texture or shading coding schemes to differentiate the areas below each curve or line.</a:t>
            </a:r>
          </a:p>
          <a:p>
            <a:r>
              <a:rPr lang="en-US" dirty="0"/>
              <a:t>Incorporate labels within the bands of data.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578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Pie charts should be used with caution.</a:t>
            </a:r>
          </a:p>
          <a:p>
            <a:r>
              <a:rPr lang="en-US" dirty="0"/>
              <a:t>If pie charts are used,</a:t>
            </a:r>
          </a:p>
          <a:p>
            <a:pPr lvl="1"/>
            <a:r>
              <a:rPr lang="en-US" dirty="0"/>
              <a:t>They must add up to 100 percent.</a:t>
            </a:r>
          </a:p>
          <a:p>
            <a:pPr lvl="1"/>
            <a:r>
              <a:rPr lang="en-US" dirty="0"/>
              <a:t>Use five segments or fewer.</a:t>
            </a:r>
          </a:p>
          <a:p>
            <a:pPr lvl="1"/>
            <a:r>
              <a:rPr lang="en-US" dirty="0"/>
              <a:t>Each segment should take up at least 5 percent (18 degrees) of the circle.</a:t>
            </a:r>
          </a:p>
          <a:p>
            <a:pPr lvl="1"/>
            <a:r>
              <a:rPr lang="en-US" dirty="0"/>
              <a:t>Place the largest segment starting at 12:00.</a:t>
            </a:r>
          </a:p>
          <a:p>
            <a:pPr lvl="1"/>
            <a:r>
              <a:rPr lang="en-US" dirty="0"/>
              <a:t>Directly label each segment in the normal reading orientation.</a:t>
            </a:r>
          </a:p>
          <a:p>
            <a:pPr lvl="2"/>
            <a:r>
              <a:rPr lang="en-US" dirty="0"/>
              <a:t>If leaders for labels in small segments are necessary, orient them in as few</a:t>
            </a:r>
          </a:p>
          <a:p>
            <a:pPr lvl="1"/>
            <a:r>
              <a:rPr lang="en-US" dirty="0"/>
              <a:t>angles as possible.</a:t>
            </a:r>
          </a:p>
          <a:p>
            <a:pPr lvl="1"/>
            <a:r>
              <a:rPr lang="en-US" dirty="0"/>
              <a:t>Include numbers with segment labels to indicate percentages of absolute values.</a:t>
            </a:r>
          </a:p>
          <a:p>
            <a:pPr lvl="1"/>
            <a:r>
              <a:rPr lang="en-US" dirty="0"/>
              <a:t>Texture- or color-coding selected for segments should not emphasize one segment over another (unless it is intended).</a:t>
            </a:r>
          </a:p>
          <a:p>
            <a:pPr lvl="1"/>
            <a:r>
              <a:rPr lang="en-US" dirty="0"/>
              <a:t>Highlight segments requiring particular emphasis through a contrasting display technique or by “exploding” it.</a:t>
            </a:r>
          </a:p>
          <a:p>
            <a:pPr lvl="1"/>
            <a:r>
              <a:rPr lang="en-US" dirty="0"/>
              <a:t>Never tilt a pie.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0826" y="642918"/>
            <a:ext cx="1714512" cy="1786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46" y="4643446"/>
            <a:ext cx="30194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1357298"/>
            <a:ext cx="29146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Segmented or Stacked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28736"/>
            <a:ext cx="8229600" cy="52403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Order the data categories in the same sequence.</a:t>
            </a:r>
          </a:p>
          <a:p>
            <a:r>
              <a:rPr lang="en-US" dirty="0"/>
              <a:t>Order the data categories so that</a:t>
            </a:r>
          </a:p>
          <a:p>
            <a:pPr lvl="1"/>
            <a:r>
              <a:rPr lang="en-US" dirty="0"/>
              <a:t>The least variable is at the bottom.</a:t>
            </a:r>
          </a:p>
          <a:p>
            <a:pPr lvl="1"/>
            <a:r>
              <a:rPr lang="en-US" dirty="0"/>
              <a:t>The most variable is at the top.</a:t>
            </a:r>
          </a:p>
          <a:p>
            <a:r>
              <a:rPr lang="en-US" dirty="0"/>
              <a:t>Limit the number of segments to those that are large enough to be seen and labeled.</a:t>
            </a:r>
          </a:p>
          <a:p>
            <a:r>
              <a:rPr lang="en-US" dirty="0"/>
              <a:t>Use different texture or coding schemes to differentiate the areas within each bar.</a:t>
            </a:r>
          </a:p>
          <a:p>
            <a:r>
              <a:rPr lang="en-US" dirty="0"/>
              <a:t>Clearly associate labels with bars or segments.</a:t>
            </a:r>
          </a:p>
          <a:p>
            <a:pPr lvl="1"/>
            <a:r>
              <a:rPr lang="en-US" dirty="0"/>
              <a:t>Place segment labels to the right on a vertical chart or above on a horizontal chart.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62105" y="0"/>
            <a:ext cx="2881895" cy="2233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4292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Orient bars consistently, either horizontally or vertically.</a:t>
            </a:r>
          </a:p>
          <a:p>
            <a:r>
              <a:rPr lang="en-US" dirty="0"/>
              <a:t>Use vertical bars when the item being counted is of greatest interest.</a:t>
            </a:r>
          </a:p>
          <a:p>
            <a:r>
              <a:rPr lang="en-US" dirty="0"/>
              <a:t>Use horizontal bars</a:t>
            </a:r>
          </a:p>
          <a:p>
            <a:pPr lvl="1"/>
            <a:r>
              <a:rPr lang="en-US" dirty="0"/>
              <a:t>When the data labels are long.</a:t>
            </a:r>
          </a:p>
          <a:p>
            <a:pPr lvl="1"/>
            <a:r>
              <a:rPr lang="en-US" dirty="0"/>
              <a:t>To highlight the information rather than the count.</a:t>
            </a:r>
          </a:p>
          <a:p>
            <a:r>
              <a:rPr lang="en-US" dirty="0"/>
              <a:t>Use a meaningful organizing principle.</a:t>
            </a:r>
          </a:p>
          <a:p>
            <a:pPr lvl="1"/>
            <a:r>
              <a:rPr lang="en-US" dirty="0"/>
              <a:t>If none exists, arrange the bars so that the length of bars is in ascending or descending order.</a:t>
            </a:r>
          </a:p>
          <a:p>
            <a:r>
              <a:rPr lang="en-US" dirty="0"/>
              <a:t>Make the spacing between bars equal to one-half the width of the bars or less.</a:t>
            </a:r>
          </a:p>
          <a:p>
            <a:pPr lvl="1"/>
            <a:r>
              <a:rPr lang="en-US" dirty="0"/>
              <a:t>If groupings of bars are presented, leave space between the groupings only.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different kinds of bars must be easily distinguished, provide differentiation through a coding technique.</a:t>
            </a:r>
          </a:p>
          <a:p>
            <a:pPr lvl="1"/>
            <a:r>
              <a:rPr lang="en-US" dirty="0"/>
              <a:t>If possible, use a pattern or color that reinforces the data.</a:t>
            </a:r>
          </a:p>
          <a:p>
            <a:r>
              <a:rPr lang="en-US" dirty="0"/>
              <a:t>Highlight bars representing important or critical data.</a:t>
            </a:r>
          </a:p>
          <a:p>
            <a:r>
              <a:rPr lang="en-US" dirty="0"/>
              <a:t>Provide a consistent ordering for related groups of bars.</a:t>
            </a:r>
          </a:p>
          <a:p>
            <a:r>
              <a:rPr lang="en-US" dirty="0"/>
              <a:t>Display a reference index if displayed data must be compared to a standard or critical value.</a:t>
            </a:r>
          </a:p>
          <a:p>
            <a:r>
              <a:rPr lang="en-US" dirty="0"/>
              <a:t>Identify each bar with an adjacent label.</a:t>
            </a:r>
          </a:p>
          <a:p>
            <a:pPr lvl="1"/>
            <a:r>
              <a:rPr lang="en-US" dirty="0"/>
              <a:t>Place labels below, or to the left of, the baseline.</a:t>
            </a:r>
          </a:p>
          <a:p>
            <a:r>
              <a:rPr lang="en-US" dirty="0"/>
              <a:t>When a great many pieces of data must be compared, consider using histograms or step charts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Scatterplots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64" y="142852"/>
            <a:ext cx="237172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Limit use to two-dimensional displays of data.</a:t>
            </a:r>
          </a:p>
          <a:p>
            <a:r>
              <a:rPr lang="en-US" dirty="0"/>
              <a:t>Maintain consistent scale size intervals.</a:t>
            </a:r>
          </a:p>
          <a:p>
            <a:r>
              <a:rPr lang="en-US" dirty="0"/>
              <a:t>Provide distinguishable, equal-sized plot points.</a:t>
            </a:r>
          </a:p>
          <a:p>
            <a:r>
              <a:rPr lang="en-US" dirty="0"/>
              <a:t>If there is more than one set of data on the plot, use different symbols for each data set’s points.</a:t>
            </a:r>
          </a:p>
          <a:p>
            <a:r>
              <a:rPr lang="en-US" dirty="0"/>
              <a:t>Visually distinguish points of particular significance through a highlighting technique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1118" y="285729"/>
            <a:ext cx="2858582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Curve and Line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64357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Display data curves or lines that must be compared in a single graph.</a:t>
            </a:r>
          </a:p>
          <a:p>
            <a:r>
              <a:rPr lang="en-US" dirty="0"/>
              <a:t>Display no more than four or five curves in a single graph.</a:t>
            </a:r>
          </a:p>
          <a:p>
            <a:r>
              <a:rPr lang="en-US" dirty="0"/>
              <a:t>Identify each curve or line with an adjacent label whenever possible.</a:t>
            </a:r>
          </a:p>
          <a:p>
            <a:r>
              <a:rPr lang="en-US" dirty="0"/>
              <a:t>If a legend must be included, order the legend to match the spatial ordering of the lines.</a:t>
            </a:r>
          </a:p>
          <a:p>
            <a:r>
              <a:rPr lang="en-US" dirty="0"/>
              <a:t>For tightly packed curves or lines, provide data differentiation with a line-coding</a:t>
            </a:r>
          </a:p>
          <a:p>
            <a:r>
              <a:rPr lang="en-US" dirty="0"/>
              <a:t>technique, such as different colors or different line composition types.</a:t>
            </a:r>
          </a:p>
          <a:p>
            <a:r>
              <a:rPr lang="en-US" dirty="0"/>
              <a:t>Highlight curves or lines representing important or critical data.</a:t>
            </a:r>
          </a:p>
          <a:p>
            <a:r>
              <a:rPr lang="en-US" dirty="0"/>
              <a:t>When comparing actual to projected data</a:t>
            </a:r>
          </a:p>
          <a:p>
            <a:pPr lvl="1"/>
            <a:r>
              <a:rPr lang="en-US" dirty="0"/>
              <a:t>Use solid curves or lines for actual data.</a:t>
            </a:r>
          </a:p>
          <a:p>
            <a:pPr lvl="1"/>
            <a:r>
              <a:rPr lang="en-US" dirty="0"/>
              <a:t>Use broken curves or lines for projected data.</a:t>
            </a:r>
          </a:p>
          <a:p>
            <a:r>
              <a:rPr lang="en-US" dirty="0"/>
              <a:t>Display a reference index if the displayed data must be compared to a standard or</a:t>
            </a:r>
          </a:p>
          <a:p>
            <a:r>
              <a:rPr lang="en-US" dirty="0"/>
              <a:t>critical value.</a:t>
            </a:r>
          </a:p>
          <a:p>
            <a:r>
              <a:rPr lang="en-US" dirty="0"/>
              <a:t>Display differences between two data sets as a curve or line itself.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Technological Considerations in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design is also affected, and constrained by, characteristics of the hardware being used and the interface’s controlling software.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Screen design must be compatible with the capabilities of the system, including </a:t>
            </a:r>
          </a:p>
          <a:p>
            <a:pPr lvl="1"/>
            <a:r>
              <a:rPr lang="en-US" dirty="0"/>
              <a:t>System power. </a:t>
            </a:r>
          </a:p>
          <a:p>
            <a:pPr lvl="1"/>
            <a:r>
              <a:rPr lang="en-US" dirty="0"/>
              <a:t>Screen size. </a:t>
            </a:r>
          </a:p>
          <a:p>
            <a:pPr lvl="1"/>
            <a:r>
              <a:rPr lang="en-US" dirty="0"/>
              <a:t>Screen resolution. </a:t>
            </a:r>
          </a:p>
          <a:p>
            <a:pPr lvl="1"/>
            <a:r>
              <a:rPr lang="en-US" dirty="0"/>
              <a:t>Display colors. </a:t>
            </a:r>
          </a:p>
          <a:p>
            <a:pPr lvl="1"/>
            <a:r>
              <a:rPr lang="en-US" dirty="0"/>
              <a:t>Other display features. </a:t>
            </a:r>
          </a:p>
          <a:p>
            <a:r>
              <a:rPr lang="en-US" dirty="0"/>
              <a:t>Screen design must be compatible with the capabilities of the </a:t>
            </a:r>
          </a:p>
          <a:p>
            <a:pPr lvl="1"/>
            <a:r>
              <a:rPr lang="en-US" dirty="0"/>
              <a:t>System platform being used. </a:t>
            </a:r>
          </a:p>
          <a:p>
            <a:pPr lvl="1"/>
            <a:r>
              <a:rPr lang="en-US" dirty="0"/>
              <a:t>Development and implementation tools being used. </a:t>
            </a:r>
          </a:p>
          <a:p>
            <a:pPr lvl="1"/>
            <a:r>
              <a:rPr lang="en-US" dirty="0"/>
              <a:t>Platform style guide being used.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/>
              <a:t>Graphical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System Power </a:t>
            </a:r>
          </a:p>
          <a:p>
            <a:pPr lvl="1"/>
            <a:r>
              <a:rPr lang="en-US" dirty="0"/>
              <a:t>A slow processing speed and small memory may inhibit effective use of a system. </a:t>
            </a:r>
          </a:p>
          <a:p>
            <a:pPr lvl="1"/>
            <a:r>
              <a:rPr lang="en-US" dirty="0"/>
              <a:t>Feedback and animation capabilities may be limited, reducing the system’s usability. </a:t>
            </a:r>
          </a:p>
          <a:p>
            <a:pPr lvl="1"/>
            <a:r>
              <a:rPr lang="en-US" dirty="0"/>
              <a:t>Slow responses can be error prone, grossly inefficient, and very aggravating. </a:t>
            </a:r>
          </a:p>
          <a:p>
            <a:pPr lvl="1"/>
            <a:r>
              <a:rPr lang="en-US" dirty="0"/>
              <a:t>A slow screen refresh rate will increase the user’s chances of perceiving screen flicker, which can be visually fatiguing. </a:t>
            </a:r>
          </a:p>
          <a:p>
            <a:pPr lvl="1"/>
            <a:r>
              <a:rPr lang="en-US" dirty="0"/>
              <a:t>A system must be powerful enough to perform all necessary actions promptly, responsively, and meaningfully.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Screen Size</a:t>
            </a:r>
          </a:p>
          <a:p>
            <a:pPr lvl="1"/>
            <a:r>
              <a:rPr lang="en-US" dirty="0"/>
              <a:t>Mostly screens are not large enough in size to take full advantage of windowing capabilities. </a:t>
            </a:r>
          </a:p>
          <a:p>
            <a:pPr lvl="1"/>
            <a:r>
              <a:rPr lang="en-US" dirty="0"/>
              <a:t>Best monitor size</a:t>
            </a:r>
          </a:p>
          <a:p>
            <a:pPr lvl="1"/>
            <a:r>
              <a:rPr lang="en-US" dirty="0"/>
              <a:t>21-inch monitor resulted in fastest task completion than 19-inch monitor.</a:t>
            </a:r>
          </a:p>
          <a:p>
            <a:pPr lvl="1"/>
            <a:r>
              <a:rPr lang="en-US" dirty="0"/>
              <a:t>On web navigation, no performance difference was found between small and medium screens, but the large screen elicited a 26 percent faster performance.</a:t>
            </a:r>
          </a:p>
          <a:p>
            <a:pPr lvl="1"/>
            <a:r>
              <a:rPr lang="en-US" dirty="0"/>
              <a:t>So, bigger screens may be better.</a:t>
            </a:r>
          </a:p>
          <a:p>
            <a:pPr lvl="1"/>
            <a:r>
              <a:rPr lang="en-US" dirty="0"/>
              <a:t>Expanding monitor and screen size may create other problems such as it will require longer control movements to reach all locations on the screen, and more head and eye movements. 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Screen Resolution</a:t>
            </a:r>
          </a:p>
          <a:p>
            <a:pPr lvl="1"/>
            <a:r>
              <a:rPr lang="en-US" dirty="0"/>
              <a:t>Screen resolution is the horizontal and vertical height of a screen in pixels.</a:t>
            </a:r>
          </a:p>
          <a:p>
            <a:pPr lvl="1"/>
            <a:r>
              <a:rPr lang="en-US" dirty="0"/>
              <a:t>Poor screen resolution may deter effective use of a graphical system by not permitting sharp and realistic drawings and shapes. Window structure and icon design may be severely affected.</a:t>
            </a:r>
          </a:p>
          <a:p>
            <a:pPr lvl="1"/>
            <a:r>
              <a:rPr lang="en-US" dirty="0"/>
              <a:t>Higher resolution screen was searched significantly faster.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Colors </a:t>
            </a:r>
          </a:p>
          <a:p>
            <a:r>
              <a:rPr lang="en-US" dirty="0"/>
              <a:t>The color palette must be of a variety large enough to permit establishment of a family of discriminable colors. </a:t>
            </a:r>
          </a:p>
          <a:p>
            <a:r>
              <a:rPr lang="en-US" dirty="0"/>
              <a:t>The colors used must be accurately and clearly presented in all situations. 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Autofit/>
          </a:bodyPr>
          <a:lstStyle/>
          <a:p>
            <a:r>
              <a:rPr lang="en-US" sz="3200" dirty="0"/>
              <a:t>Technological considerations - Web site design.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92933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Compatibility:</a:t>
            </a:r>
          </a:p>
          <a:p>
            <a:pPr lvl="1"/>
            <a:r>
              <a:rPr lang="en-US" dirty="0"/>
              <a:t>Design for the most common browsers.</a:t>
            </a:r>
          </a:p>
          <a:p>
            <a:pPr lvl="1"/>
            <a:r>
              <a:rPr lang="en-US" dirty="0"/>
              <a:t>Account for browser differences.</a:t>
            </a:r>
          </a:p>
          <a:p>
            <a:r>
              <a:rPr lang="en-US" dirty="0"/>
              <a:t>Operating systems:</a:t>
            </a:r>
          </a:p>
          <a:p>
            <a:pPr lvl="1"/>
            <a:r>
              <a:rPr lang="en-US" dirty="0"/>
              <a:t>Design for popular operating systems.</a:t>
            </a:r>
          </a:p>
          <a:p>
            <a:r>
              <a:rPr lang="en-US" dirty="0"/>
              <a:t>Connection speed:</a:t>
            </a:r>
          </a:p>
          <a:p>
            <a:pPr lvl="1"/>
            <a:r>
              <a:rPr lang="en-US" dirty="0"/>
              <a:t>Design for the most commonly used connection speeds.</a:t>
            </a:r>
          </a:p>
          <a:p>
            <a:r>
              <a:rPr lang="en-US" dirty="0"/>
              <a:t>Monitor size and resolution:</a:t>
            </a:r>
          </a:p>
          <a:p>
            <a:pPr lvl="1"/>
            <a:r>
              <a:rPr lang="en-US" dirty="0"/>
              <a:t>Design within the boundaries of an image-safe area for all browsers.</a:t>
            </a:r>
          </a:p>
          <a:p>
            <a:pPr lvl="1"/>
            <a:r>
              <a:rPr lang="en-US" dirty="0"/>
              <a:t>Design for commonly used screen resolutions.</a:t>
            </a:r>
          </a:p>
          <a:p>
            <a:r>
              <a:rPr lang="en-US" dirty="0"/>
              <a:t>Fonts:</a:t>
            </a:r>
          </a:p>
          <a:p>
            <a:pPr lvl="1"/>
            <a:r>
              <a:rPr lang="en-US" dirty="0"/>
              <a:t>Use fonts that can be displayed on a variety of browsers.</a:t>
            </a:r>
          </a:p>
          <a:p>
            <a:r>
              <a:rPr lang="en-US" dirty="0"/>
              <a:t>Colors:</a:t>
            </a:r>
          </a:p>
          <a:p>
            <a:pPr lvl="1"/>
            <a:r>
              <a:rPr lang="en-US" dirty="0"/>
              <a:t>Use colors that succeed on a variety of browsers and platforms.</a:t>
            </a:r>
          </a:p>
          <a:p>
            <a:pPr lvl="2"/>
            <a:r>
              <a:rPr lang="en-US" dirty="0"/>
              <a:t>Use a palette of 216 colors.</a:t>
            </a:r>
          </a:p>
          <a:p>
            <a:r>
              <a:rPr lang="en-US" dirty="0"/>
              <a:t>Versions:</a:t>
            </a:r>
          </a:p>
          <a:p>
            <a:pPr lvl="1"/>
            <a:r>
              <a:rPr lang="en-US" dirty="0"/>
              <a:t>Create multiple versions that support multiple browsers.</a:t>
            </a:r>
          </a:p>
          <a:p>
            <a:pPr lvl="2"/>
            <a:r>
              <a:rPr lang="en-US" dirty="0"/>
              <a:t>Always provide a text-only version.</a:t>
            </a:r>
          </a:p>
          <a:p>
            <a:pPr lvl="2"/>
            <a:r>
              <a:rPr lang="en-US" dirty="0"/>
              <a:t>Make use of browser sniffers.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Visual Display (page) Layout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Addressing page layout challenges involves efficiently organizing and allotting relevant and UI elements within one visible screen or scrollable page.</a:t>
            </a:r>
          </a:p>
          <a:p>
            <a:r>
              <a:rPr lang="en-US" dirty="0"/>
              <a:t>Optimizing the display layout should be such that </a:t>
            </a:r>
          </a:p>
          <a:p>
            <a:pPr lvl="1"/>
            <a:r>
              <a:rPr lang="en-US" dirty="0"/>
              <a:t>it is organized according to the information content (e.g., importance, sequence, functionality), </a:t>
            </a:r>
          </a:p>
          <a:p>
            <a:pPr lvl="1"/>
            <a:r>
              <a:rPr lang="en-US" dirty="0"/>
              <a:t>is sized manageably (e.g., divided into proper sections), </a:t>
            </a:r>
          </a:p>
          <a:p>
            <a:pPr lvl="1"/>
            <a:r>
              <a:rPr lang="en-US" dirty="0"/>
              <a:t>is attention grabbing, and is visually pleasing (e.g., aligned and with restricted use of colors).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Autofit/>
          </a:bodyPr>
          <a:lstStyle/>
          <a:p>
            <a:r>
              <a:rPr lang="en-US" sz="3200" dirty="0"/>
              <a:t>Guidelines for US Government Web Page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28670"/>
            <a:ext cx="8501122" cy="5577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582726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hlinkClick r:id="rId2"/>
              </a:rPr>
              <a:t>Guidelines for Indian Government Websites (GIGW)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https://guidelines.india.gov.in/quick-tips/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Information Structuring and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864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Navigation refers to the method used to find information within a Web site. </a:t>
            </a:r>
          </a:p>
          <a:p>
            <a:r>
              <a:rPr lang="en-US" dirty="0"/>
              <a:t>A navigation page is used primarily to help users locate and link to destination pages. </a:t>
            </a:r>
          </a:p>
          <a:p>
            <a:r>
              <a:rPr lang="en-US" dirty="0"/>
              <a:t>A Web site’s navigation scheme and features should allow users to find and access information effectively and efficiently. </a:t>
            </a: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</a:rPr>
              <a:t>. . To facilitate navigation, designers should differentiate and group navigation elements and use appropriate menu types. It is also important to use descriptive tab labels, provide a clickable list of page contents on long pages, and add “glosses” where they will help users select the correct link. In well-designed sites, users do not get trapped in dead-end pages. 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06B9E-5542-7FB5-0EBA-FFC254DE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93C3F-03FB-2B69-22E1-FF0CA19D8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512" y="0"/>
            <a:ext cx="9144000" cy="5146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7283A-C1C2-14AB-1104-0096D892E3BE}"/>
              </a:ext>
            </a:extLst>
          </p:cNvPr>
          <p:cNvSpPr txBox="1"/>
          <p:nvPr/>
        </p:nvSpPr>
        <p:spPr>
          <a:xfrm>
            <a:off x="179512" y="5146234"/>
            <a:ext cx="89469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Grouped navigation: Academic Services and Student Support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Descriptive menu labels and breadcrumb trail (A breadcrumb is a small navigation path that shows the user’s current location in a website. Ex. Home / Academics / Course Registration)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“On this page” links for quick access on a long page ; Clear action button and help panel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“Return to Dashboard” link so users do not reach a dead end</a:t>
            </a:r>
          </a:p>
        </p:txBody>
      </p:sp>
    </p:spTree>
    <p:extLst>
      <p:ext uri="{BB962C8B-B14F-4D97-AF65-F5344CB8AC3E}">
        <p14:creationId xmlns:p14="http://schemas.microsoft.com/office/powerpoint/2010/main" val="14409504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with Disability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91174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Perceivable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dirty="0"/>
              <a:t>Provide text alternatives for </a:t>
            </a:r>
            <a:r>
              <a:rPr lang="en-US" dirty="0" err="1"/>
              <a:t>nontext</a:t>
            </a:r>
            <a:r>
              <a:rPr lang="en-US" dirty="0"/>
              <a:t> content. 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dirty="0"/>
              <a:t>Provide captions and other alternatives for multimedia. 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dirty="0"/>
              <a:t>Create content that can be presented in different ways, including by assistive technologies, without losing meaning. 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dirty="0"/>
              <a:t> Make it easier for users to see and hear content. 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70F7-46AF-A762-F3DA-A1781C96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D7A5-12D6-0B6D-FC72-A62CAEAD2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F000B-807C-8DD1-C2D1-0C75DC3FD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7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02AA05-B747-760A-EF14-7860693F1736}"/>
              </a:ext>
            </a:extLst>
          </p:cNvPr>
          <p:cNvSpPr txBox="1"/>
          <p:nvPr/>
        </p:nvSpPr>
        <p:spPr>
          <a:xfrm>
            <a:off x="218998" y="5013176"/>
            <a:ext cx="84661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UI screenshot demonstrates the </a:t>
            </a:r>
            <a:r>
              <a:rPr lang="en-IN" b="1" dirty="0"/>
              <a:t>Perceivable</a:t>
            </a:r>
            <a:r>
              <a:rPr lang="en-IN" dirty="0"/>
              <a:t> accessibility principle through: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Alternative text for images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Captions and transcripts for video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Adjustable text size and high contrast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Audio description and volume controls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Adaptable layout for different devices and assistive technologies</a:t>
            </a:r>
          </a:p>
        </p:txBody>
      </p:sp>
    </p:spTree>
    <p:extLst>
      <p:ext uri="{BB962C8B-B14F-4D97-AF65-F5344CB8AC3E}">
        <p14:creationId xmlns:p14="http://schemas.microsoft.com/office/powerpoint/2010/main" val="286366131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with Disability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None/>
            </a:pPr>
            <a:r>
              <a:rPr lang="en-US" dirty="0"/>
              <a:t>2. Operable </a:t>
            </a:r>
          </a:p>
          <a:p>
            <a:pPr marL="914400" lvl="1" indent="-514350">
              <a:buAutoNum type="alphaUcPeriod"/>
            </a:pPr>
            <a:r>
              <a:rPr lang="en-US" dirty="0"/>
              <a:t>Make all functionality available from a keyboard. </a:t>
            </a:r>
          </a:p>
          <a:p>
            <a:pPr marL="914400" lvl="1" indent="-514350">
              <a:buAutoNum type="alphaUcPeriod"/>
            </a:pPr>
            <a:r>
              <a:rPr lang="en-US" dirty="0"/>
              <a:t>Give users enough time to read and use content. </a:t>
            </a:r>
          </a:p>
          <a:p>
            <a:pPr marL="914400" lvl="1" indent="-514350">
              <a:buAutoNum type="alphaUcPeriod"/>
            </a:pPr>
            <a:r>
              <a:rPr lang="en-US" dirty="0"/>
              <a:t>Do not use content that causes seizures. </a:t>
            </a:r>
          </a:p>
          <a:p>
            <a:pPr marL="914400" lvl="1" indent="-514350">
              <a:buAutoNum type="alphaUcPeriod"/>
            </a:pPr>
            <a:r>
              <a:rPr lang="en-US" dirty="0"/>
              <a:t>Help users navigate and find content.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Understandable </a:t>
            </a:r>
          </a:p>
          <a:p>
            <a:pPr marL="914400" lvl="1" indent="-514350">
              <a:buAutoNum type="alphaUcPeriod"/>
            </a:pPr>
            <a:r>
              <a:rPr lang="en-US" dirty="0"/>
              <a:t>Make text readable and understandable. </a:t>
            </a:r>
          </a:p>
          <a:p>
            <a:pPr marL="914400" lvl="1" indent="-514350">
              <a:buAutoNum type="alphaUcPeriod"/>
            </a:pPr>
            <a:r>
              <a:rPr lang="en-US" dirty="0"/>
              <a:t>Make content appear and operate in predictable ways. </a:t>
            </a:r>
          </a:p>
          <a:p>
            <a:pPr marL="914400" lvl="1" indent="-514350">
              <a:buAutoNum type="alphaUcPeriod"/>
            </a:pPr>
            <a:r>
              <a:rPr lang="en-US" dirty="0"/>
              <a:t>Help users avoid and correct mistakes.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Robust </a:t>
            </a:r>
          </a:p>
          <a:p>
            <a:pPr marL="914400" lvl="1" indent="-514350">
              <a:buFont typeface="+mj-lt"/>
              <a:buAutoNum type="alphaUcPeriod" startAt="4"/>
            </a:pPr>
            <a:r>
              <a:rPr lang="en-US" dirty="0"/>
              <a:t>Maximize compatibility with current and future user tools.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1F4-46CD-F4F6-2DD0-022B7D66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FC8CF-9AC5-465C-F517-A375E4A2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9" y="16701"/>
            <a:ext cx="9144000" cy="5146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9E6A0C-8A84-6682-634A-9769FA4194A7}"/>
              </a:ext>
            </a:extLst>
          </p:cNvPr>
          <p:cNvSpPr txBox="1"/>
          <p:nvPr/>
        </p:nvSpPr>
        <p:spPr>
          <a:xfrm>
            <a:off x="154494" y="4795365"/>
            <a:ext cx="89602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It shows: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Operable:</a:t>
            </a:r>
            <a:r>
              <a:rPr lang="en-IN" dirty="0"/>
              <a:t> Skip link, keyboard focus on the button, keyboard navigation.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Understandable:</a:t>
            </a:r>
            <a:r>
              <a:rPr lang="en-IN" dirty="0"/>
              <a:t> Clear labels, step indicator, helpful email-error message, saved confirmation.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Robust:</a:t>
            </a:r>
            <a:r>
              <a:rPr lang="en-IN" dirty="0"/>
              <a:t> Semantic headings and screen-reader compatibility shown in the accessibility panel.</a:t>
            </a:r>
          </a:p>
        </p:txBody>
      </p:sp>
    </p:spTree>
    <p:extLst>
      <p:ext uri="{BB962C8B-B14F-4D97-AF65-F5344CB8AC3E}">
        <p14:creationId xmlns:p14="http://schemas.microsoft.com/office/powerpoint/2010/main" val="152626884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4292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More specific and important principles by Tidwell [2]: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Fast status information (especially with regard to network connection and services)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Minimize typing and leverage on varied input hardware (e.g., buttons, touch, voice, handwriting recognition, virtual keyboard, etc.)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Fierce task focus (for less confusion in a highly dense information space)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Large hit targets (for easy and correct selection and manipulation)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Efficient use of screen space (with condensed information)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9B02-5654-EB9A-1FB8-1CE20C7F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AAC26-19EA-816F-179B-05B88BBC0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5BC6D-798B-24CC-F075-1D0D8349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638"/>
            <a:ext cx="9144000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6900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Nokia developer’s Guidelines  - 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Enable shortcuts (e.g., hot keys) for frequently used functions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Keep the user informed of his or her actions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Follow the device’s (vendor’s) interface patterns (positioning of the buttons and menus). 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Earcon</a:t>
            </a:r>
            <a:r>
              <a:rPr lang="en-US" dirty="0"/>
              <a:t>” Design for Aural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Earcon</a:t>
            </a:r>
            <a:r>
              <a:rPr lang="en-US" dirty="0"/>
              <a:t> is distinctive sound that represents a specific event or conveys other information</a:t>
            </a:r>
          </a:p>
          <a:p>
            <a:r>
              <a:rPr lang="en-US" dirty="0" err="1"/>
              <a:t>lattner</a:t>
            </a:r>
            <a:r>
              <a:rPr lang="en-US" dirty="0"/>
              <a:t>, </a:t>
            </a:r>
            <a:r>
              <a:rPr lang="en-US" dirty="0" err="1"/>
              <a:t>Sumikawa</a:t>
            </a:r>
            <a:r>
              <a:rPr lang="en-US" dirty="0"/>
              <a:t>, and Greenberg suggested a few guidelines for designing “auditory” analog-to-visual icons.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symbolic,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nomic</a:t>
            </a:r>
            <a:r>
              <a:rPr lang="en-US" dirty="0"/>
              <a:t>, and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metaphoric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C394-A326-F8D5-008D-DC38230D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5752-44C7-9431-8337-739D030D7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70395-E35D-3FFE-604D-BD0B25EA5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0" y="0"/>
            <a:ext cx="9144000" cy="5146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03BA5B-99E3-4431-6538-25C8CC0169B0}"/>
              </a:ext>
            </a:extLst>
          </p:cNvPr>
          <p:cNvSpPr txBox="1"/>
          <p:nvPr/>
        </p:nvSpPr>
        <p:spPr>
          <a:xfrm>
            <a:off x="354360" y="5525998"/>
            <a:ext cx="8435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Symbolic:</a:t>
            </a:r>
            <a:r>
              <a:rPr lang="en-IN" dirty="0"/>
              <a:t> door-unlock chime—meaning learned by the user. </a:t>
            </a:r>
          </a:p>
          <a:p>
            <a:pPr lvl="0"/>
            <a:r>
              <a:rPr lang="en-IN" b="1" dirty="0"/>
              <a:t>Nomic:</a:t>
            </a:r>
            <a:r>
              <a:rPr lang="en-IN" dirty="0"/>
              <a:t> rising Wi-Fi tone—sound pattern indicates the connection state. </a:t>
            </a:r>
          </a:p>
          <a:p>
            <a:pPr lvl="0"/>
            <a:r>
              <a:rPr lang="en-IN" b="1" dirty="0"/>
              <a:t>Metaphoric:</a:t>
            </a:r>
            <a:r>
              <a:rPr lang="en-IN" dirty="0"/>
              <a:t> dripping-water sound—resembles the real-world event.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76208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Earcon</a:t>
            </a:r>
            <a:r>
              <a:rPr lang="en-US" dirty="0"/>
              <a:t>” Design for Aural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Symbolic </a:t>
            </a:r>
            <a:r>
              <a:rPr lang="en-US" dirty="0" err="1"/>
              <a:t>earcons</a:t>
            </a:r>
            <a:r>
              <a:rPr lang="en-US" dirty="0"/>
              <a:t> rely on social convention such as applause for approval; </a:t>
            </a:r>
          </a:p>
          <a:p>
            <a:r>
              <a:rPr lang="en-US" dirty="0" err="1"/>
              <a:t>nomicones</a:t>
            </a:r>
            <a:r>
              <a:rPr lang="en-US" dirty="0"/>
              <a:t> are physical such as a door slam; and </a:t>
            </a:r>
          </a:p>
          <a:p>
            <a:r>
              <a:rPr lang="en-US" dirty="0"/>
              <a:t>metaphorical ones are based on capturing the similarities such as a falling pitch for a falling object</a:t>
            </a:r>
          </a:p>
          <a:p>
            <a:r>
              <a:rPr lang="en-US" dirty="0"/>
              <a:t>Aural feedback (including </a:t>
            </a:r>
            <a:r>
              <a:rPr lang="en-US" dirty="0" err="1"/>
              <a:t>earcons</a:t>
            </a:r>
            <a:r>
              <a:rPr lang="en-US" dirty="0"/>
              <a:t>) involves a careful choice of sound-related parameters such as the amplitude/ loudness, frequency/pitch, timbre, and duration. 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994C-FBF3-8DA2-4779-16BB4331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7E8CA-A72E-3D47-BD17-E7167D997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D53CD-3DEB-FC74-3C5F-79E246DD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92"/>
            <a:ext cx="9144000" cy="5146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80C775-713F-36C3-E349-AEC6AA0192A7}"/>
              </a:ext>
            </a:extLst>
          </p:cNvPr>
          <p:cNvSpPr txBox="1"/>
          <p:nvPr/>
        </p:nvSpPr>
        <p:spPr>
          <a:xfrm>
            <a:off x="251520" y="5229404"/>
            <a:ext cx="87129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It clearly shows: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Symbolic </a:t>
            </a:r>
            <a:r>
              <a:rPr lang="en-IN" b="1" dirty="0" err="1"/>
              <a:t>earcon</a:t>
            </a:r>
            <a:r>
              <a:rPr lang="en-IN" b="1" dirty="0"/>
              <a:t>:</a:t>
            </a:r>
            <a:r>
              <a:rPr lang="en-IN" dirty="0"/>
              <a:t> approval applause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Nomic </a:t>
            </a:r>
            <a:r>
              <a:rPr lang="en-IN" b="1" dirty="0" err="1"/>
              <a:t>earcon</a:t>
            </a:r>
            <a:r>
              <a:rPr lang="en-IN" b="1" dirty="0"/>
              <a:t>:</a:t>
            </a:r>
            <a:r>
              <a:rPr lang="en-IN" dirty="0"/>
              <a:t> door-closing sound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Metaphoric </a:t>
            </a:r>
            <a:r>
              <a:rPr lang="en-IN" b="1" dirty="0" err="1"/>
              <a:t>earcon</a:t>
            </a:r>
            <a:r>
              <a:rPr lang="en-IN" b="1" dirty="0"/>
              <a:t>:</a:t>
            </a:r>
            <a:r>
              <a:rPr lang="en-IN" dirty="0"/>
              <a:t> falling pitch for a dropped file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Adjustable </a:t>
            </a:r>
            <a:r>
              <a:rPr lang="en-IN" b="1" dirty="0"/>
              <a:t>loudness, pitch, timbre, and duration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85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17729</TotalTime>
  <Words>5709</Words>
  <Application>Microsoft Office PowerPoint</Application>
  <PresentationFormat>On-screen Show (4:3)</PresentationFormat>
  <Paragraphs>620</Paragraphs>
  <Slides>120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4" baseType="lpstr">
      <vt:lpstr>Arial</vt:lpstr>
      <vt:lpstr>Calibri</vt:lpstr>
      <vt:lpstr>var(--font-sans-serif)</vt:lpstr>
      <vt:lpstr>Office Theme</vt:lpstr>
      <vt:lpstr>Human Computer Interaction Module 3</vt:lpstr>
      <vt:lpstr>Principles of Good Interface and Screen Design</vt:lpstr>
      <vt:lpstr>Human Considerations in Interface and Screen Design</vt:lpstr>
      <vt:lpstr>Human Considerations in Interface and Screen Design</vt:lpstr>
      <vt:lpstr>Ex’s: Overlapping Elements</vt:lpstr>
      <vt:lpstr>Ex’s: Badly Prioritizing Elements </vt:lpstr>
      <vt:lpstr>Ex’s: Cluttered Layout </vt:lpstr>
      <vt:lpstr>Ex’s: High Contrast and Visibility </vt:lpstr>
      <vt:lpstr>Web page distractions </vt:lpstr>
      <vt:lpstr>Top design mistakes in Web design Nielsen (2005e)</vt:lpstr>
      <vt:lpstr>Interface Design Goals</vt:lpstr>
      <vt:lpstr>Consistency</vt:lpstr>
      <vt:lpstr>Real-world consistency - Uses familiar Indian conventions—₹ pricing, vegetarian symbol, UPI/Cash on Delivery, delivery time and a clear Place Order button. </vt:lpstr>
      <vt:lpstr>Ordering of Data and Content</vt:lpstr>
      <vt:lpstr>PowerPoint Presentation</vt:lpstr>
      <vt:lpstr>Ordering of Data and Content</vt:lpstr>
      <vt:lpstr>PowerPoint Presentation</vt:lpstr>
      <vt:lpstr>PowerPoint Presentation</vt:lpstr>
      <vt:lpstr>Ordering of Data and Content</vt:lpstr>
      <vt:lpstr>PowerPoint Presentation</vt:lpstr>
      <vt:lpstr>Navigation and Flow</vt:lpstr>
      <vt:lpstr>PowerPoint Presentation</vt:lpstr>
      <vt:lpstr>Navigation and Flow</vt:lpstr>
      <vt:lpstr>PowerPoint Presentation</vt:lpstr>
      <vt:lpstr>Navigation and Flow</vt:lpstr>
      <vt:lpstr>PowerPoint Presentation</vt:lpstr>
      <vt:lpstr>Navigation and Flow</vt:lpstr>
      <vt:lpstr>PowerPoint Presentation</vt:lpstr>
      <vt:lpstr>Gestalt Principles</vt:lpstr>
      <vt:lpstr>Gestalt Principles</vt:lpstr>
      <vt:lpstr>PowerPoint Presentation</vt:lpstr>
      <vt:lpstr>PowerPoint Presentation</vt:lpstr>
      <vt:lpstr>PowerPoint Presentation</vt:lpstr>
      <vt:lpstr>Gestalt Principles</vt:lpstr>
      <vt:lpstr>PowerPoint Presentation</vt:lpstr>
      <vt:lpstr>PowerPoint Presentation</vt:lpstr>
      <vt:lpstr>PowerPoint Presentation</vt:lpstr>
      <vt:lpstr>Visually Pleasing Composition</vt:lpstr>
      <vt:lpstr>Balance</vt:lpstr>
      <vt:lpstr>PowerPoint Presentation</vt:lpstr>
      <vt:lpstr>Symmetry</vt:lpstr>
      <vt:lpstr>PowerPoint Presentation</vt:lpstr>
      <vt:lpstr>Regularity</vt:lpstr>
      <vt:lpstr>PowerPoint Presentation</vt:lpstr>
      <vt:lpstr>Predictability</vt:lpstr>
      <vt:lpstr>PowerPoint Presentation</vt:lpstr>
      <vt:lpstr>Sequentiality</vt:lpstr>
      <vt:lpstr>PowerPoint Presentation</vt:lpstr>
      <vt:lpstr>PowerPoint Presentation</vt:lpstr>
      <vt:lpstr>Sequentiality</vt:lpstr>
      <vt:lpstr>Economy</vt:lpstr>
      <vt:lpstr>PowerPoint Presentation</vt:lpstr>
      <vt:lpstr>Unity</vt:lpstr>
      <vt:lpstr>PowerPoint Presentation</vt:lpstr>
      <vt:lpstr>Proportion</vt:lpstr>
      <vt:lpstr>PowerPoint Presentation</vt:lpstr>
      <vt:lpstr>Simplicity (Complexity)</vt:lpstr>
      <vt:lpstr>PowerPoint Presentation</vt:lpstr>
      <vt:lpstr>Groupings</vt:lpstr>
      <vt:lpstr>PowerPoint Presentation</vt:lpstr>
      <vt:lpstr>Distinctiveness</vt:lpstr>
      <vt:lpstr>Focus and Emphasis</vt:lpstr>
      <vt:lpstr>Visually emphasize components</vt:lpstr>
      <vt:lpstr>Visually emphasize components</vt:lpstr>
      <vt:lpstr>Visually emphasize components</vt:lpstr>
      <vt:lpstr>Visually emphasize components</vt:lpstr>
      <vt:lpstr>Focus and Emphasis</vt:lpstr>
      <vt:lpstr>Focus and Emphasis</vt:lpstr>
      <vt:lpstr>Presenting Information Simply and Meaningfully</vt:lpstr>
      <vt:lpstr>Statistical Graphics</vt:lpstr>
      <vt:lpstr>Qualities of statistical graphic</vt:lpstr>
      <vt:lpstr>Use of Statistical Graphics</vt:lpstr>
      <vt:lpstr>How to choose the right chart type </vt:lpstr>
      <vt:lpstr>PowerPoint Presentation</vt:lpstr>
      <vt:lpstr>Use Visualizations To Present Data </vt:lpstr>
      <vt:lpstr>Components of a Statistical Graphic</vt:lpstr>
      <vt:lpstr>Components of a Statistical Graphic</vt:lpstr>
      <vt:lpstr>Components of a Statistical Graphic</vt:lpstr>
      <vt:lpstr>Components of a Statistical Graphic</vt:lpstr>
      <vt:lpstr>Axes Label</vt:lpstr>
      <vt:lpstr>Axes</vt:lpstr>
      <vt:lpstr>Scales and Scaling</vt:lpstr>
      <vt:lpstr>Data Presentation in Graphs</vt:lpstr>
      <vt:lpstr>Proper context for data interpretation</vt:lpstr>
      <vt:lpstr>Proportion</vt:lpstr>
      <vt:lpstr>Lines</vt:lpstr>
      <vt:lpstr>Labeling</vt:lpstr>
      <vt:lpstr>Title</vt:lpstr>
      <vt:lpstr>Key or Legend</vt:lpstr>
      <vt:lpstr>Aiding Interpretation of Numbers</vt:lpstr>
      <vt:lpstr>Types of graphs </vt:lpstr>
      <vt:lpstr>Pie Charts</vt:lpstr>
      <vt:lpstr>Segmented or Stacked Bar</vt:lpstr>
      <vt:lpstr>Bar Charts</vt:lpstr>
      <vt:lpstr>Bar Charts</vt:lpstr>
      <vt:lpstr>Scatterplots</vt:lpstr>
      <vt:lpstr>Curve and Line Graphs</vt:lpstr>
      <vt:lpstr>Technological Considerations in Interface Design</vt:lpstr>
      <vt:lpstr>Graphical Systems</vt:lpstr>
      <vt:lpstr>Graphical Systems</vt:lpstr>
      <vt:lpstr>Graphical Systems</vt:lpstr>
      <vt:lpstr>Graphical Systems</vt:lpstr>
      <vt:lpstr>Graphical Systems</vt:lpstr>
      <vt:lpstr>Technological considerations - Web site design.</vt:lpstr>
      <vt:lpstr>Visual Display (page) Layout  </vt:lpstr>
      <vt:lpstr>Guidelines for US Government Web Page Layout</vt:lpstr>
      <vt:lpstr>Guidelines for Indian Government Websites (GIGW) </vt:lpstr>
      <vt:lpstr>Information Structuring and Navigation</vt:lpstr>
      <vt:lpstr>PowerPoint Presentation</vt:lpstr>
      <vt:lpstr>Users with Disability </vt:lpstr>
      <vt:lpstr>PowerPoint Presentation</vt:lpstr>
      <vt:lpstr>Users with Disability </vt:lpstr>
      <vt:lpstr>PowerPoint Presentation</vt:lpstr>
      <vt:lpstr>Mobile Device</vt:lpstr>
      <vt:lpstr>PowerPoint Presentation</vt:lpstr>
      <vt:lpstr>Nokia developer’s Guidelines  - Ex</vt:lpstr>
      <vt:lpstr>“Earcon” Design for Aural Interface</vt:lpstr>
      <vt:lpstr>PowerPoint Presentation</vt:lpstr>
      <vt:lpstr>“Earcon” Design for Aural Interface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Computer Interaction Module 3</dc:title>
  <dc:creator>Personal</dc:creator>
  <cp:lastModifiedBy>Prassanna J</cp:lastModifiedBy>
  <cp:revision>46</cp:revision>
  <dcterms:created xsi:type="dcterms:W3CDTF">2024-01-29T04:05:02Z</dcterms:created>
  <dcterms:modified xsi:type="dcterms:W3CDTF">2026-09-02T12:19:18Z</dcterms:modified>
</cp:coreProperties>
</file>