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8.xml" ContentType="application/vnd.openxmlformats-officedocument.presentationml.slide+xml"/>
  <Override PartName="/ppt/slides/slide49.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2" r:id="rId1"/>
  </p:sldMasterIdLst>
  <p:notesMasterIdLst>
    <p:notesMasterId r:id="rId70"/>
  </p:notesMasterIdLst>
  <p:sldIdLst>
    <p:sldId id="257" r:id="rId2"/>
    <p:sldId id="304" r:id="rId3"/>
    <p:sldId id="354" r:id="rId4"/>
    <p:sldId id="305" r:id="rId5"/>
    <p:sldId id="355" r:id="rId6"/>
    <p:sldId id="353" r:id="rId7"/>
    <p:sldId id="306" r:id="rId8"/>
    <p:sldId id="307" r:id="rId9"/>
    <p:sldId id="308" r:id="rId10"/>
    <p:sldId id="309" r:id="rId11"/>
    <p:sldId id="357" r:id="rId12"/>
    <p:sldId id="310" r:id="rId13"/>
    <p:sldId id="359" r:id="rId14"/>
    <p:sldId id="358" r:id="rId15"/>
    <p:sldId id="311" r:id="rId16"/>
    <p:sldId id="312" r:id="rId17"/>
    <p:sldId id="313" r:id="rId18"/>
    <p:sldId id="314" r:id="rId19"/>
    <p:sldId id="315" r:id="rId20"/>
    <p:sldId id="316" r:id="rId21"/>
    <p:sldId id="317" r:id="rId22"/>
    <p:sldId id="318" r:id="rId23"/>
    <p:sldId id="319" r:id="rId24"/>
    <p:sldId id="320" r:id="rId25"/>
    <p:sldId id="321" r:id="rId26"/>
    <p:sldId id="323" r:id="rId27"/>
    <p:sldId id="324" r:id="rId28"/>
    <p:sldId id="325" r:id="rId29"/>
    <p:sldId id="326" r:id="rId30"/>
    <p:sldId id="327" r:id="rId31"/>
    <p:sldId id="328" r:id="rId32"/>
    <p:sldId id="360" r:id="rId33"/>
    <p:sldId id="329" r:id="rId34"/>
    <p:sldId id="361" r:id="rId35"/>
    <p:sldId id="330" r:id="rId36"/>
    <p:sldId id="331" r:id="rId37"/>
    <p:sldId id="332" r:id="rId38"/>
    <p:sldId id="367" r:id="rId39"/>
    <p:sldId id="368" r:id="rId40"/>
    <p:sldId id="370" r:id="rId41"/>
    <p:sldId id="363" r:id="rId42"/>
    <p:sldId id="364" r:id="rId43"/>
    <p:sldId id="365" r:id="rId44"/>
    <p:sldId id="366" r:id="rId45"/>
    <p:sldId id="333" r:id="rId46"/>
    <p:sldId id="362" r:id="rId47"/>
    <p:sldId id="371" r:id="rId48"/>
    <p:sldId id="339" r:id="rId49"/>
    <p:sldId id="372" r:id="rId50"/>
    <p:sldId id="373" r:id="rId51"/>
    <p:sldId id="374" r:id="rId52"/>
    <p:sldId id="375" r:id="rId53"/>
    <p:sldId id="376" r:id="rId54"/>
    <p:sldId id="337" r:id="rId55"/>
    <p:sldId id="334" r:id="rId56"/>
    <p:sldId id="340" r:id="rId57"/>
    <p:sldId id="341" r:id="rId58"/>
    <p:sldId id="342" r:id="rId59"/>
    <p:sldId id="377" r:id="rId60"/>
    <p:sldId id="343" r:id="rId61"/>
    <p:sldId id="345" r:id="rId62"/>
    <p:sldId id="348" r:id="rId63"/>
    <p:sldId id="349" r:id="rId64"/>
    <p:sldId id="350" r:id="rId65"/>
    <p:sldId id="346" r:id="rId66"/>
    <p:sldId id="347" r:id="rId67"/>
    <p:sldId id="352" r:id="rId68"/>
    <p:sldId id="378" r:id="rId69"/>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82696" autoAdjust="0"/>
  </p:normalViewPr>
  <p:slideViewPr>
    <p:cSldViewPr>
      <p:cViewPr>
        <p:scale>
          <a:sx n="110" d="100"/>
          <a:sy n="110" d="100"/>
        </p:scale>
        <p:origin x="-804" y="-282"/>
      </p:cViewPr>
      <p:guideLst>
        <p:guide orient="horz" pos="1620"/>
        <p:guide pos="2880"/>
      </p:guideLst>
    </p:cSldViewPr>
  </p:slideViewPr>
  <p:notesTextViewPr>
    <p:cViewPr>
      <p:scale>
        <a:sx n="100" d="100"/>
        <a:sy n="100" d="100"/>
      </p:scale>
      <p:origin x="0" y="0"/>
    </p:cViewPr>
  </p:notesTextViewPr>
  <p:notesViewPr>
    <p:cSldViewPr>
      <p:cViewPr varScale="1">
        <p:scale>
          <a:sx n="60" d="100"/>
          <a:sy n="60" d="100"/>
        </p:scale>
        <p:origin x="-2712"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C095501-73F2-41BA-85CC-22557878FAFE}" type="datetimeFigureOut">
              <a:rPr lang="en-IN" smtClean="0"/>
              <a:pPr/>
              <a:t>03-01-2024</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F6130DD-32EB-4721-81EC-BC5717B4C7AA}" type="slidenum">
              <a:rPr lang="en-IN" smtClean="0"/>
              <a:pPr/>
              <a:t>‹#›</a:t>
            </a:fld>
            <a:endParaRPr lang="en-IN"/>
          </a:p>
        </p:txBody>
      </p:sp>
    </p:spTree>
    <p:extLst>
      <p:ext uri="{BB962C8B-B14F-4D97-AF65-F5344CB8AC3E}">
        <p14:creationId xmlns="" xmlns:p14="http://schemas.microsoft.com/office/powerpoint/2010/main" val="807249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6130DD-32EB-4721-81EC-BC5717B4C7AA}" type="slidenum">
              <a:rPr lang="en-IN" smtClean="0"/>
              <a:pPr/>
              <a:t>15</a:t>
            </a:fld>
            <a:endParaRPr lang="en-IN"/>
          </a:p>
        </p:txBody>
      </p:sp>
    </p:spTree>
    <p:extLst>
      <p:ext uri="{BB962C8B-B14F-4D97-AF65-F5344CB8AC3E}">
        <p14:creationId xmlns="" xmlns:p14="http://schemas.microsoft.com/office/powerpoint/2010/main" val="2366363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887468"/>
            <a:ext cx="7315200" cy="1946269"/>
          </a:xfrm>
        </p:spPr>
        <p:txBody>
          <a:bodyPr>
            <a:normAutofit/>
          </a:bodyPr>
          <a:lstStyle>
            <a:lvl1pPr>
              <a:defRPr sz="4800"/>
            </a:lvl1pPr>
          </a:lstStyle>
          <a:p>
            <a:r>
              <a:rPr lang="en-US" dirty="0" smtClean="0"/>
              <a:t>Click to edit Master title style</a:t>
            </a:r>
            <a:endParaRPr lang="en-US" dirty="0"/>
          </a:p>
        </p:txBody>
      </p:sp>
      <p:sp>
        <p:nvSpPr>
          <p:cNvPr id="3" name="Subtitle 2"/>
          <p:cNvSpPr>
            <a:spLocks noGrp="1"/>
          </p:cNvSpPr>
          <p:nvPr>
            <p:ph type="subTitle" idx="1"/>
          </p:nvPr>
        </p:nvSpPr>
        <p:spPr>
          <a:xfrm>
            <a:off x="914400" y="3874898"/>
            <a:ext cx="7315200" cy="858474"/>
          </a:xfrm>
        </p:spPr>
        <p:txBody>
          <a:bodyPr>
            <a:normAutofit/>
          </a:bodyPr>
          <a:lstStyle>
            <a:lvl1pPr marL="0" indent="0" algn="l">
              <a:buNone/>
              <a:defRPr sz="2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FBB6C27A-279C-4E30-BD33-DA1BC17EF2BB}" type="datetime1">
              <a:rPr lang="en-US" smtClean="0"/>
              <a:pPr/>
              <a:t>1/3/2024</a:t>
            </a:fld>
            <a:endParaRPr lang="en-US"/>
          </a:p>
        </p:txBody>
      </p:sp>
      <p:sp>
        <p:nvSpPr>
          <p:cNvPr id="8" name="Slide Number Placeholder 7"/>
          <p:cNvSpPr>
            <a:spLocks noGrp="1"/>
          </p:cNvSpPr>
          <p:nvPr>
            <p:ph type="sldNum" sz="quarter" idx="11"/>
          </p:nvPr>
        </p:nvSpPr>
        <p:spPr/>
        <p:txBody>
          <a:bodyPr/>
          <a:lstStyle/>
          <a:p>
            <a:fld id="{B6F15528-21DE-4FAA-801E-634DDDAF4B2B}" type="slidenum">
              <a:rPr lang="en-US" smtClean="0"/>
              <a:pPr/>
              <a:t>‹#›</a:t>
            </a:fld>
            <a:endParaRPr lang="en-US"/>
          </a:p>
        </p:txBody>
      </p:sp>
      <p:sp>
        <p:nvSpPr>
          <p:cNvPr id="9" name="Footer Placeholder 8"/>
          <p:cNvSpPr>
            <a:spLocks noGrp="1"/>
          </p:cNvSpPr>
          <p:nvPr>
            <p:ph type="ftr" sz="quarter" idx="12"/>
          </p:nvPr>
        </p:nvSpPr>
        <p:spPr>
          <a:xfrm>
            <a:off x="5638800" y="4781550"/>
            <a:ext cx="2246489" cy="225920"/>
          </a:xfrm>
        </p:spPr>
        <p:txBody>
          <a:bodyPr/>
          <a:lstStyle>
            <a:lvl1pPr algn="ctr">
              <a:defRPr>
                <a:solidFill>
                  <a:schemeClr val="tx1">
                    <a:lumMod val="65000"/>
                  </a:schemeClr>
                </a:solidFill>
              </a:defRPr>
            </a:lvl1pPr>
          </a:lstStyle>
          <a:p>
            <a:r>
              <a:rPr lang="en-US" smtClean="0"/>
              <a:t>Dr.S.L.Jayalakshmi, VIT Chennai</a:t>
            </a:r>
            <a:endParaRPr lang="en-US" dirty="0"/>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25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42" presetClass="entr" presetSubtype="0" fill="hold" nodeType="clickEffect">
                  <p:stCondLst>
                    <p:cond delay="25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1BBB7C0-C446-4865-8AED-291C9884DA96}" type="datetime1">
              <a:rPr lang="en-US" smtClean="0"/>
              <a:pPr/>
              <a:t>1/3/2024</a:t>
            </a:fld>
            <a:endParaRPr lang="en-US"/>
          </a:p>
        </p:txBody>
      </p:sp>
      <p:sp>
        <p:nvSpPr>
          <p:cNvPr id="5" name="Footer Placeholder 4"/>
          <p:cNvSpPr>
            <a:spLocks noGrp="1"/>
          </p:cNvSpPr>
          <p:nvPr>
            <p:ph type="ftr" sz="quarter" idx="11"/>
          </p:nvPr>
        </p:nvSpPr>
        <p:spPr>
          <a:xfrm>
            <a:off x="6477000" y="4781550"/>
            <a:ext cx="2246489" cy="225920"/>
          </a:xfrm>
        </p:spPr>
        <p:txBody>
          <a:bodyPr/>
          <a:lstStyle>
            <a:lvl1pPr>
              <a:defRPr>
                <a:solidFill>
                  <a:schemeClr val="tx1">
                    <a:lumMod val="65000"/>
                  </a:schemeClr>
                </a:solidFill>
              </a:defRPr>
            </a:lvl1pPr>
          </a:lstStyle>
          <a:p>
            <a:r>
              <a:rPr lang="en-US" smtClean="0"/>
              <a:t>Dr.S.L.Jayalakshmi, VIT Chennai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4400" y="3763179"/>
            <a:ext cx="7315200" cy="970194"/>
          </a:xfrm>
        </p:spPr>
        <p:txBody>
          <a:bodyPr anchor="t"/>
          <a:lstStyle>
            <a:lvl1pPr algn="l">
              <a:defRPr sz="4000" b="0" cap="none"/>
            </a:lvl1pPr>
          </a:lstStyle>
          <a:p>
            <a:r>
              <a:rPr lang="en-US" smtClean="0"/>
              <a:t>Click to edit Master title style</a:t>
            </a:r>
            <a:endParaRPr lang="en-US"/>
          </a:p>
        </p:txBody>
      </p:sp>
      <p:sp>
        <p:nvSpPr>
          <p:cNvPr id="3" name="Text Placeholder 2"/>
          <p:cNvSpPr>
            <a:spLocks noGrp="1"/>
          </p:cNvSpPr>
          <p:nvPr>
            <p:ph type="body" idx="1"/>
          </p:nvPr>
        </p:nvSpPr>
        <p:spPr>
          <a:xfrm>
            <a:off x="914400" y="2898823"/>
            <a:ext cx="7315200" cy="823829"/>
          </a:xfr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3F7041B-BE01-43C8-84CE-E7A3CD52BC0D}" type="datetime1">
              <a:rPr lang="en-US" smtClean="0"/>
              <a:pPr/>
              <a:t>1/3/2024</a:t>
            </a:fld>
            <a:endParaRPr lang="en-US"/>
          </a:p>
        </p:txBody>
      </p:sp>
      <p:sp>
        <p:nvSpPr>
          <p:cNvPr id="5" name="Footer Placeholder 4"/>
          <p:cNvSpPr>
            <a:spLocks noGrp="1"/>
          </p:cNvSpPr>
          <p:nvPr>
            <p:ph type="ftr" sz="quarter" idx="11"/>
          </p:nvPr>
        </p:nvSpPr>
        <p:spPr/>
        <p:txBody>
          <a:bodyPr/>
          <a:lstStyle/>
          <a:p>
            <a:r>
              <a:rPr lang="en-US" smtClean="0"/>
              <a:t>Dr.S.L.Jayalakshmi, VIT Chennai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64D794D4-8BF5-454B-AD9E-CF8ADE1E5C08}" type="datetime1">
              <a:rPr lang="en-US" smtClean="0"/>
              <a:pPr/>
              <a:t>1/3/2024</a:t>
            </a:fld>
            <a:endParaRPr lang="en-US"/>
          </a:p>
        </p:txBody>
      </p:sp>
      <p:sp>
        <p:nvSpPr>
          <p:cNvPr id="6" name="Footer Placeholder 5"/>
          <p:cNvSpPr>
            <a:spLocks noGrp="1"/>
          </p:cNvSpPr>
          <p:nvPr>
            <p:ph type="ftr" sz="quarter" idx="11"/>
          </p:nvPr>
        </p:nvSpPr>
        <p:spPr/>
        <p:txBody>
          <a:bodyPr/>
          <a:lstStyle/>
          <a:p>
            <a:r>
              <a:rPr lang="en-US" smtClean="0"/>
              <a:t>Dr.S.L.Jayalakshmi, VIT Chennai</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Title 8"/>
          <p:cNvSpPr>
            <a:spLocks noGrp="1"/>
          </p:cNvSpPr>
          <p:nvPr>
            <p:ph type="title"/>
          </p:nvPr>
        </p:nvSpPr>
        <p:spPr>
          <a:xfrm>
            <a:off x="914400" y="1158537"/>
            <a:ext cx="7315200" cy="865573"/>
          </a:xfrm>
        </p:spPr>
        <p:txBody>
          <a:bodyPr/>
          <a:lstStyle/>
          <a:p>
            <a:r>
              <a:rPr lang="en-US" smtClean="0"/>
              <a:t>Click to edit Master title style</a:t>
            </a:r>
            <a:endParaRPr lang="en-US"/>
          </a:p>
        </p:txBody>
      </p:sp>
      <p:sp>
        <p:nvSpPr>
          <p:cNvPr id="8" name="Content Placeholder 7"/>
          <p:cNvSpPr>
            <a:spLocks noGrp="1"/>
          </p:cNvSpPr>
          <p:nvPr>
            <p:ph sz="quarter" idx="13"/>
          </p:nvPr>
        </p:nvSpPr>
        <p:spPr>
          <a:xfrm>
            <a:off x="914400" y="2057400"/>
            <a:ext cx="3566160" cy="269519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81728" y="2057401"/>
            <a:ext cx="3566160" cy="269676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spd="slow">
    <p:wip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16348" y="2057400"/>
            <a:ext cx="3364992" cy="466344"/>
          </a:xfrm>
        </p:spPr>
        <p:txBody>
          <a:bodyPr anchor="b">
            <a:no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885144" y="2057400"/>
            <a:ext cx="3362062" cy="466344"/>
          </a:xfrm>
        </p:spPr>
        <p:txBody>
          <a:bodyPr anchor="b">
            <a:no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A6205A79-F11E-4D88-8D96-3F7932703FA8}" type="datetime1">
              <a:rPr lang="en-US" smtClean="0"/>
              <a:pPr/>
              <a:t>1/3/2024</a:t>
            </a:fld>
            <a:endParaRPr lang="en-US"/>
          </a:p>
        </p:txBody>
      </p:sp>
      <p:sp>
        <p:nvSpPr>
          <p:cNvPr id="8" name="Footer Placeholder 7"/>
          <p:cNvSpPr>
            <a:spLocks noGrp="1"/>
          </p:cNvSpPr>
          <p:nvPr>
            <p:ph type="ftr" sz="quarter" idx="11"/>
          </p:nvPr>
        </p:nvSpPr>
        <p:spPr/>
        <p:txBody>
          <a:bodyPr/>
          <a:lstStyle/>
          <a:p>
            <a:r>
              <a:rPr lang="en-US" smtClean="0"/>
              <a:t>Dr.S.L.Jayalakshmi, VIT Chennai</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0" name="Title 9"/>
          <p:cNvSpPr>
            <a:spLocks noGrp="1"/>
          </p:cNvSpPr>
          <p:nvPr>
            <p:ph type="title"/>
          </p:nvPr>
        </p:nvSpPr>
        <p:spPr>
          <a:xfrm>
            <a:off x="914400" y="1158537"/>
            <a:ext cx="7315200" cy="865573"/>
          </a:xfrm>
        </p:spPr>
        <p:txBody>
          <a:bodyPr/>
          <a:lstStyle/>
          <a:p>
            <a:r>
              <a:rPr lang="en-US" smtClean="0"/>
              <a:t>Click to edit Master title style</a:t>
            </a:r>
            <a:endParaRPr lang="en-US" dirty="0"/>
          </a:p>
        </p:txBody>
      </p:sp>
      <p:sp>
        <p:nvSpPr>
          <p:cNvPr id="11" name="Content Placeholder 10"/>
          <p:cNvSpPr>
            <a:spLocks noGrp="1"/>
          </p:cNvSpPr>
          <p:nvPr>
            <p:ph sz="quarter" idx="13"/>
          </p:nvPr>
        </p:nvSpPr>
        <p:spPr>
          <a:xfrm>
            <a:off x="914400" y="2537460"/>
            <a:ext cx="3566160" cy="221513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81727" y="2537460"/>
            <a:ext cx="3566160" cy="221513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spd="slow">
    <p:wip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C69C8BB-317A-45E8-BE0B-6F2FCCA859B3}" type="datetime1">
              <a:rPr lang="en-US" smtClean="0"/>
              <a:pPr/>
              <a:t>1/3/2024</a:t>
            </a:fld>
            <a:endParaRPr lang="en-US"/>
          </a:p>
        </p:txBody>
      </p:sp>
      <p:sp>
        <p:nvSpPr>
          <p:cNvPr id="4" name="Footer Placeholder 3"/>
          <p:cNvSpPr>
            <a:spLocks noGrp="1"/>
          </p:cNvSpPr>
          <p:nvPr>
            <p:ph type="ftr" sz="quarter" idx="11"/>
          </p:nvPr>
        </p:nvSpPr>
        <p:spPr/>
        <p:txBody>
          <a:bodyPr/>
          <a:lstStyle/>
          <a:p>
            <a:r>
              <a:rPr lang="en-US" smtClean="0"/>
              <a:t>Dr.S.L.Jayalakshmi, VIT Chennai</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34C805-A19D-4754-99C5-B93572A4377C}" type="datetime1">
              <a:rPr lang="en-US" smtClean="0"/>
              <a:pPr/>
              <a:t>1/3/2024</a:t>
            </a:fld>
            <a:endParaRPr lang="en-US"/>
          </a:p>
        </p:txBody>
      </p:sp>
      <p:sp>
        <p:nvSpPr>
          <p:cNvPr id="3" name="Footer Placeholder 2"/>
          <p:cNvSpPr>
            <a:spLocks noGrp="1"/>
          </p:cNvSpPr>
          <p:nvPr>
            <p:ph type="ftr" sz="quarter" idx="11"/>
          </p:nvPr>
        </p:nvSpPr>
        <p:spPr/>
        <p:txBody>
          <a:bodyPr/>
          <a:lstStyle/>
          <a:p>
            <a:r>
              <a:rPr lang="en-US" smtClean="0"/>
              <a:t>Dr.S.L.Jayalakshmi, VIT Chennai</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369022"/>
            <a:ext cx="2950936" cy="1629761"/>
          </a:xfrm>
        </p:spPr>
        <p:txBody>
          <a:bodyPr anchor="b">
            <a:normAutofit/>
          </a:bodyPr>
          <a:lstStyle>
            <a:lvl1pPr algn="l">
              <a:defRPr sz="2800" b="0"/>
            </a:lvl1pPr>
          </a:lstStyle>
          <a:p>
            <a:r>
              <a:rPr lang="en-US" smtClean="0"/>
              <a:t>Click to edit Master title style</a:t>
            </a:r>
            <a:endParaRPr lang="en-US" dirty="0"/>
          </a:p>
        </p:txBody>
      </p:sp>
      <p:sp>
        <p:nvSpPr>
          <p:cNvPr id="3" name="Content Placeholder 2"/>
          <p:cNvSpPr>
            <a:spLocks noGrp="1"/>
          </p:cNvSpPr>
          <p:nvPr>
            <p:ph idx="1"/>
          </p:nvPr>
        </p:nvSpPr>
        <p:spPr>
          <a:xfrm>
            <a:off x="4021752" y="1370032"/>
            <a:ext cx="4207848" cy="3357461"/>
          </a:xfrm>
        </p:spPr>
        <p:txBody>
          <a:bodyPr anchor="ct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4400" y="3045822"/>
            <a:ext cx="2950936" cy="168404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DBEDC97-B99B-407E-A388-2C4D74F5011F}" type="datetime1">
              <a:rPr lang="en-US" smtClean="0"/>
              <a:pPr/>
              <a:t>1/3/2024</a:t>
            </a:fld>
            <a:endParaRPr lang="en-US"/>
          </a:p>
        </p:txBody>
      </p:sp>
      <p:sp>
        <p:nvSpPr>
          <p:cNvPr id="6" name="Footer Placeholder 5"/>
          <p:cNvSpPr>
            <a:spLocks noGrp="1"/>
          </p:cNvSpPr>
          <p:nvPr>
            <p:ph type="ftr" sz="quarter" idx="11"/>
          </p:nvPr>
        </p:nvSpPr>
        <p:spPr/>
        <p:txBody>
          <a:bodyPr/>
          <a:lstStyle/>
          <a:p>
            <a:r>
              <a:rPr lang="en-US" smtClean="0"/>
              <a:t>Dr.S.L.Jayalakshmi, VIT Chennai</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371600"/>
            <a:ext cx="2953512" cy="1632204"/>
          </a:xfrm>
        </p:spPr>
        <p:txBody>
          <a:bodyPr anchor="b">
            <a:normAutofit/>
          </a:bodyPr>
          <a:lstStyle>
            <a:lvl1pPr algn="l">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4191000" y="1714500"/>
            <a:ext cx="4038600" cy="2514600"/>
          </a:xfrm>
          <a:solidFill>
            <a:schemeClr val="accent2"/>
          </a:solidFill>
          <a:ln w="12700">
            <a:noFill/>
          </a:ln>
          <a:effectLst>
            <a:reflection blurRad="12700" stA="30000" endPos="30000" dist="31750" dir="5400000" sy="-100000" algn="bl" rotWithShape="0"/>
          </a:effectLst>
          <a:scene3d>
            <a:camera prst="perspectiveRight" fov="2700000">
              <a:rot lat="240000" lon="900000" rev="0"/>
            </a:camera>
            <a:lightRig rig="threePt" dir="t">
              <a:rot lat="0" lon="0" rev="2700000"/>
            </a:lightRig>
          </a:scene3d>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4400" y="3044952"/>
            <a:ext cx="2953512" cy="168706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BCCE36F-1EED-4D72-AA41-48FECC0244E1}" type="datetime1">
              <a:rPr lang="en-US" smtClean="0"/>
              <a:pPr/>
              <a:t>1/3/2024</a:t>
            </a:fld>
            <a:endParaRPr lang="en-US"/>
          </a:p>
        </p:txBody>
      </p:sp>
      <p:sp>
        <p:nvSpPr>
          <p:cNvPr id="6" name="Footer Placeholder 5"/>
          <p:cNvSpPr>
            <a:spLocks noGrp="1"/>
          </p:cNvSpPr>
          <p:nvPr>
            <p:ph type="ftr" sz="quarter" idx="11"/>
          </p:nvPr>
        </p:nvSpPr>
        <p:spPr/>
        <p:txBody>
          <a:bodyPr/>
          <a:lstStyle/>
          <a:p>
            <a:r>
              <a:rPr lang="en-US" smtClean="0"/>
              <a:t>Dr.S.L.Jayalakshmi, VIT Chennai</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0BF645-BD39-4BD3-B6D9-CC5A8A1C4DC2}" type="datetime1">
              <a:rPr lang="en-US" smtClean="0"/>
              <a:pPr/>
              <a:t>1/3/2024</a:t>
            </a:fld>
            <a:endParaRPr lang="en-US"/>
          </a:p>
        </p:txBody>
      </p:sp>
      <p:sp>
        <p:nvSpPr>
          <p:cNvPr id="5" name="Footer Placeholder 4"/>
          <p:cNvSpPr>
            <a:spLocks noGrp="1"/>
          </p:cNvSpPr>
          <p:nvPr>
            <p:ph type="ftr" sz="quarter" idx="11"/>
          </p:nvPr>
        </p:nvSpPr>
        <p:spPr/>
        <p:txBody>
          <a:bodyPr/>
          <a:lstStyle/>
          <a:p>
            <a:r>
              <a:rPr lang="en-US" smtClean="0"/>
              <a:t>Dr.S.L.Jayalakshmi, VIT Chennai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48401" y="1370032"/>
            <a:ext cx="1492499" cy="3363341"/>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54524" y="1370032"/>
            <a:ext cx="5241476" cy="336334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22E97E7-AD4B-4FC7-8CBE-4DB072755A51}" type="datetime1">
              <a:rPr lang="en-US" smtClean="0"/>
              <a:pPr/>
              <a:t>1/3/2024</a:t>
            </a:fld>
            <a:endParaRPr lang="en-US"/>
          </a:p>
        </p:txBody>
      </p:sp>
      <p:sp>
        <p:nvSpPr>
          <p:cNvPr id="5" name="Footer Placeholder 4"/>
          <p:cNvSpPr>
            <a:spLocks noGrp="1"/>
          </p:cNvSpPr>
          <p:nvPr>
            <p:ph type="ftr" sz="quarter" idx="11"/>
          </p:nvPr>
        </p:nvSpPr>
        <p:spPr/>
        <p:txBody>
          <a:bodyPr/>
          <a:lstStyle/>
          <a:p>
            <a:r>
              <a:rPr lang="en-US" smtClean="0"/>
              <a:t>Dr.S.L.Jayalakshmi, VIT Chennai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200151"/>
            <a:ext cx="4038600" cy="33944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200150"/>
            <a:ext cx="4038600" cy="163949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2953942"/>
            <a:ext cx="4038600" cy="164068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457200" y="4688681"/>
            <a:ext cx="2133600" cy="357188"/>
          </a:xfrm>
        </p:spPr>
        <p:txBody>
          <a:bodyPr/>
          <a:lstStyle>
            <a:lvl1pPr>
              <a:defRPr/>
            </a:lvl1pPr>
          </a:lstStyle>
          <a:p>
            <a:pPr>
              <a:defRPr/>
            </a:pPr>
            <a:endParaRPr lang="en-US"/>
          </a:p>
        </p:txBody>
      </p:sp>
      <p:sp>
        <p:nvSpPr>
          <p:cNvPr id="7" name="Slide Number Placeholder 6"/>
          <p:cNvSpPr>
            <a:spLocks noGrp="1"/>
          </p:cNvSpPr>
          <p:nvPr>
            <p:ph type="sldNum" sz="quarter" idx="11"/>
          </p:nvPr>
        </p:nvSpPr>
        <p:spPr>
          <a:xfrm>
            <a:off x="6553200" y="4686300"/>
            <a:ext cx="2133600" cy="357188"/>
          </a:xfrm>
        </p:spPr>
        <p:txBody>
          <a:bodyPr/>
          <a:lstStyle>
            <a:lvl1pPr>
              <a:defRPr/>
            </a:lvl1pPr>
          </a:lstStyle>
          <a:p>
            <a:fld id="{EB08D53F-F989-4234-92AA-2621F3F4048F}" type="slidenum">
              <a:rPr lang="en-US"/>
              <a:pPr/>
              <a:t>‹#›</a:t>
            </a:fld>
            <a:endParaRPr lang="en-US"/>
          </a:p>
        </p:txBody>
      </p:sp>
      <p:sp>
        <p:nvSpPr>
          <p:cNvPr id="8" name="Footer Placeholder 7"/>
          <p:cNvSpPr>
            <a:spLocks noGrp="1"/>
          </p:cNvSpPr>
          <p:nvPr>
            <p:ph type="ftr" sz="quarter" idx="12"/>
          </p:nvPr>
        </p:nvSpPr>
        <p:spPr>
          <a:xfrm>
            <a:off x="3124200" y="4686300"/>
            <a:ext cx="2895600" cy="357188"/>
          </a:xfrm>
        </p:spPr>
        <p:txBody>
          <a:bodyPr/>
          <a:lstStyle>
            <a:lvl1pPr>
              <a:defRPr/>
            </a:lvl1pPr>
          </a:lstStyle>
          <a:p>
            <a:pPr>
              <a:defRPr/>
            </a:pP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0" name="Rectangle 9"/>
          <p:cNvSpPr/>
          <p:nvPr/>
        </p:nvSpPr>
        <p:spPr>
          <a:xfrm>
            <a:off x="8435268" y="430355"/>
            <a:ext cx="86236" cy="4292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8569419" y="430355"/>
            <a:ext cx="576072" cy="4292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914400" y="1158537"/>
            <a:ext cx="7315200" cy="865573"/>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4400" y="2077375"/>
            <a:ext cx="7315200" cy="265464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007690" y="411597"/>
            <a:ext cx="1189132" cy="223439"/>
          </a:xfrm>
          <a:prstGeom prst="rect">
            <a:avLst/>
          </a:prstGeom>
        </p:spPr>
        <p:txBody>
          <a:bodyPr vert="horz" lIns="91440" tIns="45720" rIns="91440" bIns="45720" rtlCol="0" anchor="ctr"/>
          <a:lstStyle>
            <a:lvl1pPr algn="l">
              <a:defRPr sz="1200">
                <a:solidFill>
                  <a:schemeClr val="tx1">
                    <a:alpha val="50000"/>
                  </a:schemeClr>
                </a:solidFill>
              </a:defRPr>
            </a:lvl1pPr>
          </a:lstStyle>
          <a:p>
            <a:fld id="{F8413FAB-A9A8-4009-BE7D-A1C0A2E993AE}" type="datetime1">
              <a:rPr lang="en-US" smtClean="0"/>
              <a:pPr/>
              <a:t>1/3/2024</a:t>
            </a:fld>
            <a:endParaRPr lang="en-US"/>
          </a:p>
        </p:txBody>
      </p:sp>
      <p:sp>
        <p:nvSpPr>
          <p:cNvPr id="6" name="Slide Number Placeholder 5"/>
          <p:cNvSpPr>
            <a:spLocks noGrp="1"/>
          </p:cNvSpPr>
          <p:nvPr>
            <p:ph type="sldNum" sz="quarter" idx="4"/>
          </p:nvPr>
        </p:nvSpPr>
        <p:spPr>
          <a:xfrm>
            <a:off x="7314416" y="411598"/>
            <a:ext cx="941203" cy="226314"/>
          </a:xfrm>
          <a:prstGeom prst="rect">
            <a:avLst/>
          </a:prstGeom>
        </p:spPr>
        <p:txBody>
          <a:bodyPr vert="horz" lIns="91440" tIns="45720" rIns="91440" bIns="45720" rtlCol="0" anchor="ctr"/>
          <a:lstStyle>
            <a:lvl1pPr algn="r">
              <a:defRPr sz="1200">
                <a:solidFill>
                  <a:schemeClr val="tx1"/>
                </a:solidFill>
              </a:defRPr>
            </a:lvl1pPr>
          </a:lstStyle>
          <a:p>
            <a:fld id="{B6F15528-21DE-4FAA-801E-634DDDAF4B2B}" type="slidenum">
              <a:rPr lang="en-US" smtClean="0"/>
              <a:pPr/>
              <a:t>‹#›</a:t>
            </a:fld>
            <a:endParaRPr lang="en-US"/>
          </a:p>
        </p:txBody>
      </p:sp>
      <p:sp>
        <p:nvSpPr>
          <p:cNvPr id="5" name="Footer Placeholder 4"/>
          <p:cNvSpPr>
            <a:spLocks noGrp="1"/>
          </p:cNvSpPr>
          <p:nvPr>
            <p:ph type="ftr" sz="quarter" idx="3"/>
          </p:nvPr>
        </p:nvSpPr>
        <p:spPr>
          <a:xfrm>
            <a:off x="6008689" y="641968"/>
            <a:ext cx="2246489" cy="225920"/>
          </a:xfrm>
          <a:prstGeom prst="rect">
            <a:avLst/>
          </a:prstGeom>
        </p:spPr>
        <p:txBody>
          <a:bodyPr vert="horz" lIns="91440" tIns="0" rIns="91440" bIns="45720" rtlCol="0" anchor="t"/>
          <a:lstStyle>
            <a:lvl1pPr algn="l">
              <a:defRPr sz="1000">
                <a:solidFill>
                  <a:schemeClr val="tx1"/>
                </a:solidFill>
              </a:defRPr>
            </a:lvl1pPr>
          </a:lstStyle>
          <a:p>
            <a:r>
              <a:rPr lang="en-US" smtClean="0"/>
              <a:t>Dr.S.L.Jayalakshmi, VIT Chennai</a:t>
            </a:r>
            <a:endParaRPr lang="en-US"/>
          </a:p>
        </p:txBody>
      </p:sp>
    </p:spTree>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Lst>
  <p:transition spd="slow">
    <p:wipe/>
  </p:transition>
  <p:timing>
    <p:tnLst>
      <p:par>
        <p:cTn id="1" dur="indefinite" restart="never" nodeType="tmRoot"/>
      </p:par>
    </p:tnLst>
  </p:timing>
  <p:hf hdr="0" dt="0"/>
  <p:txStyles>
    <p:titleStyle>
      <a:lvl1pPr algn="l" defTabSz="914400" rtl="0" eaLnBrk="1" latinLnBrk="0" hangingPunct="1">
        <a:spcBef>
          <a:spcPct val="0"/>
        </a:spcBef>
        <a:buNone/>
        <a:defRPr sz="4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en.wikipedia.org/wiki/User_(computing)"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 Target="slide68.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5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6.gi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14800" y="514350"/>
            <a:ext cx="4724400" cy="1946269"/>
          </a:xfrm>
        </p:spPr>
        <p:txBody>
          <a:bodyPr>
            <a:normAutofit fontScale="90000"/>
          </a:bodyPr>
          <a:lstStyle/>
          <a:p>
            <a:r>
              <a:rPr lang="en-IN" dirty="0" smtClean="0"/>
              <a:t>  Human Computer      </a:t>
            </a:r>
            <a:br>
              <a:rPr lang="en-IN" dirty="0" smtClean="0"/>
            </a:br>
            <a:r>
              <a:rPr lang="en-IN" dirty="0"/>
              <a:t> </a:t>
            </a:r>
            <a:r>
              <a:rPr lang="en-IN" dirty="0" smtClean="0"/>
              <a:t>        Interaction</a:t>
            </a:r>
            <a:endParaRPr lang="en-IN" dirty="0"/>
          </a:p>
        </p:txBody>
      </p:sp>
      <p:sp>
        <p:nvSpPr>
          <p:cNvPr id="3" name="Subtitle 2"/>
          <p:cNvSpPr>
            <a:spLocks noGrp="1"/>
          </p:cNvSpPr>
          <p:nvPr>
            <p:ph type="subTitle" idx="1"/>
          </p:nvPr>
        </p:nvSpPr>
        <p:spPr>
          <a:xfrm>
            <a:off x="3352800" y="2647950"/>
            <a:ext cx="5410200" cy="1905000"/>
          </a:xfrm>
        </p:spPr>
        <p:txBody>
          <a:bodyPr>
            <a:normAutofit lnSpcReduction="10000"/>
          </a:bodyPr>
          <a:lstStyle/>
          <a:p>
            <a:r>
              <a:rPr lang="en-IN" dirty="0" smtClean="0"/>
              <a:t>                                        </a:t>
            </a:r>
            <a:r>
              <a:rPr lang="en-IN" b="1" dirty="0" smtClean="0">
                <a:solidFill>
                  <a:srgbClr val="FF0000"/>
                </a:solidFill>
              </a:rPr>
              <a:t>Module 1</a:t>
            </a:r>
          </a:p>
          <a:p>
            <a:r>
              <a:rPr lang="en-IN" dirty="0" smtClean="0">
                <a:solidFill>
                  <a:srgbClr val="FF0000"/>
                </a:solidFill>
              </a:rPr>
              <a:t>                                 HCI Foundation s</a:t>
            </a:r>
          </a:p>
          <a:p>
            <a:r>
              <a:rPr lang="en-IN" dirty="0">
                <a:solidFill>
                  <a:srgbClr val="FF0000"/>
                </a:solidFill>
              </a:rPr>
              <a:t> </a:t>
            </a:r>
            <a:r>
              <a:rPr lang="en-IN" dirty="0" smtClean="0">
                <a:solidFill>
                  <a:srgbClr val="FF0000"/>
                </a:solidFill>
              </a:rPr>
              <a:t>         </a:t>
            </a:r>
            <a:endParaRPr lang="en-IN" dirty="0" smtClean="0"/>
          </a:p>
          <a:p>
            <a:r>
              <a:rPr lang="en-IN" dirty="0" smtClean="0">
                <a:solidFill>
                  <a:schemeClr val="tx2"/>
                </a:solidFill>
              </a:rPr>
              <a:t>		Dr. </a:t>
            </a:r>
            <a:r>
              <a:rPr lang="en-IN" dirty="0" err="1" smtClean="0">
                <a:solidFill>
                  <a:schemeClr val="tx2"/>
                </a:solidFill>
              </a:rPr>
              <a:t>J.Prassanna</a:t>
            </a:r>
            <a:r>
              <a:rPr lang="en-IN" dirty="0" smtClean="0">
                <a:solidFill>
                  <a:schemeClr val="tx2"/>
                </a:solidFill>
              </a:rPr>
              <a:t>, </a:t>
            </a:r>
          </a:p>
          <a:p>
            <a:r>
              <a:rPr lang="en-IN" dirty="0" smtClean="0">
                <a:solidFill>
                  <a:schemeClr val="tx2"/>
                </a:solidFill>
              </a:rPr>
              <a:t>		       VIT Chennai</a:t>
            </a:r>
            <a:endParaRPr lang="en-IN" dirty="0">
              <a:solidFill>
                <a:schemeClr val="tx2"/>
              </a:solidFill>
            </a:endParaRPr>
          </a:p>
        </p:txBody>
      </p:sp>
      <p:sp>
        <p:nvSpPr>
          <p:cNvPr id="4" name="Subtitle 2">
            <a:extLst>
              <a:ext uri="{FF2B5EF4-FFF2-40B4-BE49-F238E27FC236}">
                <a16:creationId xmlns="" xmlns:a16="http://schemas.microsoft.com/office/drawing/2014/main" id="{F26189FF-02D3-6A4F-93AF-FEAC7F12FE44}"/>
              </a:ext>
            </a:extLst>
          </p:cNvPr>
          <p:cNvSpPr txBox="1">
            <a:spLocks/>
          </p:cNvSpPr>
          <p:nvPr/>
        </p:nvSpPr>
        <p:spPr>
          <a:xfrm>
            <a:off x="2019299" y="2676109"/>
            <a:ext cx="5111752" cy="1237424"/>
          </a:xfrm>
          <a:prstGeom prst="rect">
            <a:avLst/>
          </a:prstGeom>
        </p:spPr>
        <p:txBody>
          <a:bodyPr vert="horz" lIns="91440" tIns="45720" rIns="91440" bIns="45720" rtlCol="0">
            <a:normAutofit/>
          </a:bodyPr>
          <a:lstStyle>
            <a:lvl1pPr marL="0" indent="0" algn="l" defTabSz="914400" rtl="0" eaLnBrk="1" latinLnBrk="0" hangingPunct="1">
              <a:spcBef>
                <a:spcPct val="20000"/>
              </a:spcBef>
              <a:buClr>
                <a:schemeClr val="tx2"/>
              </a:buClr>
              <a:buFont typeface="Wingdings" charset="2"/>
              <a:buNone/>
              <a:defRPr sz="2200" kern="1200">
                <a:solidFill>
                  <a:schemeClr val="tx1"/>
                </a:solidFill>
                <a:latin typeface="+mn-lt"/>
                <a:ea typeface="+mn-ea"/>
                <a:cs typeface="+mn-cs"/>
              </a:defRPr>
            </a:lvl1pPr>
            <a:lvl2pPr marL="457200" indent="0" algn="ctr" defTabSz="914400" rtl="0" eaLnBrk="1" latinLnBrk="0" hangingPunct="1">
              <a:spcBef>
                <a:spcPct val="20000"/>
              </a:spcBef>
              <a:buClr>
                <a:schemeClr val="tx2"/>
              </a:buClr>
              <a:buFont typeface="Wingdings" charset="2"/>
              <a:buNone/>
              <a:defRPr sz="18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tx2"/>
              </a:buClr>
              <a:buFont typeface="Wingdings" charset="2"/>
              <a:buNone/>
              <a:defRPr sz="16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tx2"/>
              </a:buClr>
              <a:buFont typeface="Wingdings" charset="2"/>
              <a:buNone/>
              <a:defRPr sz="14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tx2"/>
              </a:buClr>
              <a:buFont typeface="Wingdings" charset="2"/>
              <a:buNone/>
              <a:defRPr sz="1400" kern="120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tx2"/>
              </a:buClr>
              <a:buFont typeface="Wingdings" pitchFamily="2" charset="2"/>
              <a:buNone/>
              <a:defRPr sz="1400" kern="1200">
                <a:solidFill>
                  <a:schemeClr val="tx1">
                    <a:tint val="75000"/>
                  </a:schemeClr>
                </a:solidFill>
                <a:latin typeface="+mn-lt"/>
                <a:ea typeface="+mn-ea"/>
                <a:cs typeface="+mn-cs"/>
              </a:defRPr>
            </a:lvl6pPr>
            <a:lvl7pPr marL="2743200" indent="0" algn="ctr" defTabSz="914400" rtl="0" eaLnBrk="1" latinLnBrk="0" hangingPunct="1">
              <a:spcBef>
                <a:spcPct val="20000"/>
              </a:spcBef>
              <a:buClr>
                <a:schemeClr val="tx2"/>
              </a:buClr>
              <a:buFont typeface="Wingdings" pitchFamily="2" charset="2"/>
              <a:buNone/>
              <a:defRPr sz="14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tx2"/>
              </a:buClr>
              <a:buFont typeface="Wingdings" pitchFamily="2" charset="2"/>
              <a:buNone/>
              <a:defRPr sz="14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tx2"/>
              </a:buClr>
              <a:buFont typeface="Wingdings" pitchFamily="2" charset="2"/>
              <a:buNone/>
              <a:defRPr sz="1400" kern="1200">
                <a:solidFill>
                  <a:schemeClr val="tx1">
                    <a:tint val="75000"/>
                  </a:schemeClr>
                </a:solidFill>
                <a:latin typeface="+mn-lt"/>
                <a:ea typeface="+mn-ea"/>
                <a:cs typeface="+mn-cs"/>
              </a:defRPr>
            </a:lvl9pPr>
          </a:lstStyle>
          <a:p>
            <a:r>
              <a:rPr lang="en-US" sz="2700" b="1" dirty="0" smtClean="0"/>
              <a:t>     </a:t>
            </a:r>
            <a:endParaRPr lang="en-US" sz="2700" dirty="0"/>
          </a:p>
        </p:txBody>
      </p:sp>
    </p:spTree>
    <p:extLst>
      <p:ext uri="{BB962C8B-B14F-4D97-AF65-F5344CB8AC3E}">
        <p14:creationId xmlns="" xmlns:p14="http://schemas.microsoft.com/office/powerpoint/2010/main" val="158577330"/>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09D646C-50FD-3745-A946-D23362865B3A}"/>
              </a:ext>
            </a:extLst>
          </p:cNvPr>
          <p:cNvSpPr>
            <a:spLocks noGrp="1"/>
          </p:cNvSpPr>
          <p:nvPr>
            <p:ph type="title"/>
          </p:nvPr>
        </p:nvSpPr>
        <p:spPr>
          <a:xfrm>
            <a:off x="609600" y="0"/>
            <a:ext cx="7315200" cy="865573"/>
          </a:xfrm>
        </p:spPr>
        <p:txBody>
          <a:bodyPr>
            <a:normAutofit/>
          </a:bodyPr>
          <a:lstStyle/>
          <a:p>
            <a:r>
              <a:rPr lang="en-US" dirty="0" smtClean="0"/>
              <a:t>Outline</a:t>
            </a:r>
            <a:endParaRPr lang="en-US" dirty="0"/>
          </a:p>
        </p:txBody>
      </p:sp>
      <p:sp>
        <p:nvSpPr>
          <p:cNvPr id="3" name="Content Placeholder 2">
            <a:extLst>
              <a:ext uri="{FF2B5EF4-FFF2-40B4-BE49-F238E27FC236}">
                <a16:creationId xmlns="" xmlns:a16="http://schemas.microsoft.com/office/drawing/2014/main" id="{B60D6D58-3EEB-8E40-A8DC-551B28A68AC4}"/>
              </a:ext>
            </a:extLst>
          </p:cNvPr>
          <p:cNvSpPr>
            <a:spLocks noGrp="1"/>
          </p:cNvSpPr>
          <p:nvPr>
            <p:ph idx="1"/>
          </p:nvPr>
        </p:nvSpPr>
        <p:spPr>
          <a:xfrm>
            <a:off x="914400" y="971550"/>
            <a:ext cx="7315200" cy="3809999"/>
          </a:xfrm>
        </p:spPr>
        <p:txBody>
          <a:bodyPr>
            <a:normAutofit/>
          </a:bodyPr>
          <a:lstStyle/>
          <a:p>
            <a:pPr algn="just"/>
            <a:r>
              <a:rPr lang="en-US" sz="2400" dirty="0" smtClean="0"/>
              <a:t>Introduction, Input–output channels, Human memory </a:t>
            </a:r>
            <a:r>
              <a:rPr lang="en-US" sz="2400" dirty="0"/>
              <a:t>Thinking: reasoning and problem </a:t>
            </a:r>
            <a:r>
              <a:rPr lang="en-US" sz="2400" dirty="0" smtClean="0"/>
              <a:t>solving. </a:t>
            </a:r>
            <a:endParaRPr lang="en-US" sz="2400" dirty="0" smtClean="0"/>
          </a:p>
          <a:p>
            <a:pPr algn="just"/>
            <a:r>
              <a:rPr lang="en-US" sz="2400" dirty="0" smtClean="0"/>
              <a:t>Emotion</a:t>
            </a:r>
            <a:r>
              <a:rPr lang="en-US" sz="2400" dirty="0"/>
              <a:t>, Individual differences, Psychology and the design of interactive </a:t>
            </a:r>
            <a:r>
              <a:rPr lang="en-US" sz="2400" dirty="0" smtClean="0"/>
              <a:t>systems, </a:t>
            </a:r>
            <a:r>
              <a:rPr lang="en-US" sz="2400" dirty="0"/>
              <a:t>Text entry devices, Positioning, pointing and </a:t>
            </a:r>
            <a:r>
              <a:rPr lang="en-US" sz="2400" dirty="0" smtClean="0"/>
              <a:t>drawing.</a:t>
            </a:r>
            <a:endParaRPr lang="en-US" sz="2400" dirty="0" smtClean="0"/>
          </a:p>
          <a:p>
            <a:pPr algn="just"/>
            <a:r>
              <a:rPr lang="en-US" sz="2400" dirty="0" smtClean="0"/>
              <a:t>Display devices, Devices </a:t>
            </a:r>
            <a:r>
              <a:rPr lang="en-US" sz="2400" dirty="0"/>
              <a:t>for virtual reality and 3D </a:t>
            </a:r>
            <a:r>
              <a:rPr lang="en-US" sz="2400" dirty="0" smtClean="0"/>
              <a:t>interaction.</a:t>
            </a:r>
            <a:endParaRPr lang="en-US" sz="2400" dirty="0" smtClean="0"/>
          </a:p>
          <a:p>
            <a:pPr algn="just"/>
            <a:endParaRPr lang="en-US" sz="2400" dirty="0"/>
          </a:p>
        </p:txBody>
      </p:sp>
      <p:sp>
        <p:nvSpPr>
          <p:cNvPr id="5" name="Slide Number Placeholder 4">
            <a:extLst>
              <a:ext uri="{FF2B5EF4-FFF2-40B4-BE49-F238E27FC236}">
                <a16:creationId xmlns="" xmlns:a16="http://schemas.microsoft.com/office/drawing/2014/main" id="{7AC4E294-4F9B-064B-9A49-39E8EE33EDE0}"/>
              </a:ext>
            </a:extLst>
          </p:cNvPr>
          <p:cNvSpPr>
            <a:spLocks noGrp="1"/>
          </p:cNvSpPr>
          <p:nvPr>
            <p:ph type="sldNum" sz="quarter" idx="12"/>
          </p:nvPr>
        </p:nvSpPr>
        <p:spPr/>
        <p:txBody>
          <a:bodyPr/>
          <a:lstStyle/>
          <a:p>
            <a:fld id="{E97799C9-84D9-46D2-A11E-BCF8A720529D}" type="slidenum">
              <a:rPr lang="en-US" smtClean="0"/>
              <a:pPr/>
              <a:t>2</a:t>
            </a:fld>
            <a:endParaRPr lang="en-US" dirty="0"/>
          </a:p>
        </p:txBody>
      </p:sp>
    </p:spTree>
    <p:extLst>
      <p:ext uri="{BB962C8B-B14F-4D97-AF65-F5344CB8AC3E}">
        <p14:creationId xmlns="" xmlns:p14="http://schemas.microsoft.com/office/powerpoint/2010/main" val="4081844581"/>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4995C78-B1AE-4743-B2A0-982033A431CF}"/>
              </a:ext>
            </a:extLst>
          </p:cNvPr>
          <p:cNvSpPr>
            <a:spLocks noGrp="1"/>
          </p:cNvSpPr>
          <p:nvPr>
            <p:ph type="title"/>
          </p:nvPr>
        </p:nvSpPr>
        <p:spPr>
          <a:xfrm>
            <a:off x="609600" y="285750"/>
            <a:ext cx="7315200" cy="865573"/>
          </a:xfrm>
        </p:spPr>
        <p:txBody>
          <a:bodyPr/>
          <a:lstStyle/>
          <a:p>
            <a:r>
              <a:rPr lang="en-US" dirty="0" smtClean="0"/>
              <a:t>Introduction</a:t>
            </a:r>
            <a:endParaRPr lang="en-US" dirty="0"/>
          </a:p>
        </p:txBody>
      </p:sp>
      <p:sp>
        <p:nvSpPr>
          <p:cNvPr id="3" name="Content Placeholder 2">
            <a:extLst>
              <a:ext uri="{FF2B5EF4-FFF2-40B4-BE49-F238E27FC236}">
                <a16:creationId xmlns="" xmlns:a16="http://schemas.microsoft.com/office/drawing/2014/main" id="{FACE180C-9E20-D146-9581-27C3793A1596}"/>
              </a:ext>
            </a:extLst>
          </p:cNvPr>
          <p:cNvSpPr>
            <a:spLocks noGrp="1"/>
          </p:cNvSpPr>
          <p:nvPr>
            <p:ph idx="1"/>
          </p:nvPr>
        </p:nvSpPr>
        <p:spPr>
          <a:xfrm>
            <a:off x="533401" y="1200150"/>
            <a:ext cx="7639048" cy="3657599"/>
          </a:xfrm>
        </p:spPr>
        <p:txBody>
          <a:bodyPr>
            <a:noAutofit/>
          </a:bodyPr>
          <a:lstStyle/>
          <a:p>
            <a:pPr algn="just"/>
            <a:r>
              <a:rPr lang="en-US" sz="2400" dirty="0" smtClean="0"/>
              <a:t>What is Human-computer </a:t>
            </a:r>
            <a:r>
              <a:rPr lang="en-US" sz="2400" dirty="0"/>
              <a:t>interaction </a:t>
            </a:r>
            <a:r>
              <a:rPr lang="en-US" sz="2400" dirty="0" smtClean="0"/>
              <a:t>?</a:t>
            </a:r>
          </a:p>
          <a:p>
            <a:pPr lvl="1" algn="just"/>
            <a:r>
              <a:rPr lang="en-US" sz="2400" dirty="0"/>
              <a:t>Human-computer interaction </a:t>
            </a:r>
            <a:r>
              <a:rPr lang="en-US" sz="2400" dirty="0" smtClean="0"/>
              <a:t>(HCI) </a:t>
            </a:r>
            <a:r>
              <a:rPr lang="en-US" sz="2400" dirty="0"/>
              <a:t>researches the design and use of computer technology, focused on the interfaces between people (users) and computers</a:t>
            </a:r>
            <a:r>
              <a:rPr lang="en-US" sz="2400" dirty="0" smtClean="0"/>
              <a:t>.</a:t>
            </a:r>
          </a:p>
          <a:p>
            <a:pPr lvl="2" algn="just"/>
            <a:r>
              <a:rPr lang="en-US" sz="2400" dirty="0" smtClean="0"/>
              <a:t>studies the design and use of computer technology, focused on the interfaces between people (</a:t>
            </a:r>
            <a:r>
              <a:rPr lang="en-US" sz="2400" dirty="0" smtClean="0">
                <a:hlinkClick r:id="rId2" tooltip="User (computing)"/>
              </a:rPr>
              <a:t>users</a:t>
            </a:r>
            <a:r>
              <a:rPr lang="en-US" sz="2400" dirty="0" smtClean="0"/>
              <a:t>) and computers. [Wikipedia]</a:t>
            </a:r>
            <a:endParaRPr lang="en-US" sz="2000" dirty="0"/>
          </a:p>
        </p:txBody>
      </p:sp>
      <p:sp>
        <p:nvSpPr>
          <p:cNvPr id="5" name="Slide Number Placeholder 4">
            <a:extLst>
              <a:ext uri="{FF2B5EF4-FFF2-40B4-BE49-F238E27FC236}">
                <a16:creationId xmlns="" xmlns:a16="http://schemas.microsoft.com/office/drawing/2014/main" id="{B9707B2E-9D36-BF4F-9C26-F264D8AAB058}"/>
              </a:ext>
            </a:extLst>
          </p:cNvPr>
          <p:cNvSpPr>
            <a:spLocks noGrp="1"/>
          </p:cNvSpPr>
          <p:nvPr>
            <p:ph type="sldNum" sz="quarter" idx="12"/>
          </p:nvPr>
        </p:nvSpPr>
        <p:spPr/>
        <p:txBody>
          <a:bodyPr/>
          <a:lstStyle/>
          <a:p>
            <a:fld id="{E97799C9-84D9-46D2-A11E-BCF8A720529D}" type="slidenum">
              <a:rPr lang="en-US" smtClean="0"/>
              <a:pPr/>
              <a:t>3</a:t>
            </a:fld>
            <a:endParaRPr lang="en-US" dirty="0"/>
          </a:p>
        </p:txBody>
      </p:sp>
    </p:spTree>
    <p:extLst>
      <p:ext uri="{BB962C8B-B14F-4D97-AF65-F5344CB8AC3E}">
        <p14:creationId xmlns="" xmlns:p14="http://schemas.microsoft.com/office/powerpoint/2010/main" val="3111851134"/>
      </p:ext>
    </p:extLst>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4995C78-B1AE-4743-B2A0-982033A431CF}"/>
              </a:ext>
            </a:extLst>
          </p:cNvPr>
          <p:cNvSpPr>
            <a:spLocks noGrp="1"/>
          </p:cNvSpPr>
          <p:nvPr>
            <p:ph type="title"/>
          </p:nvPr>
        </p:nvSpPr>
        <p:spPr>
          <a:xfrm>
            <a:off x="609600" y="285750"/>
            <a:ext cx="7315200" cy="865573"/>
          </a:xfrm>
        </p:spPr>
        <p:txBody>
          <a:bodyPr/>
          <a:lstStyle/>
          <a:p>
            <a:r>
              <a:rPr lang="en-US" dirty="0" smtClean="0"/>
              <a:t>Introduction</a:t>
            </a:r>
            <a:endParaRPr lang="en-US" dirty="0"/>
          </a:p>
        </p:txBody>
      </p:sp>
      <p:sp>
        <p:nvSpPr>
          <p:cNvPr id="3" name="Content Placeholder 2">
            <a:extLst>
              <a:ext uri="{FF2B5EF4-FFF2-40B4-BE49-F238E27FC236}">
                <a16:creationId xmlns="" xmlns:a16="http://schemas.microsoft.com/office/drawing/2014/main" id="{FACE180C-9E20-D146-9581-27C3793A1596}"/>
              </a:ext>
            </a:extLst>
          </p:cNvPr>
          <p:cNvSpPr>
            <a:spLocks noGrp="1"/>
          </p:cNvSpPr>
          <p:nvPr>
            <p:ph idx="1"/>
          </p:nvPr>
        </p:nvSpPr>
        <p:spPr>
          <a:xfrm>
            <a:off x="533401" y="1200150"/>
            <a:ext cx="7639048" cy="3657599"/>
          </a:xfrm>
        </p:spPr>
        <p:txBody>
          <a:bodyPr>
            <a:noAutofit/>
          </a:bodyPr>
          <a:lstStyle/>
          <a:p>
            <a:pPr marL="533400" indent="-533400"/>
            <a:r>
              <a:rPr lang="en-US" sz="2400" dirty="0" smtClean="0">
                <a:ea typeface="ＭＳ Ｐゴシック" pitchFamily="-108" charset="-128"/>
              </a:rPr>
              <a:t>What happens when a human and a computer system interact to perform a task?</a:t>
            </a:r>
          </a:p>
          <a:p>
            <a:pPr marL="914400" lvl="1" indent="-457200"/>
            <a:r>
              <a:rPr lang="en-US" dirty="0" smtClean="0">
                <a:ea typeface="ＭＳ Ｐゴシック" pitchFamily="-108" charset="-128"/>
              </a:rPr>
              <a:t>task - write document, explore the web, solve mathematic problem, search for knowledge , drive home, book movie tickets, do banking, ...</a:t>
            </a:r>
          </a:p>
          <a:p>
            <a:pPr marL="914400" lvl="1" indent="-457200"/>
            <a:endParaRPr lang="en-US" sz="2000" dirty="0" smtClean="0">
              <a:ea typeface="ＭＳ Ｐゴシック" pitchFamily="-108" charset="-128"/>
            </a:endParaRPr>
          </a:p>
          <a:p>
            <a:pPr marL="533400" indent="-533400"/>
            <a:r>
              <a:rPr lang="en-US" sz="2400" dirty="0" smtClean="0">
                <a:ea typeface="ＭＳ Ｐゴシック" pitchFamily="-108" charset="-128"/>
              </a:rPr>
              <a:t>Why is this important?</a:t>
            </a:r>
          </a:p>
          <a:p>
            <a:pPr marL="533400" indent="-533400">
              <a:buFont typeface="Times" pitchFamily="-108" charset="0"/>
              <a:buAutoNum type="arabicPeriod"/>
            </a:pPr>
            <a:r>
              <a:rPr lang="en-US" sz="2400" dirty="0" smtClean="0">
                <a:ea typeface="ＭＳ Ｐゴシック" pitchFamily="-108" charset="-128"/>
              </a:rPr>
              <a:t>Computer systems affect every person</a:t>
            </a:r>
          </a:p>
          <a:p>
            <a:pPr marL="533400" indent="-533400">
              <a:buFont typeface="Times" pitchFamily="-108" charset="0"/>
              <a:buAutoNum type="arabicPeriod"/>
            </a:pPr>
            <a:r>
              <a:rPr lang="en-US" sz="2400" dirty="0" smtClean="0">
                <a:ea typeface="ＭＳ Ｐゴシック" pitchFamily="-108" charset="-128"/>
              </a:rPr>
              <a:t>Safety, satisfaction, utility is critical</a:t>
            </a:r>
          </a:p>
          <a:p>
            <a:pPr marL="533400" indent="-533400">
              <a:buFont typeface="Times" pitchFamily="-108" charset="0"/>
              <a:buAutoNum type="arabicPeriod"/>
            </a:pPr>
            <a:r>
              <a:rPr lang="en-US" sz="2400" dirty="0" smtClean="0">
                <a:ea typeface="ＭＳ Ｐゴシック" pitchFamily="-108" charset="-128"/>
              </a:rPr>
              <a:t>Product success depends on ease of use</a:t>
            </a:r>
          </a:p>
        </p:txBody>
      </p:sp>
      <p:sp>
        <p:nvSpPr>
          <p:cNvPr id="5" name="Slide Number Placeholder 4">
            <a:extLst>
              <a:ext uri="{FF2B5EF4-FFF2-40B4-BE49-F238E27FC236}">
                <a16:creationId xmlns="" xmlns:a16="http://schemas.microsoft.com/office/drawing/2014/main" id="{B9707B2E-9D36-BF4F-9C26-F264D8AAB058}"/>
              </a:ext>
            </a:extLst>
          </p:cNvPr>
          <p:cNvSpPr>
            <a:spLocks noGrp="1"/>
          </p:cNvSpPr>
          <p:nvPr>
            <p:ph type="sldNum" sz="quarter" idx="12"/>
          </p:nvPr>
        </p:nvSpPr>
        <p:spPr/>
        <p:txBody>
          <a:bodyPr/>
          <a:lstStyle/>
          <a:p>
            <a:fld id="{E97799C9-84D9-46D2-A11E-BCF8A720529D}" type="slidenum">
              <a:rPr lang="en-US" smtClean="0"/>
              <a:pPr/>
              <a:t>4</a:t>
            </a:fld>
            <a:endParaRPr lang="en-US" dirty="0"/>
          </a:p>
        </p:txBody>
      </p:sp>
    </p:spTree>
    <p:extLst>
      <p:ext uri="{BB962C8B-B14F-4D97-AF65-F5344CB8AC3E}">
        <p14:creationId xmlns="" xmlns:p14="http://schemas.microsoft.com/office/powerpoint/2010/main" val="3111851134"/>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rrowheads="1"/>
          </p:cNvSpPr>
          <p:nvPr>
            <p:ph type="title"/>
          </p:nvPr>
        </p:nvSpPr>
        <p:spPr/>
        <p:txBody>
          <a:bodyPr/>
          <a:lstStyle/>
          <a:p>
            <a:pPr eaLnBrk="1" hangingPunct="1"/>
            <a:r>
              <a:rPr lang="en-US" dirty="0" smtClean="0">
                <a:ea typeface="ＭＳ Ｐゴシック" pitchFamily="-108" charset="-128"/>
              </a:rPr>
              <a:t>Interfaces in the Real World</a:t>
            </a:r>
          </a:p>
        </p:txBody>
      </p:sp>
      <p:sp>
        <p:nvSpPr>
          <p:cNvPr id="40963" name="Rectangle 3"/>
          <p:cNvSpPr>
            <a:spLocks noGrp="1" noChangeArrowheads="1"/>
          </p:cNvSpPr>
          <p:nvPr>
            <p:ph type="body" sz="half" idx="1"/>
          </p:nvPr>
        </p:nvSpPr>
        <p:spPr/>
        <p:txBody>
          <a:bodyPr>
            <a:normAutofit lnSpcReduction="10000"/>
          </a:bodyPr>
          <a:lstStyle/>
          <a:p>
            <a:pPr eaLnBrk="1" hangingPunct="1"/>
            <a:r>
              <a:rPr lang="en-US" sz="2800" dirty="0" smtClean="0">
                <a:ea typeface="ＭＳ Ｐゴシック" pitchFamily="-108" charset="-128"/>
              </a:rPr>
              <a:t>Not just computers!</a:t>
            </a:r>
          </a:p>
          <a:p>
            <a:pPr lvl="1" eaLnBrk="1" hangingPunct="1"/>
            <a:r>
              <a:rPr lang="en-US" sz="2000" dirty="0" smtClean="0">
                <a:ea typeface="ＭＳ Ｐゴシック" pitchFamily="-108" charset="-128"/>
              </a:rPr>
              <a:t>Media player</a:t>
            </a:r>
          </a:p>
          <a:p>
            <a:pPr lvl="1" eaLnBrk="1" hangingPunct="1"/>
            <a:r>
              <a:rPr lang="en-US" sz="2000" dirty="0" smtClean="0">
                <a:ea typeface="ＭＳ Ｐゴシック" pitchFamily="-108" charset="-128"/>
              </a:rPr>
              <a:t>Wristwatch</a:t>
            </a:r>
          </a:p>
          <a:p>
            <a:pPr lvl="1" eaLnBrk="1" hangingPunct="1"/>
            <a:r>
              <a:rPr lang="en-US" sz="2000" dirty="0" smtClean="0">
                <a:ea typeface="ＭＳ Ｐゴシック" pitchFamily="-108" charset="-128"/>
              </a:rPr>
              <a:t>Phone</a:t>
            </a:r>
          </a:p>
          <a:p>
            <a:pPr lvl="1" eaLnBrk="1" hangingPunct="1"/>
            <a:r>
              <a:rPr lang="en-US" sz="2000" dirty="0" smtClean="0">
                <a:ea typeface="ＭＳ Ｐゴシック" pitchFamily="-108" charset="-128"/>
              </a:rPr>
              <a:t>Copier</a:t>
            </a:r>
          </a:p>
          <a:p>
            <a:pPr lvl="1" eaLnBrk="1" hangingPunct="1"/>
            <a:r>
              <a:rPr lang="en-US" sz="2000" dirty="0" smtClean="0">
                <a:ea typeface="ＭＳ Ｐゴシック" pitchFamily="-108" charset="-128"/>
              </a:rPr>
              <a:t>Car</a:t>
            </a:r>
          </a:p>
          <a:p>
            <a:pPr lvl="1" eaLnBrk="1" hangingPunct="1"/>
            <a:r>
              <a:rPr lang="en-US" sz="2000" dirty="0" smtClean="0">
                <a:ea typeface="ＭＳ Ｐゴシック" pitchFamily="-108" charset="-128"/>
              </a:rPr>
              <a:t>Plane cockpit</a:t>
            </a:r>
          </a:p>
          <a:p>
            <a:pPr lvl="1" eaLnBrk="1" hangingPunct="1"/>
            <a:r>
              <a:rPr lang="en-US" sz="2000" dirty="0" smtClean="0">
                <a:ea typeface="ＭＳ Ｐゴシック" pitchFamily="-108" charset="-128"/>
              </a:rPr>
              <a:t>Airline reservation</a:t>
            </a:r>
          </a:p>
          <a:p>
            <a:pPr lvl="1" eaLnBrk="1" hangingPunct="1"/>
            <a:r>
              <a:rPr lang="en-US" sz="2000" dirty="0" smtClean="0">
                <a:ea typeface="ＭＳ Ｐゴシック" pitchFamily="-108" charset="-128"/>
              </a:rPr>
              <a:t>Air traffic control</a:t>
            </a:r>
          </a:p>
        </p:txBody>
      </p:sp>
      <p:pic>
        <p:nvPicPr>
          <p:cNvPr id="40964" name="Picture 13" descr="iPhone ruiing Parallels, har har"/>
          <p:cNvPicPr>
            <a:picLocks noGrp="1" noChangeAspect="1" noChangeArrowheads="1"/>
          </p:cNvPicPr>
          <p:nvPr>
            <p:ph sz="quarter" idx="2"/>
          </p:nvPr>
        </p:nvPicPr>
        <p:blipFill>
          <a:blip r:embed="rId2"/>
          <a:srcRect/>
          <a:stretch>
            <a:fillRect/>
          </a:stretch>
        </p:blipFill>
        <p:spPr>
          <a:xfrm>
            <a:off x="4114800" y="1200150"/>
            <a:ext cx="1873250" cy="1639491"/>
          </a:xfrm>
          <a:noFill/>
        </p:spPr>
      </p:pic>
      <p:sp>
        <p:nvSpPr>
          <p:cNvPr id="40966" name="Slide Number Placeholder 6"/>
          <p:cNvSpPr>
            <a:spLocks noGrp="1"/>
          </p:cNvSpPr>
          <p:nvPr>
            <p:ph type="sldNum" sz="quarter" idx="11"/>
          </p:nvPr>
        </p:nvSpPr>
        <p:spPr bwMode="auto">
          <a:noFill/>
          <a:ln>
            <a:miter lim="800000"/>
            <a:headEnd/>
            <a:tailEnd/>
          </a:ln>
        </p:spPr>
        <p:txBody>
          <a:bodyPr/>
          <a:lstStyle/>
          <a:p>
            <a:fld id="{177C89F7-3FE5-40DE-9298-31125C56DEB4}" type="slidenum">
              <a:rPr lang="en-US"/>
              <a:pPr/>
              <a:t>5</a:t>
            </a:fld>
            <a:endParaRPr lang="en-US"/>
          </a:p>
        </p:txBody>
      </p:sp>
      <p:pic>
        <p:nvPicPr>
          <p:cNvPr id="40967" name="Picture 11" descr="Picture 1"/>
          <p:cNvPicPr>
            <a:picLocks noChangeAspect="1" noChangeArrowheads="1"/>
          </p:cNvPicPr>
          <p:nvPr/>
        </p:nvPicPr>
        <p:blipFill>
          <a:blip r:embed="rId3"/>
          <a:srcRect/>
          <a:stretch>
            <a:fillRect/>
          </a:stretch>
        </p:blipFill>
        <p:spPr bwMode="auto">
          <a:xfrm>
            <a:off x="4343400" y="3028950"/>
            <a:ext cx="3733800" cy="1766888"/>
          </a:xfrm>
          <a:prstGeom prst="rect">
            <a:avLst/>
          </a:prstGeom>
          <a:noFill/>
          <a:ln w="9525">
            <a:noFill/>
            <a:miter lim="800000"/>
            <a:headEnd/>
            <a:tailEnd/>
          </a:ln>
        </p:spPr>
      </p:pic>
      <p:pic>
        <p:nvPicPr>
          <p:cNvPr id="1026" name="Picture 2"/>
          <p:cNvPicPr>
            <a:picLocks noChangeAspect="1" noChangeArrowheads="1"/>
          </p:cNvPicPr>
          <p:nvPr/>
        </p:nvPicPr>
        <p:blipFill>
          <a:blip r:embed="rId4"/>
          <a:srcRect/>
          <a:stretch>
            <a:fillRect/>
          </a:stretch>
        </p:blipFill>
        <p:spPr bwMode="auto">
          <a:xfrm>
            <a:off x="6629400" y="971550"/>
            <a:ext cx="1266825" cy="16859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4995C78-B1AE-4743-B2A0-982033A431CF}"/>
              </a:ext>
            </a:extLst>
          </p:cNvPr>
          <p:cNvSpPr>
            <a:spLocks noGrp="1"/>
          </p:cNvSpPr>
          <p:nvPr>
            <p:ph type="title"/>
          </p:nvPr>
        </p:nvSpPr>
        <p:spPr>
          <a:xfrm>
            <a:off x="609600" y="285750"/>
            <a:ext cx="7315200" cy="865573"/>
          </a:xfrm>
        </p:spPr>
        <p:txBody>
          <a:bodyPr/>
          <a:lstStyle/>
          <a:p>
            <a:r>
              <a:rPr lang="en-US" dirty="0" smtClean="0"/>
              <a:t>Introduction</a:t>
            </a:r>
            <a:endParaRPr lang="en-US" dirty="0"/>
          </a:p>
        </p:txBody>
      </p:sp>
      <p:sp>
        <p:nvSpPr>
          <p:cNvPr id="3" name="Content Placeholder 2">
            <a:extLst>
              <a:ext uri="{FF2B5EF4-FFF2-40B4-BE49-F238E27FC236}">
                <a16:creationId xmlns="" xmlns:a16="http://schemas.microsoft.com/office/drawing/2014/main" id="{FACE180C-9E20-D146-9581-27C3793A1596}"/>
              </a:ext>
            </a:extLst>
          </p:cNvPr>
          <p:cNvSpPr>
            <a:spLocks noGrp="1"/>
          </p:cNvSpPr>
          <p:nvPr>
            <p:ph idx="1"/>
          </p:nvPr>
        </p:nvSpPr>
        <p:spPr>
          <a:xfrm>
            <a:off x="533401" y="1200150"/>
            <a:ext cx="7639048" cy="3657599"/>
          </a:xfrm>
        </p:spPr>
        <p:txBody>
          <a:bodyPr>
            <a:noAutofit/>
          </a:bodyPr>
          <a:lstStyle/>
          <a:p>
            <a:pPr lvl="2" algn="just"/>
            <a:r>
              <a:rPr lang="en-US" sz="2400" b="1" dirty="0" smtClean="0"/>
              <a:t>User</a:t>
            </a:r>
            <a:endParaRPr lang="en-US" sz="2400" dirty="0"/>
          </a:p>
          <a:p>
            <a:pPr lvl="4" algn="just"/>
            <a:r>
              <a:rPr lang="en-US" sz="2400" dirty="0" smtClean="0"/>
              <a:t> </a:t>
            </a:r>
            <a:r>
              <a:rPr lang="en-US" sz="2000" dirty="0"/>
              <a:t>By "user", we may mean an individual user, a group of users working together. An appreciation of the way people's sensory systems (sight, hearing, touch) relay information is vital.</a:t>
            </a:r>
          </a:p>
        </p:txBody>
      </p:sp>
      <p:sp>
        <p:nvSpPr>
          <p:cNvPr id="5" name="Slide Number Placeholder 4">
            <a:extLst>
              <a:ext uri="{FF2B5EF4-FFF2-40B4-BE49-F238E27FC236}">
                <a16:creationId xmlns="" xmlns:a16="http://schemas.microsoft.com/office/drawing/2014/main" id="{B9707B2E-9D36-BF4F-9C26-F264D8AAB058}"/>
              </a:ext>
            </a:extLst>
          </p:cNvPr>
          <p:cNvSpPr>
            <a:spLocks noGrp="1"/>
          </p:cNvSpPr>
          <p:nvPr>
            <p:ph type="sldNum" sz="quarter" idx="12"/>
          </p:nvPr>
        </p:nvSpPr>
        <p:spPr/>
        <p:txBody>
          <a:bodyPr/>
          <a:lstStyle/>
          <a:p>
            <a:fld id="{E97799C9-84D9-46D2-A11E-BCF8A720529D}" type="slidenum">
              <a:rPr lang="en-US" smtClean="0"/>
              <a:pPr/>
              <a:t>6</a:t>
            </a:fld>
            <a:endParaRPr lang="en-US" dirty="0"/>
          </a:p>
        </p:txBody>
      </p:sp>
    </p:spTree>
    <p:extLst>
      <p:ext uri="{BB962C8B-B14F-4D97-AF65-F5344CB8AC3E}">
        <p14:creationId xmlns="" xmlns:p14="http://schemas.microsoft.com/office/powerpoint/2010/main" val="3111851134"/>
      </p:ext>
    </p:extLst>
  </p:cSld>
  <p:clrMapOvr>
    <a:masterClrMapping/>
  </p:clrMapOvr>
  <p:transition spd="slow">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4995C78-B1AE-4743-B2A0-982033A431CF}"/>
              </a:ext>
            </a:extLst>
          </p:cNvPr>
          <p:cNvSpPr>
            <a:spLocks noGrp="1"/>
          </p:cNvSpPr>
          <p:nvPr>
            <p:ph type="title"/>
          </p:nvPr>
        </p:nvSpPr>
        <p:spPr>
          <a:xfrm>
            <a:off x="685800" y="209550"/>
            <a:ext cx="7315200" cy="865573"/>
          </a:xfrm>
        </p:spPr>
        <p:txBody>
          <a:bodyPr/>
          <a:lstStyle/>
          <a:p>
            <a:r>
              <a:rPr lang="en-US" dirty="0"/>
              <a:t>Introduction</a:t>
            </a:r>
          </a:p>
        </p:txBody>
      </p:sp>
      <p:sp>
        <p:nvSpPr>
          <p:cNvPr id="3" name="Content Placeholder 2">
            <a:extLst>
              <a:ext uri="{FF2B5EF4-FFF2-40B4-BE49-F238E27FC236}">
                <a16:creationId xmlns="" xmlns:a16="http://schemas.microsoft.com/office/drawing/2014/main" id="{FACE180C-9E20-D146-9581-27C3793A1596}"/>
              </a:ext>
            </a:extLst>
          </p:cNvPr>
          <p:cNvSpPr>
            <a:spLocks noGrp="1"/>
          </p:cNvSpPr>
          <p:nvPr>
            <p:ph idx="1"/>
          </p:nvPr>
        </p:nvSpPr>
        <p:spPr>
          <a:xfrm>
            <a:off x="533400" y="1123950"/>
            <a:ext cx="7200897" cy="4019550"/>
          </a:xfrm>
        </p:spPr>
        <p:txBody>
          <a:bodyPr>
            <a:normAutofit/>
          </a:bodyPr>
          <a:lstStyle/>
          <a:p>
            <a:pPr algn="just"/>
            <a:r>
              <a:rPr lang="en-US" b="1" dirty="0" smtClean="0"/>
              <a:t>Computer</a:t>
            </a:r>
            <a:endParaRPr lang="en-US" dirty="0"/>
          </a:p>
          <a:p>
            <a:pPr lvl="3" algn="just"/>
            <a:r>
              <a:rPr lang="en-US" sz="2000" dirty="0"/>
              <a:t>When we talk about the computer, we're referring to any technology ranging from desktop computers, to large scale computer systems.</a:t>
            </a:r>
            <a:endParaRPr lang="en-US" sz="2000" b="1" dirty="0"/>
          </a:p>
          <a:p>
            <a:pPr algn="just"/>
            <a:r>
              <a:rPr lang="en-US" b="1" dirty="0" smtClean="0"/>
              <a:t>Interaction</a:t>
            </a:r>
          </a:p>
          <a:p>
            <a:pPr lvl="3" algn="just"/>
            <a:r>
              <a:rPr lang="en-US" sz="2000" dirty="0"/>
              <a:t>By </a:t>
            </a:r>
            <a:r>
              <a:rPr lang="en-US" sz="2000" i="1" dirty="0"/>
              <a:t>interaction </a:t>
            </a:r>
            <a:r>
              <a:rPr lang="en-US" sz="2000" dirty="0"/>
              <a:t>we mean any communication between a user and computer, be it direct or indirect. </a:t>
            </a:r>
          </a:p>
          <a:p>
            <a:pPr lvl="5" algn="just"/>
            <a:r>
              <a:rPr lang="en-US" sz="2000" dirty="0"/>
              <a:t>Direct interaction - involves a dialog with feedback and control throughout performance of the task. </a:t>
            </a:r>
          </a:p>
          <a:p>
            <a:pPr lvl="5" algn="just"/>
            <a:r>
              <a:rPr lang="en-US" sz="2000" dirty="0"/>
              <a:t>Indirect interaction - involves </a:t>
            </a:r>
            <a:r>
              <a:rPr lang="en-US" sz="2000" dirty="0">
                <a:hlinkClick r:id="rId2" action="ppaction://hlinksldjump"/>
              </a:rPr>
              <a:t>batch processing</a:t>
            </a:r>
            <a:r>
              <a:rPr lang="en-US" sz="2000" dirty="0"/>
              <a:t> or intelligent sensors controlling the environment</a:t>
            </a:r>
          </a:p>
        </p:txBody>
      </p:sp>
      <p:sp>
        <p:nvSpPr>
          <p:cNvPr id="5" name="Slide Number Placeholder 4">
            <a:extLst>
              <a:ext uri="{FF2B5EF4-FFF2-40B4-BE49-F238E27FC236}">
                <a16:creationId xmlns="" xmlns:a16="http://schemas.microsoft.com/office/drawing/2014/main" id="{B9707B2E-9D36-BF4F-9C26-F264D8AAB058}"/>
              </a:ext>
            </a:extLst>
          </p:cNvPr>
          <p:cNvSpPr>
            <a:spLocks noGrp="1"/>
          </p:cNvSpPr>
          <p:nvPr>
            <p:ph type="sldNum" sz="quarter" idx="12"/>
          </p:nvPr>
        </p:nvSpPr>
        <p:spPr/>
        <p:txBody>
          <a:bodyPr/>
          <a:lstStyle/>
          <a:p>
            <a:fld id="{E97799C9-84D9-46D2-A11E-BCF8A720529D}" type="slidenum">
              <a:rPr lang="en-US" smtClean="0"/>
              <a:pPr/>
              <a:t>7</a:t>
            </a:fld>
            <a:endParaRPr lang="en-US" dirty="0"/>
          </a:p>
        </p:txBody>
      </p:sp>
    </p:spTree>
    <p:extLst>
      <p:ext uri="{BB962C8B-B14F-4D97-AF65-F5344CB8AC3E}">
        <p14:creationId xmlns="" xmlns:p14="http://schemas.microsoft.com/office/powerpoint/2010/main" val="3913217860"/>
      </p:ext>
    </p:extLst>
  </p:cSld>
  <p:clrMapOvr>
    <a:masterClrMapping/>
  </p:clrMapOvr>
  <p:transition spd="slow">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4995C78-B1AE-4743-B2A0-982033A431CF}"/>
              </a:ext>
            </a:extLst>
          </p:cNvPr>
          <p:cNvSpPr>
            <a:spLocks noGrp="1"/>
          </p:cNvSpPr>
          <p:nvPr>
            <p:ph type="title"/>
          </p:nvPr>
        </p:nvSpPr>
        <p:spPr/>
        <p:txBody>
          <a:bodyPr/>
          <a:lstStyle/>
          <a:p>
            <a:r>
              <a:rPr lang="en-US" dirty="0" smtClean="0"/>
              <a:t>Contd..,</a:t>
            </a:r>
            <a:endParaRPr lang="en-US" dirty="0"/>
          </a:p>
        </p:txBody>
      </p:sp>
      <p:sp>
        <p:nvSpPr>
          <p:cNvPr id="5" name="Slide Number Placeholder 4">
            <a:extLst>
              <a:ext uri="{FF2B5EF4-FFF2-40B4-BE49-F238E27FC236}">
                <a16:creationId xmlns="" xmlns:a16="http://schemas.microsoft.com/office/drawing/2014/main" id="{B9707B2E-9D36-BF4F-9C26-F264D8AAB058}"/>
              </a:ext>
            </a:extLst>
          </p:cNvPr>
          <p:cNvSpPr>
            <a:spLocks noGrp="1"/>
          </p:cNvSpPr>
          <p:nvPr>
            <p:ph type="sldNum" sz="quarter" idx="12"/>
          </p:nvPr>
        </p:nvSpPr>
        <p:spPr/>
        <p:txBody>
          <a:bodyPr/>
          <a:lstStyle/>
          <a:p>
            <a:fld id="{E97799C9-84D9-46D2-A11E-BCF8A720529D}" type="slidenum">
              <a:rPr lang="en-US" smtClean="0"/>
              <a:pPr/>
              <a:t>8</a:t>
            </a:fld>
            <a:endParaRPr lang="en-US" dirty="0"/>
          </a:p>
        </p:txBody>
      </p:sp>
      <p:pic>
        <p:nvPicPr>
          <p:cNvPr id="7" name="Content Placeholder 6"/>
          <p:cNvPicPr>
            <a:picLocks noGrp="1"/>
          </p:cNvPicPr>
          <p:nvPr>
            <p:ph idx="1"/>
          </p:nvPr>
        </p:nvPicPr>
        <p:blipFill>
          <a:blip r:embed="rId2"/>
          <a:srcRect/>
          <a:stretch>
            <a:fillRect/>
          </a:stretch>
        </p:blipFill>
        <p:spPr bwMode="auto">
          <a:xfrm>
            <a:off x="473299" y="736599"/>
            <a:ext cx="7398913" cy="3740151"/>
          </a:xfrm>
          <a:prstGeom prst="rect">
            <a:avLst/>
          </a:prstGeom>
          <a:noFill/>
        </p:spPr>
      </p:pic>
      <p:sp>
        <p:nvSpPr>
          <p:cNvPr id="8" name="TextBox 7"/>
          <p:cNvSpPr txBox="1"/>
          <p:nvPr/>
        </p:nvSpPr>
        <p:spPr>
          <a:xfrm>
            <a:off x="3344353" y="4476750"/>
            <a:ext cx="5388013" cy="346249"/>
          </a:xfrm>
          <a:prstGeom prst="rect">
            <a:avLst/>
          </a:prstGeom>
          <a:noFill/>
        </p:spPr>
        <p:txBody>
          <a:bodyPr wrap="none" lIns="68580" tIns="34290" rIns="68580" bIns="34290" rtlCol="0">
            <a:spAutoFit/>
          </a:bodyPr>
          <a:lstStyle/>
          <a:p>
            <a:r>
              <a:rPr lang="en-US" b="1" dirty="0" err="1" smtClean="0"/>
              <a:t>Source:https</a:t>
            </a:r>
            <a:r>
              <a:rPr lang="en-US" b="1" dirty="0"/>
              <a:t>://images.app.goo.gl/ENiJDuQuu24GJBjv9</a:t>
            </a:r>
          </a:p>
        </p:txBody>
      </p:sp>
    </p:spTree>
    <p:extLst>
      <p:ext uri="{BB962C8B-B14F-4D97-AF65-F5344CB8AC3E}">
        <p14:creationId xmlns="" xmlns:p14="http://schemas.microsoft.com/office/powerpoint/2010/main" val="52620446"/>
      </p:ext>
    </p:extLst>
  </p:cSld>
  <p:clrMapOvr>
    <a:masterClrMapping/>
  </p:clrMapOvr>
  <p:transition spd="slow">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4995C78-B1AE-4743-B2A0-982033A431CF}"/>
              </a:ext>
            </a:extLst>
          </p:cNvPr>
          <p:cNvSpPr>
            <a:spLocks noGrp="1"/>
          </p:cNvSpPr>
          <p:nvPr>
            <p:ph type="title"/>
          </p:nvPr>
        </p:nvSpPr>
        <p:spPr>
          <a:xfrm>
            <a:off x="533400" y="209550"/>
            <a:ext cx="7315200" cy="865573"/>
          </a:xfrm>
        </p:spPr>
        <p:txBody>
          <a:bodyPr/>
          <a:lstStyle/>
          <a:p>
            <a:r>
              <a:rPr lang="en-US" dirty="0" smtClean="0"/>
              <a:t>Introduction</a:t>
            </a:r>
            <a:endParaRPr lang="en-US" dirty="0"/>
          </a:p>
        </p:txBody>
      </p:sp>
      <p:sp>
        <p:nvSpPr>
          <p:cNvPr id="3" name="Content Placeholder 2">
            <a:extLst>
              <a:ext uri="{FF2B5EF4-FFF2-40B4-BE49-F238E27FC236}">
                <a16:creationId xmlns="" xmlns:a16="http://schemas.microsoft.com/office/drawing/2014/main" id="{FACE180C-9E20-D146-9581-27C3793A1596}"/>
              </a:ext>
            </a:extLst>
          </p:cNvPr>
          <p:cNvSpPr>
            <a:spLocks noGrp="1"/>
          </p:cNvSpPr>
          <p:nvPr>
            <p:ph idx="1"/>
          </p:nvPr>
        </p:nvSpPr>
        <p:spPr>
          <a:xfrm>
            <a:off x="457201" y="971550"/>
            <a:ext cx="7715248" cy="3809999"/>
          </a:xfrm>
        </p:spPr>
        <p:txBody>
          <a:bodyPr>
            <a:normAutofit/>
          </a:bodyPr>
          <a:lstStyle/>
          <a:p>
            <a:r>
              <a:rPr lang="en-US" sz="2800" b="1" dirty="0"/>
              <a:t>The Goals of HCI</a:t>
            </a:r>
            <a:endParaRPr lang="en-US" sz="2800" dirty="0"/>
          </a:p>
          <a:p>
            <a:r>
              <a:rPr lang="en-US" sz="2800" b="1" dirty="0"/>
              <a:t>Usability</a:t>
            </a:r>
            <a:endParaRPr lang="en-US" sz="2800" dirty="0"/>
          </a:p>
          <a:p>
            <a:r>
              <a:rPr lang="en-US" sz="2800" b="1" dirty="0"/>
              <a:t>Factors in HCI</a:t>
            </a:r>
            <a:endParaRPr lang="en-US" sz="2800" dirty="0"/>
          </a:p>
          <a:p>
            <a:r>
              <a:rPr lang="en-US" sz="2800" b="1" dirty="0" smtClean="0"/>
              <a:t>Organization </a:t>
            </a:r>
            <a:r>
              <a:rPr lang="en-US" sz="2800" b="1" dirty="0"/>
              <a:t>Factors</a:t>
            </a:r>
            <a:endParaRPr lang="en-US" sz="2800" dirty="0"/>
          </a:p>
          <a:p>
            <a:r>
              <a:rPr lang="en-US" sz="2800" b="1" dirty="0"/>
              <a:t>The </a:t>
            </a:r>
            <a:r>
              <a:rPr lang="en-US" sz="2800" b="1" dirty="0" smtClean="0"/>
              <a:t>User</a:t>
            </a:r>
          </a:p>
          <a:p>
            <a:r>
              <a:rPr lang="en-US" sz="2800" b="1" dirty="0"/>
              <a:t>User Interface</a:t>
            </a:r>
            <a:endParaRPr lang="en-US" sz="2800" dirty="0"/>
          </a:p>
          <a:p>
            <a:r>
              <a:rPr lang="en-US" sz="2800" b="1" dirty="0"/>
              <a:t>Disciplines contributing to HCI</a:t>
            </a:r>
            <a:endParaRPr lang="en-US" sz="2800" dirty="0"/>
          </a:p>
          <a:p>
            <a:endParaRPr lang="en-US" sz="2800" dirty="0"/>
          </a:p>
          <a:p>
            <a:endParaRPr lang="en-US" dirty="0"/>
          </a:p>
        </p:txBody>
      </p:sp>
      <p:sp>
        <p:nvSpPr>
          <p:cNvPr id="5" name="Slide Number Placeholder 4">
            <a:extLst>
              <a:ext uri="{FF2B5EF4-FFF2-40B4-BE49-F238E27FC236}">
                <a16:creationId xmlns="" xmlns:a16="http://schemas.microsoft.com/office/drawing/2014/main" id="{B9707B2E-9D36-BF4F-9C26-F264D8AAB058}"/>
              </a:ext>
            </a:extLst>
          </p:cNvPr>
          <p:cNvSpPr>
            <a:spLocks noGrp="1"/>
          </p:cNvSpPr>
          <p:nvPr>
            <p:ph type="sldNum" sz="quarter" idx="12"/>
          </p:nvPr>
        </p:nvSpPr>
        <p:spPr/>
        <p:txBody>
          <a:bodyPr/>
          <a:lstStyle/>
          <a:p>
            <a:fld id="{E97799C9-84D9-46D2-A11E-BCF8A720529D}" type="slidenum">
              <a:rPr lang="en-US" smtClean="0"/>
              <a:pPr/>
              <a:t>9</a:t>
            </a:fld>
            <a:endParaRPr lang="en-US" dirty="0"/>
          </a:p>
        </p:txBody>
      </p:sp>
    </p:spTree>
    <p:extLst>
      <p:ext uri="{BB962C8B-B14F-4D97-AF65-F5344CB8AC3E}">
        <p14:creationId xmlns="" xmlns:p14="http://schemas.microsoft.com/office/powerpoint/2010/main" val="2359182843"/>
      </p:ext>
    </p:extLst>
  </p:cSld>
  <p:clrMapOvr>
    <a:masterClrMapping/>
  </p:clrMapOvr>
  <p:transition spd="slow">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4995C78-B1AE-4743-B2A0-982033A431CF}"/>
              </a:ext>
            </a:extLst>
          </p:cNvPr>
          <p:cNvSpPr>
            <a:spLocks noGrp="1"/>
          </p:cNvSpPr>
          <p:nvPr>
            <p:ph type="title"/>
          </p:nvPr>
        </p:nvSpPr>
        <p:spPr>
          <a:xfrm>
            <a:off x="609600" y="285750"/>
            <a:ext cx="7315200" cy="865573"/>
          </a:xfrm>
        </p:spPr>
        <p:txBody>
          <a:bodyPr/>
          <a:lstStyle/>
          <a:p>
            <a:r>
              <a:rPr lang="en-US" dirty="0"/>
              <a:t>Input–output channels</a:t>
            </a:r>
          </a:p>
        </p:txBody>
      </p:sp>
      <p:sp>
        <p:nvSpPr>
          <p:cNvPr id="3" name="Content Placeholder 2">
            <a:extLst>
              <a:ext uri="{FF2B5EF4-FFF2-40B4-BE49-F238E27FC236}">
                <a16:creationId xmlns="" xmlns:a16="http://schemas.microsoft.com/office/drawing/2014/main" id="{FACE180C-9E20-D146-9581-27C3793A1596}"/>
              </a:ext>
            </a:extLst>
          </p:cNvPr>
          <p:cNvSpPr>
            <a:spLocks noGrp="1"/>
          </p:cNvSpPr>
          <p:nvPr>
            <p:ph idx="1"/>
          </p:nvPr>
        </p:nvSpPr>
        <p:spPr>
          <a:xfrm>
            <a:off x="685800" y="1123950"/>
            <a:ext cx="7200897" cy="3733800"/>
          </a:xfrm>
        </p:spPr>
        <p:txBody>
          <a:bodyPr>
            <a:normAutofit lnSpcReduction="10000"/>
          </a:bodyPr>
          <a:lstStyle/>
          <a:p>
            <a:pPr algn="just"/>
            <a:r>
              <a:rPr lang="en-US" sz="2400" dirty="0"/>
              <a:t>A person‘s interaction with the outside world occurs through information being received and sent: input and output. </a:t>
            </a:r>
            <a:endParaRPr lang="en-US" sz="2400" dirty="0" smtClean="0"/>
          </a:p>
          <a:p>
            <a:pPr algn="just"/>
            <a:r>
              <a:rPr lang="en-US" sz="2400" dirty="0" smtClean="0"/>
              <a:t>In </a:t>
            </a:r>
            <a:r>
              <a:rPr lang="en-US" sz="2400" dirty="0"/>
              <a:t>an interaction with a computer the user receives information that is output by the computer, and responds by providing input to the </a:t>
            </a:r>
            <a:r>
              <a:rPr lang="en-US" sz="2400" dirty="0" smtClean="0"/>
              <a:t>computer </a:t>
            </a:r>
            <a:r>
              <a:rPr lang="en-US" sz="2400" dirty="0"/>
              <a:t>the user‘s output becomes the computer‘s input and vice versa</a:t>
            </a:r>
            <a:r>
              <a:rPr lang="en-US" sz="2400" dirty="0" smtClean="0"/>
              <a:t>.</a:t>
            </a:r>
          </a:p>
          <a:p>
            <a:pPr algn="just"/>
            <a:r>
              <a:rPr lang="en-US" sz="2400" dirty="0"/>
              <a:t>There are five major senses: </a:t>
            </a:r>
            <a:r>
              <a:rPr lang="en-US" sz="2400" b="1" dirty="0"/>
              <a:t>sight, hearing, touch, taste and smell</a:t>
            </a:r>
            <a:r>
              <a:rPr lang="en-US" sz="2400" dirty="0"/>
              <a:t>.</a:t>
            </a:r>
          </a:p>
          <a:p>
            <a:pPr algn="just"/>
            <a:endParaRPr lang="en-US" dirty="0"/>
          </a:p>
          <a:p>
            <a:pPr algn="just"/>
            <a:endParaRPr lang="en-US" dirty="0"/>
          </a:p>
        </p:txBody>
      </p:sp>
      <p:sp>
        <p:nvSpPr>
          <p:cNvPr id="5" name="Slide Number Placeholder 4">
            <a:extLst>
              <a:ext uri="{FF2B5EF4-FFF2-40B4-BE49-F238E27FC236}">
                <a16:creationId xmlns="" xmlns:a16="http://schemas.microsoft.com/office/drawing/2014/main" id="{B9707B2E-9D36-BF4F-9C26-F264D8AAB058}"/>
              </a:ext>
            </a:extLst>
          </p:cNvPr>
          <p:cNvSpPr>
            <a:spLocks noGrp="1"/>
          </p:cNvSpPr>
          <p:nvPr>
            <p:ph type="sldNum" sz="quarter" idx="12"/>
          </p:nvPr>
        </p:nvSpPr>
        <p:spPr/>
        <p:txBody>
          <a:bodyPr/>
          <a:lstStyle/>
          <a:p>
            <a:fld id="{E97799C9-84D9-46D2-A11E-BCF8A720529D}" type="slidenum">
              <a:rPr lang="en-US" smtClean="0"/>
              <a:pPr/>
              <a:t>10</a:t>
            </a:fld>
            <a:endParaRPr lang="en-US" dirty="0"/>
          </a:p>
        </p:txBody>
      </p:sp>
    </p:spTree>
    <p:extLst>
      <p:ext uri="{BB962C8B-B14F-4D97-AF65-F5344CB8AC3E}">
        <p14:creationId xmlns="" xmlns:p14="http://schemas.microsoft.com/office/powerpoint/2010/main" val="2752227306"/>
      </p:ext>
    </p:extLst>
  </p:cSld>
  <p:clrMapOvr>
    <a:masterClrMapping/>
  </p:clrMapOvr>
  <p:transition spd="slow">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4995C78-B1AE-4743-B2A0-982033A431CF}"/>
              </a:ext>
            </a:extLst>
          </p:cNvPr>
          <p:cNvSpPr>
            <a:spLocks noGrp="1"/>
          </p:cNvSpPr>
          <p:nvPr>
            <p:ph type="title"/>
          </p:nvPr>
        </p:nvSpPr>
        <p:spPr>
          <a:xfrm>
            <a:off x="609600" y="285750"/>
            <a:ext cx="7315200" cy="865573"/>
          </a:xfrm>
        </p:spPr>
        <p:txBody>
          <a:bodyPr/>
          <a:lstStyle/>
          <a:p>
            <a:r>
              <a:rPr lang="en-US" dirty="0"/>
              <a:t>Input–output channels</a:t>
            </a:r>
          </a:p>
        </p:txBody>
      </p:sp>
      <p:sp>
        <p:nvSpPr>
          <p:cNvPr id="3" name="Content Placeholder 2">
            <a:extLst>
              <a:ext uri="{FF2B5EF4-FFF2-40B4-BE49-F238E27FC236}">
                <a16:creationId xmlns="" xmlns:a16="http://schemas.microsoft.com/office/drawing/2014/main" id="{FACE180C-9E20-D146-9581-27C3793A1596}"/>
              </a:ext>
            </a:extLst>
          </p:cNvPr>
          <p:cNvSpPr>
            <a:spLocks noGrp="1"/>
          </p:cNvSpPr>
          <p:nvPr>
            <p:ph idx="1"/>
          </p:nvPr>
        </p:nvSpPr>
        <p:spPr>
          <a:xfrm>
            <a:off x="685800" y="1123950"/>
            <a:ext cx="7200897" cy="3733800"/>
          </a:xfrm>
        </p:spPr>
        <p:txBody>
          <a:bodyPr>
            <a:normAutofit/>
          </a:bodyPr>
          <a:lstStyle/>
          <a:p>
            <a:pPr algn="just"/>
            <a:r>
              <a:rPr lang="en-US" sz="2400" dirty="0" smtClean="0"/>
              <a:t>There </a:t>
            </a:r>
            <a:r>
              <a:rPr lang="en-US" sz="2400" dirty="0"/>
              <a:t>are five major senses: </a:t>
            </a:r>
            <a:r>
              <a:rPr lang="en-US" sz="2400" b="1" dirty="0"/>
              <a:t>sight, hearing, touch, taste and smell</a:t>
            </a:r>
            <a:r>
              <a:rPr lang="en-US" sz="2400" dirty="0"/>
              <a:t>.</a:t>
            </a:r>
          </a:p>
          <a:p>
            <a:pPr algn="just"/>
            <a:endParaRPr lang="en-US" dirty="0"/>
          </a:p>
          <a:p>
            <a:pPr algn="just"/>
            <a:endParaRPr lang="en-US" dirty="0"/>
          </a:p>
        </p:txBody>
      </p:sp>
      <p:sp>
        <p:nvSpPr>
          <p:cNvPr id="5" name="Slide Number Placeholder 4">
            <a:extLst>
              <a:ext uri="{FF2B5EF4-FFF2-40B4-BE49-F238E27FC236}">
                <a16:creationId xmlns="" xmlns:a16="http://schemas.microsoft.com/office/drawing/2014/main" id="{B9707B2E-9D36-BF4F-9C26-F264D8AAB058}"/>
              </a:ext>
            </a:extLst>
          </p:cNvPr>
          <p:cNvSpPr>
            <a:spLocks noGrp="1"/>
          </p:cNvSpPr>
          <p:nvPr>
            <p:ph type="sldNum" sz="quarter" idx="12"/>
          </p:nvPr>
        </p:nvSpPr>
        <p:spPr/>
        <p:txBody>
          <a:bodyPr/>
          <a:lstStyle/>
          <a:p>
            <a:fld id="{E97799C9-84D9-46D2-A11E-BCF8A720529D}" type="slidenum">
              <a:rPr lang="en-US" smtClean="0"/>
              <a:pPr/>
              <a:t>11</a:t>
            </a:fld>
            <a:endParaRPr lang="en-US" dirty="0"/>
          </a:p>
        </p:txBody>
      </p:sp>
      <p:pic>
        <p:nvPicPr>
          <p:cNvPr id="1027" name="Picture 3"/>
          <p:cNvPicPr>
            <a:picLocks noChangeAspect="1" noChangeArrowheads="1"/>
          </p:cNvPicPr>
          <p:nvPr/>
        </p:nvPicPr>
        <p:blipFill>
          <a:blip r:embed="rId2"/>
          <a:srcRect/>
          <a:stretch>
            <a:fillRect/>
          </a:stretch>
        </p:blipFill>
        <p:spPr bwMode="auto">
          <a:xfrm>
            <a:off x="914400" y="2952750"/>
            <a:ext cx="2271637" cy="1719263"/>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a:srcRect/>
          <a:stretch>
            <a:fillRect/>
          </a:stretch>
        </p:blipFill>
        <p:spPr bwMode="auto">
          <a:xfrm>
            <a:off x="4114800" y="1857375"/>
            <a:ext cx="1409700" cy="2543175"/>
          </a:xfrm>
          <a:prstGeom prst="rect">
            <a:avLst/>
          </a:prstGeom>
          <a:noFill/>
          <a:ln w="9525">
            <a:noFill/>
            <a:miter lim="800000"/>
            <a:headEnd/>
            <a:tailEnd/>
          </a:ln>
          <a:effectLst/>
        </p:spPr>
      </p:pic>
      <p:pic>
        <p:nvPicPr>
          <p:cNvPr id="1029" name="Picture 5"/>
          <p:cNvPicPr>
            <a:picLocks noChangeAspect="1" noChangeArrowheads="1"/>
          </p:cNvPicPr>
          <p:nvPr/>
        </p:nvPicPr>
        <p:blipFill>
          <a:blip r:embed="rId4"/>
          <a:srcRect/>
          <a:stretch>
            <a:fillRect/>
          </a:stretch>
        </p:blipFill>
        <p:spPr bwMode="auto">
          <a:xfrm>
            <a:off x="6400800" y="2952750"/>
            <a:ext cx="2240174" cy="1743075"/>
          </a:xfrm>
          <a:prstGeom prst="rect">
            <a:avLst/>
          </a:prstGeom>
          <a:noFill/>
          <a:ln w="9525">
            <a:noFill/>
            <a:miter lim="800000"/>
            <a:headEnd/>
            <a:tailEnd/>
          </a:ln>
          <a:effectLst/>
        </p:spPr>
      </p:pic>
    </p:spTree>
    <p:extLst>
      <p:ext uri="{BB962C8B-B14F-4D97-AF65-F5344CB8AC3E}">
        <p14:creationId xmlns="" xmlns:p14="http://schemas.microsoft.com/office/powerpoint/2010/main" val="2752227306"/>
      </p:ext>
    </p:extLst>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4995C78-B1AE-4743-B2A0-982033A431CF}"/>
              </a:ext>
            </a:extLst>
          </p:cNvPr>
          <p:cNvSpPr>
            <a:spLocks noGrp="1"/>
          </p:cNvSpPr>
          <p:nvPr>
            <p:ph type="title"/>
          </p:nvPr>
        </p:nvSpPr>
        <p:spPr>
          <a:xfrm>
            <a:off x="381000" y="209550"/>
            <a:ext cx="7315200" cy="865573"/>
          </a:xfrm>
        </p:spPr>
        <p:txBody>
          <a:bodyPr/>
          <a:lstStyle/>
          <a:p>
            <a:r>
              <a:rPr lang="en-US" dirty="0"/>
              <a:t>Input–output channels</a:t>
            </a:r>
          </a:p>
        </p:txBody>
      </p:sp>
      <p:sp>
        <p:nvSpPr>
          <p:cNvPr id="3" name="Content Placeholder 2">
            <a:extLst>
              <a:ext uri="{FF2B5EF4-FFF2-40B4-BE49-F238E27FC236}">
                <a16:creationId xmlns="" xmlns:a16="http://schemas.microsoft.com/office/drawing/2014/main" id="{FACE180C-9E20-D146-9581-27C3793A1596}"/>
              </a:ext>
            </a:extLst>
          </p:cNvPr>
          <p:cNvSpPr>
            <a:spLocks noGrp="1"/>
          </p:cNvSpPr>
          <p:nvPr>
            <p:ph idx="1"/>
          </p:nvPr>
        </p:nvSpPr>
        <p:spPr>
          <a:xfrm>
            <a:off x="381000" y="1200150"/>
            <a:ext cx="7200897" cy="2617007"/>
          </a:xfrm>
        </p:spPr>
        <p:txBody>
          <a:bodyPr>
            <a:normAutofit/>
          </a:bodyPr>
          <a:lstStyle/>
          <a:p>
            <a:pPr algn="just"/>
            <a:r>
              <a:rPr lang="en-US" sz="2800" b="1" dirty="0" smtClean="0"/>
              <a:t>Input Channel-Vision:</a:t>
            </a:r>
          </a:p>
          <a:p>
            <a:pPr lvl="1" algn="just"/>
            <a:r>
              <a:rPr lang="en-US" sz="2400" b="1" dirty="0"/>
              <a:t>The human eye</a:t>
            </a:r>
            <a:endParaRPr lang="en-US" sz="2400" dirty="0"/>
          </a:p>
          <a:p>
            <a:pPr lvl="1" algn="just"/>
            <a:r>
              <a:rPr lang="en-US" sz="2400" b="1" dirty="0" smtClean="0"/>
              <a:t>Visual perception</a:t>
            </a:r>
          </a:p>
          <a:p>
            <a:pPr algn="just"/>
            <a:endParaRPr lang="en-US" dirty="0"/>
          </a:p>
        </p:txBody>
      </p:sp>
      <p:sp>
        <p:nvSpPr>
          <p:cNvPr id="5" name="Slide Number Placeholder 4">
            <a:extLst>
              <a:ext uri="{FF2B5EF4-FFF2-40B4-BE49-F238E27FC236}">
                <a16:creationId xmlns="" xmlns:a16="http://schemas.microsoft.com/office/drawing/2014/main" id="{B9707B2E-9D36-BF4F-9C26-F264D8AAB058}"/>
              </a:ext>
            </a:extLst>
          </p:cNvPr>
          <p:cNvSpPr>
            <a:spLocks noGrp="1"/>
          </p:cNvSpPr>
          <p:nvPr>
            <p:ph type="sldNum" sz="quarter" idx="12"/>
          </p:nvPr>
        </p:nvSpPr>
        <p:spPr/>
        <p:txBody>
          <a:bodyPr/>
          <a:lstStyle/>
          <a:p>
            <a:fld id="{E97799C9-84D9-46D2-A11E-BCF8A720529D}" type="slidenum">
              <a:rPr lang="en-US" smtClean="0"/>
              <a:pPr/>
              <a:t>12</a:t>
            </a:fld>
            <a:endParaRPr lang="en-US" dirty="0"/>
          </a:p>
        </p:txBody>
      </p:sp>
      <p:sp>
        <p:nvSpPr>
          <p:cNvPr id="12" name="TextBox 11"/>
          <p:cNvSpPr txBox="1"/>
          <p:nvPr/>
        </p:nvSpPr>
        <p:spPr>
          <a:xfrm>
            <a:off x="0" y="4554877"/>
            <a:ext cx="8915400" cy="1177245"/>
          </a:xfrm>
          <a:prstGeom prst="rect">
            <a:avLst/>
          </a:prstGeom>
          <a:noFill/>
        </p:spPr>
        <p:txBody>
          <a:bodyPr wrap="square" lIns="68580" tIns="34290" rIns="68580" bIns="34290" rtlCol="0">
            <a:spAutoFit/>
          </a:bodyPr>
          <a:lstStyle/>
          <a:p>
            <a:r>
              <a:rPr lang="en-US" b="1" dirty="0" smtClean="0"/>
              <a:t>Source: </a:t>
            </a:r>
            <a:endParaRPr lang="en-US" dirty="0"/>
          </a:p>
          <a:p>
            <a:pPr marL="342900" indent="-342900">
              <a:buAutoNum type="arabicPeriod"/>
            </a:pPr>
            <a:r>
              <a:rPr lang="en-US" sz="1400" dirty="0" smtClean="0"/>
              <a:t>A </a:t>
            </a:r>
            <a:r>
              <a:rPr lang="en-US" sz="1400" dirty="0"/>
              <a:t>Dix, Janet Finlay, G D </a:t>
            </a:r>
            <a:r>
              <a:rPr lang="en-US" sz="1400" dirty="0" err="1"/>
              <a:t>Abowd</a:t>
            </a:r>
            <a:r>
              <a:rPr lang="en-US" sz="1400" dirty="0" smtClean="0"/>
              <a:t>,  </a:t>
            </a:r>
            <a:r>
              <a:rPr lang="en-US" sz="1400" dirty="0"/>
              <a:t>R Beale., Human-Computer Interaction, </a:t>
            </a:r>
            <a:r>
              <a:rPr lang="en-US" sz="1400" dirty="0" smtClean="0"/>
              <a:t> 3rd </a:t>
            </a:r>
            <a:r>
              <a:rPr lang="en-US" sz="1400" dirty="0"/>
              <a:t>Edition, Pearson Publishers,2008</a:t>
            </a:r>
            <a:r>
              <a:rPr lang="en-US" dirty="0"/>
              <a:t>. </a:t>
            </a:r>
          </a:p>
          <a:p>
            <a:r>
              <a:rPr lang="en-US" dirty="0"/>
              <a:t>	</a:t>
            </a:r>
          </a:p>
          <a:p>
            <a:endParaRPr lang="en-US" b="1" dirty="0"/>
          </a:p>
        </p:txBody>
      </p:sp>
      <p:pic>
        <p:nvPicPr>
          <p:cNvPr id="44034" name="Picture 2" descr="Human Eye Closeup Photo"/>
          <p:cNvPicPr>
            <a:picLocks noChangeAspect="1" noChangeArrowheads="1"/>
          </p:cNvPicPr>
          <p:nvPr/>
        </p:nvPicPr>
        <p:blipFill>
          <a:blip r:embed="rId2"/>
          <a:srcRect/>
          <a:stretch>
            <a:fillRect/>
          </a:stretch>
        </p:blipFill>
        <p:spPr bwMode="auto">
          <a:xfrm>
            <a:off x="4495800" y="1276350"/>
            <a:ext cx="2534107" cy="3381816"/>
          </a:xfrm>
          <a:prstGeom prst="rect">
            <a:avLst/>
          </a:prstGeom>
          <a:noFill/>
        </p:spPr>
      </p:pic>
    </p:spTree>
    <p:extLst>
      <p:ext uri="{BB962C8B-B14F-4D97-AF65-F5344CB8AC3E}">
        <p14:creationId xmlns="" xmlns:p14="http://schemas.microsoft.com/office/powerpoint/2010/main" val="487285476"/>
      </p:ext>
    </p:extLst>
  </p:cSld>
  <p:clrMapOvr>
    <a:masterClrMapping/>
  </p:clrMapOvr>
  <p:transition spd="slow">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4995C78-B1AE-4743-B2A0-982033A431CF}"/>
              </a:ext>
            </a:extLst>
          </p:cNvPr>
          <p:cNvSpPr>
            <a:spLocks noGrp="1"/>
          </p:cNvSpPr>
          <p:nvPr>
            <p:ph type="title"/>
          </p:nvPr>
        </p:nvSpPr>
        <p:spPr>
          <a:xfrm>
            <a:off x="381000" y="209550"/>
            <a:ext cx="7315200" cy="865573"/>
          </a:xfrm>
        </p:spPr>
        <p:txBody>
          <a:bodyPr/>
          <a:lstStyle/>
          <a:p>
            <a:r>
              <a:rPr lang="en-US" dirty="0"/>
              <a:t>Input–output channels</a:t>
            </a:r>
          </a:p>
        </p:txBody>
      </p:sp>
      <p:sp>
        <p:nvSpPr>
          <p:cNvPr id="5" name="Slide Number Placeholder 4">
            <a:extLst>
              <a:ext uri="{FF2B5EF4-FFF2-40B4-BE49-F238E27FC236}">
                <a16:creationId xmlns="" xmlns:a16="http://schemas.microsoft.com/office/drawing/2014/main" id="{B9707B2E-9D36-BF4F-9C26-F264D8AAB058}"/>
              </a:ext>
            </a:extLst>
          </p:cNvPr>
          <p:cNvSpPr>
            <a:spLocks noGrp="1"/>
          </p:cNvSpPr>
          <p:nvPr>
            <p:ph type="sldNum" sz="quarter" idx="12"/>
          </p:nvPr>
        </p:nvSpPr>
        <p:spPr/>
        <p:txBody>
          <a:bodyPr/>
          <a:lstStyle/>
          <a:p>
            <a:fld id="{E97799C9-84D9-46D2-A11E-BCF8A720529D}" type="slidenum">
              <a:rPr lang="en-US" smtClean="0"/>
              <a:pPr/>
              <a:t>13</a:t>
            </a:fld>
            <a:endParaRPr lang="en-US" dirty="0"/>
          </a:p>
        </p:txBody>
      </p:sp>
      <p:pic>
        <p:nvPicPr>
          <p:cNvPr id="69634" name="Picture 2" descr="Components of human eye. Illustration about Anatomy and Physiology."/>
          <p:cNvPicPr>
            <a:picLocks noChangeAspect="1" noChangeArrowheads="1"/>
          </p:cNvPicPr>
          <p:nvPr/>
        </p:nvPicPr>
        <p:blipFill>
          <a:blip r:embed="rId2"/>
          <a:srcRect/>
          <a:stretch>
            <a:fillRect/>
          </a:stretch>
        </p:blipFill>
        <p:spPr bwMode="auto">
          <a:xfrm>
            <a:off x="457200" y="1428750"/>
            <a:ext cx="4324864" cy="3276600"/>
          </a:xfrm>
          <a:prstGeom prst="rect">
            <a:avLst/>
          </a:prstGeom>
          <a:noFill/>
        </p:spPr>
      </p:pic>
      <p:pic>
        <p:nvPicPr>
          <p:cNvPr id="69636" name="Picture 4" descr="Photoreceptor cells in the retina of the eye. Structure and function rod cells and cone cells. Vector scheme"/>
          <p:cNvPicPr>
            <a:picLocks noChangeAspect="1" noChangeArrowheads="1"/>
          </p:cNvPicPr>
          <p:nvPr/>
        </p:nvPicPr>
        <p:blipFill>
          <a:blip r:embed="rId3"/>
          <a:srcRect/>
          <a:stretch>
            <a:fillRect/>
          </a:stretch>
        </p:blipFill>
        <p:spPr bwMode="auto">
          <a:xfrm>
            <a:off x="4572000" y="1428750"/>
            <a:ext cx="4239760" cy="3276600"/>
          </a:xfrm>
          <a:prstGeom prst="rect">
            <a:avLst/>
          </a:prstGeom>
          <a:noFill/>
        </p:spPr>
      </p:pic>
    </p:spTree>
    <p:extLst>
      <p:ext uri="{BB962C8B-B14F-4D97-AF65-F5344CB8AC3E}">
        <p14:creationId xmlns="" xmlns:p14="http://schemas.microsoft.com/office/powerpoint/2010/main" val="487285476"/>
      </p:ext>
    </p:extLst>
  </p:cSld>
  <p:clrMapOvr>
    <a:masterClrMapping/>
  </p:clrMapOvr>
  <p:transition spd="slow">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4995C78-B1AE-4743-B2A0-982033A431CF}"/>
              </a:ext>
            </a:extLst>
          </p:cNvPr>
          <p:cNvSpPr>
            <a:spLocks noGrp="1"/>
          </p:cNvSpPr>
          <p:nvPr>
            <p:ph type="title"/>
          </p:nvPr>
        </p:nvSpPr>
        <p:spPr>
          <a:xfrm>
            <a:off x="381000" y="209550"/>
            <a:ext cx="7315200" cy="865573"/>
          </a:xfrm>
        </p:spPr>
        <p:txBody>
          <a:bodyPr/>
          <a:lstStyle/>
          <a:p>
            <a:r>
              <a:rPr lang="en-US" dirty="0"/>
              <a:t>Input–output channels</a:t>
            </a:r>
          </a:p>
        </p:txBody>
      </p:sp>
      <p:sp>
        <p:nvSpPr>
          <p:cNvPr id="3" name="Content Placeholder 2">
            <a:extLst>
              <a:ext uri="{FF2B5EF4-FFF2-40B4-BE49-F238E27FC236}">
                <a16:creationId xmlns="" xmlns:a16="http://schemas.microsoft.com/office/drawing/2014/main" id="{FACE180C-9E20-D146-9581-27C3793A1596}"/>
              </a:ext>
            </a:extLst>
          </p:cNvPr>
          <p:cNvSpPr>
            <a:spLocks noGrp="1"/>
          </p:cNvSpPr>
          <p:nvPr>
            <p:ph idx="1"/>
          </p:nvPr>
        </p:nvSpPr>
        <p:spPr>
          <a:xfrm>
            <a:off x="615680" y="1200150"/>
            <a:ext cx="7200897" cy="3733800"/>
          </a:xfrm>
        </p:spPr>
        <p:txBody>
          <a:bodyPr>
            <a:normAutofit/>
          </a:bodyPr>
          <a:lstStyle/>
          <a:p>
            <a:pPr algn="just"/>
            <a:r>
              <a:rPr lang="en-US" sz="3200" b="1" dirty="0" smtClean="0"/>
              <a:t>Input Channel-Vision:</a:t>
            </a:r>
          </a:p>
          <a:p>
            <a:pPr lvl="1" algn="just"/>
            <a:r>
              <a:rPr lang="en-US" sz="2800" b="1" dirty="0"/>
              <a:t>The human </a:t>
            </a:r>
            <a:r>
              <a:rPr lang="en-US" sz="2800" b="1" dirty="0" smtClean="0"/>
              <a:t>eye (important components)</a:t>
            </a:r>
            <a:endParaRPr lang="en-US" sz="2800" dirty="0"/>
          </a:p>
          <a:p>
            <a:pPr lvl="3" algn="just"/>
            <a:r>
              <a:rPr lang="en-US" sz="2000" b="1" dirty="0" smtClean="0"/>
              <a:t>Rods</a:t>
            </a:r>
          </a:p>
          <a:p>
            <a:pPr lvl="3" algn="just"/>
            <a:r>
              <a:rPr lang="en-US" sz="2000" b="1" dirty="0" smtClean="0"/>
              <a:t>Cones</a:t>
            </a:r>
          </a:p>
          <a:p>
            <a:pPr lvl="3" algn="just"/>
            <a:r>
              <a:rPr lang="en-US" sz="2000" b="1" dirty="0" smtClean="0"/>
              <a:t>Fovea</a:t>
            </a:r>
          </a:p>
          <a:p>
            <a:pPr lvl="3" algn="just"/>
            <a:r>
              <a:rPr lang="en-US" sz="2000" b="1" dirty="0" smtClean="0"/>
              <a:t>Blind Spot</a:t>
            </a:r>
          </a:p>
          <a:p>
            <a:pPr lvl="3" algn="just"/>
            <a:r>
              <a:rPr lang="en-US" sz="2000" b="1" dirty="0" smtClean="0"/>
              <a:t>Nerve Cell</a:t>
            </a:r>
          </a:p>
          <a:p>
            <a:pPr lvl="4" algn="just"/>
            <a:r>
              <a:rPr lang="en-US" sz="2000" b="1" dirty="0" smtClean="0"/>
              <a:t>X-Cells</a:t>
            </a:r>
          </a:p>
          <a:p>
            <a:pPr lvl="4" algn="just"/>
            <a:r>
              <a:rPr lang="en-US" sz="2000" b="1" dirty="0" smtClean="0"/>
              <a:t>Y-Cells</a:t>
            </a:r>
            <a:endParaRPr lang="en-US" sz="2000" dirty="0"/>
          </a:p>
        </p:txBody>
      </p:sp>
      <p:sp>
        <p:nvSpPr>
          <p:cNvPr id="5" name="Slide Number Placeholder 4">
            <a:extLst>
              <a:ext uri="{FF2B5EF4-FFF2-40B4-BE49-F238E27FC236}">
                <a16:creationId xmlns="" xmlns:a16="http://schemas.microsoft.com/office/drawing/2014/main" id="{B9707B2E-9D36-BF4F-9C26-F264D8AAB058}"/>
              </a:ext>
            </a:extLst>
          </p:cNvPr>
          <p:cNvSpPr>
            <a:spLocks noGrp="1"/>
          </p:cNvSpPr>
          <p:nvPr>
            <p:ph type="sldNum" sz="quarter" idx="12"/>
          </p:nvPr>
        </p:nvSpPr>
        <p:spPr/>
        <p:txBody>
          <a:bodyPr/>
          <a:lstStyle/>
          <a:p>
            <a:fld id="{E97799C9-84D9-46D2-A11E-BCF8A720529D}" type="slidenum">
              <a:rPr lang="en-US" smtClean="0"/>
              <a:pPr/>
              <a:t>14</a:t>
            </a:fld>
            <a:endParaRPr lang="en-US" dirty="0"/>
          </a:p>
        </p:txBody>
      </p:sp>
    </p:spTree>
    <p:extLst>
      <p:ext uri="{BB962C8B-B14F-4D97-AF65-F5344CB8AC3E}">
        <p14:creationId xmlns="" xmlns:p14="http://schemas.microsoft.com/office/powerpoint/2010/main" val="487285476"/>
      </p:ext>
    </p:extLst>
  </p:cSld>
  <p:clrMapOvr>
    <a:masterClrMapping/>
  </p:clrMapOvr>
  <p:transition spd="slow">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4995C78-B1AE-4743-B2A0-982033A431CF}"/>
              </a:ext>
            </a:extLst>
          </p:cNvPr>
          <p:cNvSpPr>
            <a:spLocks noGrp="1"/>
          </p:cNvSpPr>
          <p:nvPr>
            <p:ph type="title"/>
          </p:nvPr>
        </p:nvSpPr>
        <p:spPr>
          <a:xfrm>
            <a:off x="533400" y="209550"/>
            <a:ext cx="7315200" cy="865573"/>
          </a:xfrm>
        </p:spPr>
        <p:txBody>
          <a:bodyPr>
            <a:normAutofit fontScale="90000"/>
          </a:bodyPr>
          <a:lstStyle/>
          <a:p>
            <a:r>
              <a:rPr lang="en-US" dirty="0"/>
              <a:t>How does the eye perceive size, depth and relative distances?</a:t>
            </a:r>
          </a:p>
        </p:txBody>
      </p:sp>
      <p:sp>
        <p:nvSpPr>
          <p:cNvPr id="3" name="Content Placeholder 2">
            <a:extLst>
              <a:ext uri="{FF2B5EF4-FFF2-40B4-BE49-F238E27FC236}">
                <a16:creationId xmlns="" xmlns:a16="http://schemas.microsoft.com/office/drawing/2014/main" id="{FACE180C-9E20-D146-9581-27C3793A1596}"/>
              </a:ext>
            </a:extLst>
          </p:cNvPr>
          <p:cNvSpPr>
            <a:spLocks noGrp="1"/>
          </p:cNvSpPr>
          <p:nvPr>
            <p:ph idx="1"/>
          </p:nvPr>
        </p:nvSpPr>
        <p:spPr>
          <a:xfrm>
            <a:off x="971551" y="1859743"/>
            <a:ext cx="7200897" cy="2617007"/>
          </a:xfrm>
        </p:spPr>
        <p:txBody>
          <a:bodyPr>
            <a:normAutofit/>
          </a:bodyPr>
          <a:lstStyle/>
          <a:p>
            <a:pPr algn="just"/>
            <a:endParaRPr lang="en-US" dirty="0"/>
          </a:p>
        </p:txBody>
      </p:sp>
      <p:sp>
        <p:nvSpPr>
          <p:cNvPr id="4" name="Footer Placeholder 3">
            <a:extLst>
              <a:ext uri="{FF2B5EF4-FFF2-40B4-BE49-F238E27FC236}">
                <a16:creationId xmlns="" xmlns:a16="http://schemas.microsoft.com/office/drawing/2014/main" id="{C5274353-5A1F-9F43-9A19-FCB310E4BBD8}"/>
              </a:ext>
            </a:extLst>
          </p:cNvPr>
          <p:cNvSpPr>
            <a:spLocks noGrp="1"/>
          </p:cNvSpPr>
          <p:nvPr>
            <p:ph type="ftr" sz="quarter" idx="11"/>
          </p:nvPr>
        </p:nvSpPr>
        <p:spPr/>
        <p:txBody>
          <a:bodyPr/>
          <a:lstStyle/>
          <a:p>
            <a:r>
              <a:rPr lang="en-US" smtClean="0"/>
              <a:t>Dr. JAYALAKSHMI S L, VIT Chennai</a:t>
            </a:r>
            <a:endParaRPr lang="en-US" dirty="0"/>
          </a:p>
        </p:txBody>
      </p:sp>
      <p:sp>
        <p:nvSpPr>
          <p:cNvPr id="5" name="Slide Number Placeholder 4">
            <a:extLst>
              <a:ext uri="{FF2B5EF4-FFF2-40B4-BE49-F238E27FC236}">
                <a16:creationId xmlns="" xmlns:a16="http://schemas.microsoft.com/office/drawing/2014/main" id="{B9707B2E-9D36-BF4F-9C26-F264D8AAB058}"/>
              </a:ext>
            </a:extLst>
          </p:cNvPr>
          <p:cNvSpPr>
            <a:spLocks noGrp="1"/>
          </p:cNvSpPr>
          <p:nvPr>
            <p:ph type="sldNum" sz="quarter" idx="12"/>
          </p:nvPr>
        </p:nvSpPr>
        <p:spPr/>
        <p:txBody>
          <a:bodyPr/>
          <a:lstStyle/>
          <a:p>
            <a:fld id="{E97799C9-84D9-46D2-A11E-BCF8A720529D}" type="slidenum">
              <a:rPr lang="en-US" smtClean="0"/>
              <a:pPr/>
              <a:t>15</a:t>
            </a:fld>
            <a:endParaRPr lang="en-US" dirty="0"/>
          </a:p>
        </p:txBody>
      </p:sp>
      <p:pic>
        <p:nvPicPr>
          <p:cNvPr id="9" name="Picture 8"/>
          <p:cNvPicPr/>
          <p:nvPr/>
        </p:nvPicPr>
        <p:blipFill>
          <a:blip r:embed="rId3"/>
          <a:srcRect/>
          <a:stretch>
            <a:fillRect/>
          </a:stretch>
        </p:blipFill>
        <p:spPr bwMode="auto">
          <a:xfrm>
            <a:off x="609600" y="1200150"/>
            <a:ext cx="7696200" cy="3141000"/>
          </a:xfrm>
          <a:prstGeom prst="rect">
            <a:avLst/>
          </a:prstGeom>
          <a:noFill/>
        </p:spPr>
      </p:pic>
      <p:sp>
        <p:nvSpPr>
          <p:cNvPr id="10" name="TextBox 9"/>
          <p:cNvSpPr txBox="1"/>
          <p:nvPr/>
        </p:nvSpPr>
        <p:spPr>
          <a:xfrm>
            <a:off x="453766" y="4341150"/>
            <a:ext cx="8096877" cy="1454244"/>
          </a:xfrm>
          <a:prstGeom prst="rect">
            <a:avLst/>
          </a:prstGeom>
          <a:noFill/>
        </p:spPr>
        <p:txBody>
          <a:bodyPr wrap="square" lIns="68580" tIns="34290" rIns="68580" bIns="34290" rtlCol="0">
            <a:spAutoFit/>
          </a:bodyPr>
          <a:lstStyle/>
          <a:p>
            <a:r>
              <a:rPr lang="en-US" b="1" dirty="0" smtClean="0"/>
              <a:t>Source: </a:t>
            </a:r>
            <a:endParaRPr lang="en-US" dirty="0"/>
          </a:p>
          <a:p>
            <a:r>
              <a:rPr lang="en-US" sz="1600" dirty="0"/>
              <a:t>1. A Dix, Janet Finlay, G D </a:t>
            </a:r>
            <a:r>
              <a:rPr lang="en-US" sz="1600" dirty="0" err="1"/>
              <a:t>Abowd</a:t>
            </a:r>
            <a:r>
              <a:rPr lang="en-US" sz="1600" dirty="0"/>
              <a:t>, R Beale., Human-Computer Interaction, 3rd Edition, Pearson Publishers</a:t>
            </a:r>
            <a:r>
              <a:rPr lang="en-US" sz="1600" dirty="0" smtClean="0"/>
              <a:t>, 2008</a:t>
            </a:r>
            <a:r>
              <a:rPr lang="en-US" dirty="0"/>
              <a:t>. </a:t>
            </a:r>
          </a:p>
          <a:p>
            <a:r>
              <a:rPr lang="en-US" dirty="0"/>
              <a:t>	</a:t>
            </a:r>
          </a:p>
          <a:p>
            <a:endParaRPr lang="en-US" b="1" dirty="0"/>
          </a:p>
        </p:txBody>
      </p:sp>
    </p:spTree>
    <p:extLst>
      <p:ext uri="{BB962C8B-B14F-4D97-AF65-F5344CB8AC3E}">
        <p14:creationId xmlns="" xmlns:p14="http://schemas.microsoft.com/office/powerpoint/2010/main" val="2411524302"/>
      </p:ext>
    </p:extLst>
  </p:cSld>
  <p:clrMapOvr>
    <a:masterClrMapping/>
  </p:clrMapOvr>
  <p:transition spd="slow">
    <p:wip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4995C78-B1AE-4743-B2A0-982033A431CF}"/>
              </a:ext>
            </a:extLst>
          </p:cNvPr>
          <p:cNvSpPr>
            <a:spLocks noGrp="1"/>
          </p:cNvSpPr>
          <p:nvPr>
            <p:ph type="title"/>
          </p:nvPr>
        </p:nvSpPr>
        <p:spPr>
          <a:xfrm>
            <a:off x="396900" y="361950"/>
            <a:ext cx="7315200" cy="865573"/>
          </a:xfrm>
        </p:spPr>
        <p:txBody>
          <a:bodyPr>
            <a:normAutofit fontScale="90000"/>
          </a:bodyPr>
          <a:lstStyle/>
          <a:p>
            <a:r>
              <a:rPr lang="en-US" b="1" dirty="0"/>
              <a:t>The capabilities and limitations of visual processing</a:t>
            </a:r>
            <a:endParaRPr lang="en-US" dirty="0"/>
          </a:p>
        </p:txBody>
      </p:sp>
      <p:sp>
        <p:nvSpPr>
          <p:cNvPr id="5" name="Slide Number Placeholder 4">
            <a:extLst>
              <a:ext uri="{FF2B5EF4-FFF2-40B4-BE49-F238E27FC236}">
                <a16:creationId xmlns="" xmlns:a16="http://schemas.microsoft.com/office/drawing/2014/main" id="{B9707B2E-9D36-BF4F-9C26-F264D8AAB058}"/>
              </a:ext>
            </a:extLst>
          </p:cNvPr>
          <p:cNvSpPr>
            <a:spLocks noGrp="1"/>
          </p:cNvSpPr>
          <p:nvPr>
            <p:ph type="sldNum" sz="quarter" idx="12"/>
          </p:nvPr>
        </p:nvSpPr>
        <p:spPr/>
        <p:txBody>
          <a:bodyPr/>
          <a:lstStyle/>
          <a:p>
            <a:fld id="{E97799C9-84D9-46D2-A11E-BCF8A720529D}" type="slidenum">
              <a:rPr lang="en-US" smtClean="0"/>
              <a:pPr/>
              <a:t>16</a:t>
            </a:fld>
            <a:endParaRPr lang="en-US" dirty="0"/>
          </a:p>
        </p:txBody>
      </p:sp>
      <p:pic>
        <p:nvPicPr>
          <p:cNvPr id="7" name="Content Placeholder 6"/>
          <p:cNvPicPr>
            <a:picLocks noGrp="1"/>
          </p:cNvPicPr>
          <p:nvPr>
            <p:ph idx="1"/>
          </p:nvPr>
        </p:nvPicPr>
        <p:blipFill>
          <a:blip r:embed="rId2"/>
          <a:srcRect/>
          <a:stretch>
            <a:fillRect/>
          </a:stretch>
        </p:blipFill>
        <p:spPr bwMode="auto">
          <a:xfrm>
            <a:off x="678555" y="1504950"/>
            <a:ext cx="7200900" cy="1371600"/>
          </a:xfrm>
          <a:prstGeom prst="rect">
            <a:avLst/>
          </a:prstGeom>
          <a:noFill/>
        </p:spPr>
      </p:pic>
      <p:sp>
        <p:nvSpPr>
          <p:cNvPr id="8" name="TextBox 7"/>
          <p:cNvSpPr txBox="1"/>
          <p:nvPr/>
        </p:nvSpPr>
        <p:spPr>
          <a:xfrm>
            <a:off x="5410200" y="3097366"/>
            <a:ext cx="8096877" cy="1608133"/>
          </a:xfrm>
          <a:prstGeom prst="rect">
            <a:avLst/>
          </a:prstGeom>
          <a:noFill/>
        </p:spPr>
        <p:txBody>
          <a:bodyPr wrap="square" lIns="68580" tIns="34290" rIns="68580" bIns="34290" rtlCol="0">
            <a:spAutoFit/>
          </a:bodyPr>
          <a:lstStyle/>
          <a:p>
            <a:r>
              <a:rPr lang="en-US" sz="1600" b="1" dirty="0" smtClean="0"/>
              <a:t>Source: </a:t>
            </a:r>
            <a:endParaRPr lang="en-US" sz="1600" dirty="0"/>
          </a:p>
          <a:p>
            <a:pPr marL="342900" indent="-342900">
              <a:buAutoNum type="arabicPeriod"/>
            </a:pPr>
            <a:r>
              <a:rPr lang="en-US" sz="1600" dirty="0" smtClean="0"/>
              <a:t>A </a:t>
            </a:r>
            <a:r>
              <a:rPr lang="en-US" sz="1600" dirty="0"/>
              <a:t>Dix, Janet Finlay, G D </a:t>
            </a:r>
            <a:r>
              <a:rPr lang="en-US" sz="1600" dirty="0" err="1"/>
              <a:t>Abowd</a:t>
            </a:r>
            <a:r>
              <a:rPr lang="en-US" sz="1600" dirty="0"/>
              <a:t>, </a:t>
            </a:r>
            <a:endParaRPr lang="en-US" sz="1600" dirty="0" smtClean="0"/>
          </a:p>
          <a:p>
            <a:r>
              <a:rPr lang="en-US" sz="1600" dirty="0" smtClean="0"/>
              <a:t>R </a:t>
            </a:r>
            <a:r>
              <a:rPr lang="en-US" sz="1600" dirty="0"/>
              <a:t>Beale., Human-Computer Interaction, </a:t>
            </a:r>
            <a:endParaRPr lang="en-US" sz="1600" dirty="0" smtClean="0"/>
          </a:p>
          <a:p>
            <a:r>
              <a:rPr lang="en-US" sz="1600" dirty="0" smtClean="0"/>
              <a:t>3rd </a:t>
            </a:r>
            <a:r>
              <a:rPr lang="en-US" sz="1600" dirty="0"/>
              <a:t>Edition, Pearson Publishers</a:t>
            </a:r>
            <a:r>
              <a:rPr lang="en-US" sz="1600" dirty="0" smtClean="0"/>
              <a:t>, 2008</a:t>
            </a:r>
            <a:r>
              <a:rPr lang="en-US" sz="1600" dirty="0"/>
              <a:t>. </a:t>
            </a:r>
          </a:p>
          <a:p>
            <a:r>
              <a:rPr lang="en-US" dirty="0"/>
              <a:t>	</a:t>
            </a:r>
          </a:p>
          <a:p>
            <a:endParaRPr lang="en-US" b="1" dirty="0"/>
          </a:p>
        </p:txBody>
      </p:sp>
      <p:pic>
        <p:nvPicPr>
          <p:cNvPr id="9" name="Picture 8"/>
          <p:cNvPicPr/>
          <p:nvPr/>
        </p:nvPicPr>
        <p:blipFill>
          <a:blip r:embed="rId3"/>
          <a:srcRect/>
          <a:stretch>
            <a:fillRect/>
          </a:stretch>
        </p:blipFill>
        <p:spPr bwMode="auto">
          <a:xfrm>
            <a:off x="685800" y="3181350"/>
            <a:ext cx="4559121" cy="1286276"/>
          </a:xfrm>
          <a:prstGeom prst="rect">
            <a:avLst/>
          </a:prstGeom>
          <a:noFill/>
          <a:ln w="9525">
            <a:noFill/>
            <a:miter lim="800000"/>
            <a:headEnd/>
            <a:tailEnd/>
          </a:ln>
        </p:spPr>
      </p:pic>
    </p:spTree>
    <p:extLst>
      <p:ext uri="{BB962C8B-B14F-4D97-AF65-F5344CB8AC3E}">
        <p14:creationId xmlns="" xmlns:p14="http://schemas.microsoft.com/office/powerpoint/2010/main" val="611911027"/>
      </p:ext>
    </p:extLst>
  </p:cSld>
  <p:clrMapOvr>
    <a:masterClrMapping/>
  </p:clrMapOvr>
  <p:transition spd="slow">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4995C78-B1AE-4743-B2A0-982033A431CF}"/>
              </a:ext>
            </a:extLst>
          </p:cNvPr>
          <p:cNvSpPr>
            <a:spLocks noGrp="1"/>
          </p:cNvSpPr>
          <p:nvPr>
            <p:ph type="title"/>
          </p:nvPr>
        </p:nvSpPr>
        <p:spPr>
          <a:xfrm>
            <a:off x="304800" y="133351"/>
            <a:ext cx="7315200" cy="609600"/>
          </a:xfrm>
        </p:spPr>
        <p:txBody>
          <a:bodyPr>
            <a:normAutofit fontScale="90000"/>
          </a:bodyPr>
          <a:lstStyle/>
          <a:p>
            <a:r>
              <a:rPr lang="en-US" dirty="0" smtClean="0"/>
              <a:t>Other input–output </a:t>
            </a:r>
            <a:r>
              <a:rPr lang="en-US" dirty="0"/>
              <a:t>channels</a:t>
            </a:r>
          </a:p>
        </p:txBody>
      </p:sp>
      <p:sp>
        <p:nvSpPr>
          <p:cNvPr id="3" name="Content Placeholder 2">
            <a:extLst>
              <a:ext uri="{FF2B5EF4-FFF2-40B4-BE49-F238E27FC236}">
                <a16:creationId xmlns="" xmlns:a16="http://schemas.microsoft.com/office/drawing/2014/main" id="{FACE180C-9E20-D146-9581-27C3793A1596}"/>
              </a:ext>
            </a:extLst>
          </p:cNvPr>
          <p:cNvSpPr>
            <a:spLocks noGrp="1"/>
          </p:cNvSpPr>
          <p:nvPr>
            <p:ph idx="1"/>
          </p:nvPr>
        </p:nvSpPr>
        <p:spPr>
          <a:xfrm>
            <a:off x="533401" y="895350"/>
            <a:ext cx="7639048" cy="3886199"/>
          </a:xfrm>
        </p:spPr>
        <p:txBody>
          <a:bodyPr>
            <a:normAutofit lnSpcReduction="10000"/>
          </a:bodyPr>
          <a:lstStyle/>
          <a:p>
            <a:r>
              <a:rPr lang="en-US" b="1" dirty="0" smtClean="0"/>
              <a:t>Hearing</a:t>
            </a:r>
          </a:p>
          <a:p>
            <a:pPr lvl="1"/>
            <a:r>
              <a:rPr lang="en-US" dirty="0"/>
              <a:t>The sense of hearing is often considered secondary to </a:t>
            </a:r>
            <a:r>
              <a:rPr lang="en-US" dirty="0" smtClean="0"/>
              <a:t>sight.</a:t>
            </a:r>
            <a:endParaRPr lang="en-US" dirty="0"/>
          </a:p>
          <a:p>
            <a:pPr algn="just"/>
            <a:r>
              <a:rPr lang="en-US" b="1" dirty="0"/>
              <a:t>Processing </a:t>
            </a:r>
            <a:r>
              <a:rPr lang="en-US" b="1" dirty="0" smtClean="0"/>
              <a:t>sound</a:t>
            </a:r>
          </a:p>
          <a:p>
            <a:pPr lvl="1" algn="just"/>
            <a:r>
              <a:rPr lang="en-US" dirty="0"/>
              <a:t>Processing sound has a number of characteristics which we can </a:t>
            </a:r>
            <a:r>
              <a:rPr lang="en-US" dirty="0" smtClean="0"/>
              <a:t>differentiate.</a:t>
            </a:r>
          </a:p>
          <a:p>
            <a:pPr lvl="2" algn="just"/>
            <a:r>
              <a:rPr lang="en-US" dirty="0" smtClean="0"/>
              <a:t>Pitch, Loudness, Timbre and sound’s location</a:t>
            </a:r>
            <a:endParaRPr lang="en-US" dirty="0"/>
          </a:p>
          <a:p>
            <a:pPr algn="just"/>
            <a:r>
              <a:rPr lang="en-US" b="1" dirty="0" smtClean="0"/>
              <a:t>Touch</a:t>
            </a:r>
          </a:p>
          <a:p>
            <a:pPr lvl="1" algn="just"/>
            <a:r>
              <a:rPr lang="en-US" dirty="0"/>
              <a:t>Touch provides us with vital information about our environment. It tells us when we touch something hot or cold, and can therefore act as a warning. </a:t>
            </a:r>
          </a:p>
          <a:p>
            <a:pPr algn="just"/>
            <a:r>
              <a:rPr lang="en-US" b="1" dirty="0" smtClean="0"/>
              <a:t>Movement</a:t>
            </a:r>
          </a:p>
          <a:p>
            <a:pPr lvl="1" algn="just"/>
            <a:r>
              <a:rPr lang="en-US" dirty="0"/>
              <a:t>A simple action such as hitting a button in response to a question involves a number of processing stages. </a:t>
            </a:r>
          </a:p>
          <a:p>
            <a:pPr algn="just"/>
            <a:endParaRPr lang="en-US" dirty="0"/>
          </a:p>
        </p:txBody>
      </p:sp>
      <p:sp>
        <p:nvSpPr>
          <p:cNvPr id="5" name="Slide Number Placeholder 4">
            <a:extLst>
              <a:ext uri="{FF2B5EF4-FFF2-40B4-BE49-F238E27FC236}">
                <a16:creationId xmlns="" xmlns:a16="http://schemas.microsoft.com/office/drawing/2014/main" id="{B9707B2E-9D36-BF4F-9C26-F264D8AAB058}"/>
              </a:ext>
            </a:extLst>
          </p:cNvPr>
          <p:cNvSpPr>
            <a:spLocks noGrp="1"/>
          </p:cNvSpPr>
          <p:nvPr>
            <p:ph type="sldNum" sz="quarter" idx="12"/>
          </p:nvPr>
        </p:nvSpPr>
        <p:spPr/>
        <p:txBody>
          <a:bodyPr/>
          <a:lstStyle/>
          <a:p>
            <a:fld id="{E97799C9-84D9-46D2-A11E-BCF8A720529D}" type="slidenum">
              <a:rPr lang="en-US" smtClean="0"/>
              <a:pPr/>
              <a:t>17</a:t>
            </a:fld>
            <a:endParaRPr lang="en-US" dirty="0"/>
          </a:p>
        </p:txBody>
      </p:sp>
    </p:spTree>
    <p:extLst>
      <p:ext uri="{BB962C8B-B14F-4D97-AF65-F5344CB8AC3E}">
        <p14:creationId xmlns="" xmlns:p14="http://schemas.microsoft.com/office/powerpoint/2010/main" val="1790374191"/>
      </p:ext>
    </p:extLst>
  </p:cSld>
  <p:clrMapOvr>
    <a:masterClrMapping/>
  </p:clrMapOvr>
  <p:transition spd="slow">
    <p:wip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361950"/>
            <a:ext cx="7315200" cy="865573"/>
          </a:xfrm>
        </p:spPr>
        <p:txBody>
          <a:bodyPr/>
          <a:lstStyle/>
          <a:p>
            <a:r>
              <a:rPr lang="en-US" dirty="0"/>
              <a:t>HUMAN MEMORY</a:t>
            </a:r>
          </a:p>
        </p:txBody>
      </p:sp>
      <p:sp>
        <p:nvSpPr>
          <p:cNvPr id="3" name="Content Placeholder 2"/>
          <p:cNvSpPr>
            <a:spLocks noGrp="1"/>
          </p:cNvSpPr>
          <p:nvPr>
            <p:ph idx="1"/>
          </p:nvPr>
        </p:nvSpPr>
        <p:spPr>
          <a:xfrm>
            <a:off x="838200" y="1352550"/>
            <a:ext cx="7315200" cy="2654645"/>
          </a:xfrm>
        </p:spPr>
        <p:txBody>
          <a:bodyPr>
            <a:normAutofit/>
          </a:bodyPr>
          <a:lstStyle/>
          <a:p>
            <a:r>
              <a:rPr lang="en-US" dirty="0"/>
              <a:t>Our memory contains our knowledge of actions or </a:t>
            </a:r>
            <a:r>
              <a:rPr lang="en-US" dirty="0" smtClean="0"/>
              <a:t>procedures.</a:t>
            </a:r>
          </a:p>
          <a:p>
            <a:endParaRPr lang="en-US" dirty="0" smtClean="0"/>
          </a:p>
          <a:p>
            <a:endParaRPr lang="en-US" dirty="0"/>
          </a:p>
          <a:p>
            <a:endParaRPr lang="en-US" dirty="0" smtClean="0"/>
          </a:p>
          <a:p>
            <a:endParaRPr lang="en-US" dirty="0"/>
          </a:p>
          <a:p>
            <a:endParaRPr lang="en-US" dirty="0" smtClean="0"/>
          </a:p>
          <a:p>
            <a:pPr marL="0" indent="0">
              <a:buNone/>
            </a:pPr>
            <a:r>
              <a:rPr lang="en-US" dirty="0" smtClean="0"/>
              <a:t>                                          A </a:t>
            </a:r>
            <a:r>
              <a:rPr lang="en-US" dirty="0"/>
              <a:t>model of the structure of </a:t>
            </a:r>
            <a:r>
              <a:rPr lang="en-US" dirty="0" smtClean="0"/>
              <a:t>memory</a:t>
            </a:r>
          </a:p>
          <a:p>
            <a:pPr marL="0" indent="0">
              <a:buNone/>
            </a:pPr>
            <a:endParaRPr lang="en-US" dirty="0"/>
          </a:p>
          <a:p>
            <a:endParaRPr lang="en-US" dirty="0"/>
          </a:p>
        </p:txBody>
      </p:sp>
      <p:sp>
        <p:nvSpPr>
          <p:cNvPr id="5" name="Slide Number Placeholder 4"/>
          <p:cNvSpPr>
            <a:spLocks noGrp="1"/>
          </p:cNvSpPr>
          <p:nvPr>
            <p:ph type="sldNum" sz="quarter" idx="12"/>
          </p:nvPr>
        </p:nvSpPr>
        <p:spPr/>
        <p:txBody>
          <a:bodyPr/>
          <a:lstStyle/>
          <a:p>
            <a:fld id="{E97799C9-84D9-46D2-A11E-BCF8A720529D}" type="slidenum">
              <a:rPr lang="en-US" smtClean="0"/>
              <a:pPr/>
              <a:t>18</a:t>
            </a:fld>
            <a:endParaRPr lang="en-US" dirty="0"/>
          </a:p>
        </p:txBody>
      </p:sp>
      <p:pic>
        <p:nvPicPr>
          <p:cNvPr id="8" name="Picture 7"/>
          <p:cNvPicPr/>
          <p:nvPr/>
        </p:nvPicPr>
        <p:blipFill>
          <a:blip r:embed="rId2"/>
          <a:srcRect b="71071"/>
          <a:stretch>
            <a:fillRect/>
          </a:stretch>
        </p:blipFill>
        <p:spPr bwMode="auto">
          <a:xfrm>
            <a:off x="1143000" y="1885950"/>
            <a:ext cx="6539247" cy="1497169"/>
          </a:xfrm>
          <a:prstGeom prst="rect">
            <a:avLst/>
          </a:prstGeom>
          <a:noFill/>
        </p:spPr>
      </p:pic>
      <p:sp>
        <p:nvSpPr>
          <p:cNvPr id="10" name="TextBox 9"/>
          <p:cNvSpPr txBox="1"/>
          <p:nvPr/>
        </p:nvSpPr>
        <p:spPr>
          <a:xfrm>
            <a:off x="1137" y="3999735"/>
            <a:ext cx="3351663" cy="1608133"/>
          </a:xfrm>
          <a:prstGeom prst="rect">
            <a:avLst/>
          </a:prstGeom>
          <a:noFill/>
        </p:spPr>
        <p:txBody>
          <a:bodyPr wrap="square" lIns="68580" tIns="34290" rIns="68580" bIns="34290" rtlCol="0">
            <a:spAutoFit/>
          </a:bodyPr>
          <a:lstStyle/>
          <a:p>
            <a:r>
              <a:rPr lang="en-US" sz="1600" b="1" dirty="0" smtClean="0"/>
              <a:t>Source:  </a:t>
            </a:r>
            <a:r>
              <a:rPr lang="en-US" sz="1600" dirty="0" smtClean="0"/>
              <a:t>A </a:t>
            </a:r>
            <a:r>
              <a:rPr lang="en-US" sz="1600" dirty="0"/>
              <a:t>Dix, Janet Finlay, G D </a:t>
            </a:r>
            <a:r>
              <a:rPr lang="en-US" sz="1600" dirty="0" err="1"/>
              <a:t>Abowd</a:t>
            </a:r>
            <a:r>
              <a:rPr lang="en-US" sz="1600" dirty="0"/>
              <a:t>, R Beale., </a:t>
            </a:r>
            <a:r>
              <a:rPr lang="en-US" sz="1600" dirty="0" smtClean="0"/>
              <a:t>Human-computer </a:t>
            </a:r>
            <a:r>
              <a:rPr lang="en-US" sz="1600" dirty="0"/>
              <a:t>Interaction, </a:t>
            </a:r>
            <a:endParaRPr lang="en-US" sz="1600" dirty="0" smtClean="0"/>
          </a:p>
          <a:p>
            <a:r>
              <a:rPr lang="en-US" sz="1600" dirty="0" smtClean="0"/>
              <a:t>3rd </a:t>
            </a:r>
            <a:r>
              <a:rPr lang="en-US" sz="1600" dirty="0"/>
              <a:t>Edition, Pearson Publishers</a:t>
            </a:r>
            <a:r>
              <a:rPr lang="en-US" sz="1600" dirty="0" smtClean="0"/>
              <a:t>, 2008</a:t>
            </a:r>
            <a:r>
              <a:rPr lang="en-US" sz="1600" dirty="0"/>
              <a:t>. </a:t>
            </a:r>
          </a:p>
          <a:p>
            <a:r>
              <a:rPr lang="en-US" dirty="0"/>
              <a:t>	</a:t>
            </a:r>
          </a:p>
          <a:p>
            <a:endParaRPr lang="en-US" b="1" dirty="0"/>
          </a:p>
        </p:txBody>
      </p:sp>
    </p:spTree>
    <p:extLst>
      <p:ext uri="{BB962C8B-B14F-4D97-AF65-F5344CB8AC3E}">
        <p14:creationId xmlns="" xmlns:p14="http://schemas.microsoft.com/office/powerpoint/2010/main" val="1752783531"/>
      </p:ext>
    </p:extLst>
  </p:cSld>
  <p:clrMapOvr>
    <a:masterClrMapping/>
  </p:clrMapOvr>
  <p:transition spd="slow">
    <p:wip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Sensory </a:t>
            </a:r>
            <a:r>
              <a:rPr lang="en-US" b="1" dirty="0"/>
              <a:t>memory</a:t>
            </a:r>
            <a:r>
              <a:rPr lang="en-US" dirty="0"/>
              <a:t/>
            </a:r>
            <a:br>
              <a:rPr lang="en-US" dirty="0"/>
            </a:br>
            <a:endParaRPr lang="en-US" dirty="0"/>
          </a:p>
        </p:txBody>
      </p:sp>
      <p:sp>
        <p:nvSpPr>
          <p:cNvPr id="3" name="Content Placeholder 2"/>
          <p:cNvSpPr>
            <a:spLocks noGrp="1"/>
          </p:cNvSpPr>
          <p:nvPr>
            <p:ph idx="1"/>
          </p:nvPr>
        </p:nvSpPr>
        <p:spPr>
          <a:xfrm>
            <a:off x="914400" y="1581151"/>
            <a:ext cx="7315200" cy="3150870"/>
          </a:xfrm>
        </p:spPr>
        <p:txBody>
          <a:bodyPr>
            <a:normAutofit fontScale="92500"/>
          </a:bodyPr>
          <a:lstStyle/>
          <a:p>
            <a:pPr lvl="1" algn="just"/>
            <a:r>
              <a:rPr lang="en-US" sz="2400" dirty="0"/>
              <a:t>The sensory memories act as buffers for stimuli received through the senses.</a:t>
            </a:r>
          </a:p>
          <a:p>
            <a:pPr lvl="1" algn="just"/>
            <a:r>
              <a:rPr lang="en-US" sz="2400" dirty="0"/>
              <a:t>A sensory memory exists for each sensory channel: iconic memory for visual stimuli, echoic </a:t>
            </a:r>
            <a:r>
              <a:rPr lang="en-US" sz="2400" dirty="0" smtClean="0"/>
              <a:t>memory (sound) </a:t>
            </a:r>
            <a:r>
              <a:rPr lang="en-US" sz="2400" dirty="0"/>
              <a:t>for aural stimuli and haptic memory for touch. </a:t>
            </a:r>
          </a:p>
          <a:p>
            <a:pPr lvl="1" algn="just"/>
            <a:r>
              <a:rPr lang="en-US" sz="2400" dirty="0"/>
              <a:t>These memories are constantly overwritten by new information coming in on these </a:t>
            </a:r>
            <a:r>
              <a:rPr lang="en-US" sz="2400" dirty="0" smtClean="0"/>
              <a:t>channels.</a:t>
            </a:r>
          </a:p>
          <a:p>
            <a:pPr lvl="1" algn="just"/>
            <a:r>
              <a:rPr lang="en-US" sz="2400" dirty="0" smtClean="0"/>
              <a:t>the average person can remember 7 ±2 digits</a:t>
            </a:r>
            <a:endParaRPr lang="en-US" sz="2400" dirty="0"/>
          </a:p>
        </p:txBody>
      </p:sp>
      <p:sp>
        <p:nvSpPr>
          <p:cNvPr id="5" name="Slide Number Placeholder 4"/>
          <p:cNvSpPr>
            <a:spLocks noGrp="1"/>
          </p:cNvSpPr>
          <p:nvPr>
            <p:ph type="sldNum" sz="quarter" idx="12"/>
          </p:nvPr>
        </p:nvSpPr>
        <p:spPr/>
        <p:txBody>
          <a:bodyPr/>
          <a:lstStyle/>
          <a:p>
            <a:fld id="{E97799C9-84D9-46D2-A11E-BCF8A720529D}" type="slidenum">
              <a:rPr lang="en-US" smtClean="0"/>
              <a:pPr/>
              <a:t>19</a:t>
            </a:fld>
            <a:endParaRPr lang="en-US" dirty="0"/>
          </a:p>
        </p:txBody>
      </p:sp>
    </p:spTree>
    <p:extLst>
      <p:ext uri="{BB962C8B-B14F-4D97-AF65-F5344CB8AC3E}">
        <p14:creationId xmlns="" xmlns:p14="http://schemas.microsoft.com/office/powerpoint/2010/main" val="1811097880"/>
      </p:ext>
    </p:extLst>
  </p:cSld>
  <p:clrMapOvr>
    <a:masterClrMapping/>
  </p:clrMapOvr>
  <p:transition spd="slow">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7315200" cy="1433560"/>
          </a:xfrm>
        </p:spPr>
        <p:txBody>
          <a:bodyPr>
            <a:normAutofit fontScale="90000"/>
          </a:bodyPr>
          <a:lstStyle/>
          <a:p>
            <a:r>
              <a:rPr lang="en-US" b="1" dirty="0" smtClean="0"/>
              <a:t/>
            </a:r>
            <a:br>
              <a:rPr lang="en-US" b="1" dirty="0" smtClean="0"/>
            </a:br>
            <a:r>
              <a:rPr lang="en-US" dirty="0" smtClean="0"/>
              <a:t>Short-term </a:t>
            </a:r>
            <a:r>
              <a:rPr lang="en-US" dirty="0"/>
              <a:t>memory</a:t>
            </a:r>
            <a:br>
              <a:rPr lang="en-US" dirty="0"/>
            </a:br>
            <a:endParaRPr lang="en-US" dirty="0"/>
          </a:p>
        </p:txBody>
      </p:sp>
      <p:sp>
        <p:nvSpPr>
          <p:cNvPr id="3" name="Content Placeholder 2"/>
          <p:cNvSpPr>
            <a:spLocks noGrp="1"/>
          </p:cNvSpPr>
          <p:nvPr>
            <p:ph idx="1"/>
          </p:nvPr>
        </p:nvSpPr>
        <p:spPr>
          <a:xfrm>
            <a:off x="971551" y="895350"/>
            <a:ext cx="7419414" cy="3511551"/>
          </a:xfrm>
        </p:spPr>
        <p:txBody>
          <a:bodyPr>
            <a:normAutofit/>
          </a:bodyPr>
          <a:lstStyle/>
          <a:p>
            <a:r>
              <a:rPr lang="en-US" dirty="0"/>
              <a:t>Short-term memory or working memory acts as a scratch-pad‘ for temporary recall of </a:t>
            </a:r>
            <a:r>
              <a:rPr lang="en-US" dirty="0" smtClean="0"/>
              <a:t>information. It </a:t>
            </a:r>
            <a:r>
              <a:rPr lang="en-US" dirty="0"/>
              <a:t>is used to store information which is only required </a:t>
            </a:r>
            <a:r>
              <a:rPr lang="en-US" dirty="0" smtClean="0"/>
              <a:t>quickly</a:t>
            </a:r>
          </a:p>
          <a:p>
            <a:endParaRPr lang="en-US" sz="1800" dirty="0"/>
          </a:p>
        </p:txBody>
      </p:sp>
      <p:sp>
        <p:nvSpPr>
          <p:cNvPr id="5" name="Slide Number Placeholder 4"/>
          <p:cNvSpPr>
            <a:spLocks noGrp="1"/>
          </p:cNvSpPr>
          <p:nvPr>
            <p:ph type="sldNum" sz="quarter" idx="12"/>
          </p:nvPr>
        </p:nvSpPr>
        <p:spPr/>
        <p:txBody>
          <a:bodyPr/>
          <a:lstStyle/>
          <a:p>
            <a:fld id="{E97799C9-84D9-46D2-A11E-BCF8A720529D}" type="slidenum">
              <a:rPr lang="en-US" smtClean="0"/>
              <a:pPr/>
              <a:t>20</a:t>
            </a:fld>
            <a:endParaRPr lang="en-US" dirty="0"/>
          </a:p>
        </p:txBody>
      </p:sp>
      <p:pic>
        <p:nvPicPr>
          <p:cNvPr id="9" name="Picture 8"/>
          <p:cNvPicPr/>
          <p:nvPr/>
        </p:nvPicPr>
        <p:blipFill>
          <a:blip r:embed="rId2">
            <a:clrChange>
              <a:clrFrom>
                <a:srgbClr val="FFFFFF"/>
              </a:clrFrom>
              <a:clrTo>
                <a:srgbClr val="FFFFFF">
                  <a:alpha val="0"/>
                </a:srgbClr>
              </a:clrTo>
            </a:clrChange>
          </a:blip>
          <a:srcRect/>
          <a:stretch>
            <a:fillRect/>
          </a:stretch>
        </p:blipFill>
        <p:spPr bwMode="auto">
          <a:xfrm>
            <a:off x="304800" y="1885950"/>
            <a:ext cx="5729666" cy="3124199"/>
          </a:xfrm>
          <a:prstGeom prst="rect">
            <a:avLst/>
          </a:prstGeom>
          <a:noFill/>
          <a:ln>
            <a:solidFill>
              <a:schemeClr val="tx1"/>
            </a:solidFill>
          </a:ln>
          <a:effectLst>
            <a:outerShdw blurRad="50800" dist="50800" dir="5400000" algn="ctr" rotWithShape="0">
              <a:schemeClr val="tx1"/>
            </a:outerShdw>
          </a:effectLst>
        </p:spPr>
      </p:pic>
      <p:sp>
        <p:nvSpPr>
          <p:cNvPr id="10" name="TextBox 9"/>
          <p:cNvSpPr txBox="1"/>
          <p:nvPr/>
        </p:nvSpPr>
        <p:spPr>
          <a:xfrm>
            <a:off x="6034466" y="1885951"/>
            <a:ext cx="8096877" cy="1700466"/>
          </a:xfrm>
          <a:prstGeom prst="rect">
            <a:avLst/>
          </a:prstGeom>
          <a:noFill/>
        </p:spPr>
        <p:txBody>
          <a:bodyPr wrap="square" lIns="68580" tIns="34290" rIns="68580" bIns="34290" rtlCol="0">
            <a:spAutoFit/>
          </a:bodyPr>
          <a:lstStyle/>
          <a:p>
            <a:endParaRPr lang="en-US" b="1" dirty="0" smtClean="0"/>
          </a:p>
          <a:p>
            <a:r>
              <a:rPr lang="en-US" sz="1400" b="1" dirty="0" smtClean="0"/>
              <a:t>Source:  </a:t>
            </a:r>
            <a:r>
              <a:rPr lang="en-US" sz="1400" dirty="0" smtClean="0"/>
              <a:t>A </a:t>
            </a:r>
            <a:r>
              <a:rPr lang="en-US" sz="1400" dirty="0"/>
              <a:t>Dix, Janet Finlay, </a:t>
            </a:r>
            <a:endParaRPr lang="en-US" sz="1400" dirty="0" smtClean="0"/>
          </a:p>
          <a:p>
            <a:r>
              <a:rPr lang="en-US" sz="1400" dirty="0" smtClean="0"/>
              <a:t>G </a:t>
            </a:r>
            <a:r>
              <a:rPr lang="en-US" sz="1400" dirty="0"/>
              <a:t>D </a:t>
            </a:r>
            <a:r>
              <a:rPr lang="en-US" sz="1400" dirty="0" err="1"/>
              <a:t>Abowd</a:t>
            </a:r>
            <a:r>
              <a:rPr lang="en-US" sz="1400" dirty="0"/>
              <a:t>, R Beale., </a:t>
            </a:r>
            <a:r>
              <a:rPr lang="en-US" sz="1400" dirty="0" smtClean="0"/>
              <a:t>“Human-Computer</a:t>
            </a:r>
          </a:p>
          <a:p>
            <a:r>
              <a:rPr lang="en-US" sz="1400" dirty="0" smtClean="0"/>
              <a:t> Interaction”,  3rd </a:t>
            </a:r>
            <a:r>
              <a:rPr lang="en-US" sz="1400" dirty="0"/>
              <a:t>Edition, Pearson </a:t>
            </a:r>
            <a:endParaRPr lang="en-US" sz="1400" dirty="0" smtClean="0"/>
          </a:p>
          <a:p>
            <a:r>
              <a:rPr lang="en-US" sz="1400" dirty="0" smtClean="0"/>
              <a:t>Publishers, 2008</a:t>
            </a:r>
            <a:r>
              <a:rPr lang="en-US" sz="1400" dirty="0"/>
              <a:t>. </a:t>
            </a:r>
          </a:p>
          <a:p>
            <a:r>
              <a:rPr lang="en-US" sz="1400" dirty="0"/>
              <a:t>	</a:t>
            </a:r>
          </a:p>
          <a:p>
            <a:endParaRPr lang="en-US" b="1" dirty="0"/>
          </a:p>
        </p:txBody>
      </p:sp>
    </p:spTree>
    <p:extLst>
      <p:ext uri="{BB962C8B-B14F-4D97-AF65-F5344CB8AC3E}">
        <p14:creationId xmlns="" xmlns:p14="http://schemas.microsoft.com/office/powerpoint/2010/main" val="3255929568"/>
      </p:ext>
    </p:extLst>
  </p:cSld>
  <p:clrMapOvr>
    <a:masterClrMapping/>
  </p:clrMapOvr>
  <p:transition spd="slow">
    <p:wip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61950"/>
            <a:ext cx="7315200" cy="865573"/>
          </a:xfrm>
        </p:spPr>
        <p:txBody>
          <a:bodyPr>
            <a:normAutofit fontScale="90000"/>
          </a:bodyPr>
          <a:lstStyle/>
          <a:p>
            <a:r>
              <a:rPr lang="en-US" b="1" dirty="0"/>
              <a:t>Long-term memory</a:t>
            </a:r>
            <a:r>
              <a:rPr lang="en-US" dirty="0"/>
              <a:t/>
            </a:r>
            <a:br>
              <a:rPr lang="en-US" dirty="0"/>
            </a:br>
            <a:endParaRPr lang="en-US" dirty="0"/>
          </a:p>
        </p:txBody>
      </p:sp>
      <p:sp>
        <p:nvSpPr>
          <p:cNvPr id="3" name="Content Placeholder 2"/>
          <p:cNvSpPr>
            <a:spLocks noGrp="1"/>
          </p:cNvSpPr>
          <p:nvPr>
            <p:ph idx="1"/>
          </p:nvPr>
        </p:nvSpPr>
        <p:spPr>
          <a:xfrm>
            <a:off x="533400" y="971550"/>
            <a:ext cx="8077200" cy="4171949"/>
          </a:xfrm>
        </p:spPr>
        <p:txBody>
          <a:bodyPr>
            <a:normAutofit/>
          </a:bodyPr>
          <a:lstStyle/>
          <a:p>
            <a:r>
              <a:rPr lang="en-US" dirty="0"/>
              <a:t>If short-term memory is our working memory or </a:t>
            </a:r>
            <a:r>
              <a:rPr lang="en-US" dirty="0" smtClean="0"/>
              <a:t>scratch-pad, </a:t>
            </a:r>
            <a:r>
              <a:rPr lang="en-US" dirty="0"/>
              <a:t>long-term memory is our main resource. Here we store factual information, experiential knowledge, procedural rules of </a:t>
            </a:r>
            <a:r>
              <a:rPr lang="en-US" dirty="0" smtClean="0"/>
              <a:t>behavior </a:t>
            </a:r>
            <a:r>
              <a:rPr lang="en-US" dirty="0"/>
              <a:t>– in fact, everything that we </a:t>
            </a:r>
            <a:r>
              <a:rPr lang="en-US" dirty="0" smtClean="0"/>
              <a:t>know. </a:t>
            </a:r>
          </a:p>
          <a:p>
            <a:r>
              <a:rPr lang="en-US" dirty="0"/>
              <a:t>There are two types of long-term memory: </a:t>
            </a:r>
            <a:r>
              <a:rPr lang="en-US" b="1" dirty="0"/>
              <a:t>episodic memory</a:t>
            </a:r>
            <a:r>
              <a:rPr lang="en-US" dirty="0"/>
              <a:t> and </a:t>
            </a:r>
            <a:r>
              <a:rPr lang="en-US" b="1" dirty="0"/>
              <a:t>semantic </a:t>
            </a:r>
            <a:r>
              <a:rPr lang="en-US" b="1" dirty="0" smtClean="0"/>
              <a:t>memory</a:t>
            </a:r>
            <a:r>
              <a:rPr lang="en-US" dirty="0" smtClean="0"/>
              <a:t>.</a:t>
            </a:r>
          </a:p>
          <a:p>
            <a:pPr lvl="1"/>
            <a:r>
              <a:rPr lang="en-US" b="1" dirty="0"/>
              <a:t>Episodic memory</a:t>
            </a:r>
            <a:r>
              <a:rPr lang="en-US" dirty="0"/>
              <a:t> represents our memory of events and experiences in a serial form. </a:t>
            </a:r>
            <a:endParaRPr lang="en-US" dirty="0" smtClean="0"/>
          </a:p>
          <a:p>
            <a:pPr lvl="1"/>
            <a:r>
              <a:rPr lang="en-US" b="1" dirty="0" smtClean="0"/>
              <a:t>Semantic </a:t>
            </a:r>
            <a:r>
              <a:rPr lang="en-US" b="1" dirty="0"/>
              <a:t>memory</a:t>
            </a:r>
            <a:r>
              <a:rPr lang="en-US" dirty="0"/>
              <a:t>, on the other hand, is a structured record of facts, concepts and skills that we have acquired. The information in semantic memory is derived from that in our episodic memory.</a:t>
            </a:r>
          </a:p>
          <a:p>
            <a:endParaRPr lang="en-US" dirty="0"/>
          </a:p>
        </p:txBody>
      </p:sp>
      <p:sp>
        <p:nvSpPr>
          <p:cNvPr id="5" name="Slide Number Placeholder 4"/>
          <p:cNvSpPr>
            <a:spLocks noGrp="1"/>
          </p:cNvSpPr>
          <p:nvPr>
            <p:ph type="sldNum" sz="quarter" idx="12"/>
          </p:nvPr>
        </p:nvSpPr>
        <p:spPr/>
        <p:txBody>
          <a:bodyPr/>
          <a:lstStyle/>
          <a:p>
            <a:fld id="{E97799C9-84D9-46D2-A11E-BCF8A720529D}" type="slidenum">
              <a:rPr lang="en-US" smtClean="0"/>
              <a:pPr/>
              <a:t>21</a:t>
            </a:fld>
            <a:endParaRPr lang="en-US" dirty="0"/>
          </a:p>
        </p:txBody>
      </p:sp>
    </p:spTree>
    <p:extLst>
      <p:ext uri="{BB962C8B-B14F-4D97-AF65-F5344CB8AC3E}">
        <p14:creationId xmlns="" xmlns:p14="http://schemas.microsoft.com/office/powerpoint/2010/main" val="3225887226"/>
      </p:ext>
    </p:extLst>
  </p:cSld>
  <p:clrMapOvr>
    <a:masterClrMapping/>
  </p:clrMapOvr>
  <p:transition spd="slow">
    <p:wip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61950"/>
            <a:ext cx="7315200" cy="865573"/>
          </a:xfrm>
        </p:spPr>
        <p:txBody>
          <a:bodyPr>
            <a:normAutofit fontScale="90000"/>
          </a:bodyPr>
          <a:lstStyle/>
          <a:p>
            <a:r>
              <a:rPr lang="en-US" b="1" dirty="0"/>
              <a:t>Long-term </a:t>
            </a:r>
            <a:r>
              <a:rPr lang="en-US" b="1" dirty="0" smtClean="0"/>
              <a:t>memory </a:t>
            </a:r>
            <a:r>
              <a:rPr lang="en-US" dirty="0"/>
              <a:t/>
            </a:r>
            <a:br>
              <a:rPr lang="en-US" dirty="0"/>
            </a:br>
            <a:endParaRPr lang="en-US" dirty="0"/>
          </a:p>
        </p:txBody>
      </p:sp>
      <p:sp>
        <p:nvSpPr>
          <p:cNvPr id="3" name="Content Placeholder 2"/>
          <p:cNvSpPr>
            <a:spLocks noGrp="1"/>
          </p:cNvSpPr>
          <p:nvPr>
            <p:ph idx="1"/>
          </p:nvPr>
        </p:nvSpPr>
        <p:spPr>
          <a:xfrm>
            <a:off x="533400" y="742951"/>
            <a:ext cx="7696200" cy="3989070"/>
          </a:xfrm>
        </p:spPr>
        <p:txBody>
          <a:bodyPr/>
          <a:lstStyle/>
          <a:p>
            <a:r>
              <a:rPr lang="en-US" sz="3200" dirty="0" smtClean="0"/>
              <a:t>Structure of Memory representation </a:t>
            </a:r>
          </a:p>
          <a:p>
            <a:pPr lvl="1"/>
            <a:r>
              <a:rPr lang="en-US" sz="3200" dirty="0" smtClean="0"/>
              <a:t>Semantic network</a:t>
            </a:r>
          </a:p>
          <a:p>
            <a:pPr lvl="1"/>
            <a:r>
              <a:rPr lang="en-US" sz="3200" dirty="0" smtClean="0"/>
              <a:t>Frames</a:t>
            </a:r>
          </a:p>
          <a:p>
            <a:pPr lvl="1"/>
            <a:r>
              <a:rPr lang="en-US" sz="3200" dirty="0" smtClean="0"/>
              <a:t>Scripts</a:t>
            </a:r>
          </a:p>
          <a:p>
            <a:pPr marL="342900" lvl="1" indent="0">
              <a:buNone/>
            </a:pPr>
            <a:r>
              <a:rPr lang="en-US" dirty="0"/>
              <a:t/>
            </a:r>
            <a:br>
              <a:rPr lang="en-US" dirty="0"/>
            </a:br>
            <a:endParaRPr lang="en-US" dirty="0"/>
          </a:p>
        </p:txBody>
      </p:sp>
      <p:sp>
        <p:nvSpPr>
          <p:cNvPr id="5" name="Slide Number Placeholder 4"/>
          <p:cNvSpPr>
            <a:spLocks noGrp="1"/>
          </p:cNvSpPr>
          <p:nvPr>
            <p:ph type="sldNum" sz="quarter" idx="12"/>
          </p:nvPr>
        </p:nvSpPr>
        <p:spPr/>
        <p:txBody>
          <a:bodyPr/>
          <a:lstStyle/>
          <a:p>
            <a:fld id="{E97799C9-84D9-46D2-A11E-BCF8A720529D}" type="slidenum">
              <a:rPr lang="en-US" smtClean="0"/>
              <a:pPr/>
              <a:t>22</a:t>
            </a:fld>
            <a:endParaRPr lang="en-US" dirty="0"/>
          </a:p>
        </p:txBody>
      </p:sp>
    </p:spTree>
    <p:extLst>
      <p:ext uri="{BB962C8B-B14F-4D97-AF65-F5344CB8AC3E}">
        <p14:creationId xmlns="" xmlns:p14="http://schemas.microsoft.com/office/powerpoint/2010/main" val="3321641413"/>
      </p:ext>
    </p:extLst>
  </p:cSld>
  <p:clrMapOvr>
    <a:masterClrMapping/>
  </p:clrMapOvr>
  <p:transition spd="slow">
    <p:wip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493" y="384832"/>
            <a:ext cx="7315200" cy="865573"/>
          </a:xfrm>
        </p:spPr>
        <p:txBody>
          <a:bodyPr>
            <a:normAutofit fontScale="90000"/>
          </a:bodyPr>
          <a:lstStyle/>
          <a:p>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Structure </a:t>
            </a:r>
            <a:r>
              <a:rPr lang="en-US" dirty="0"/>
              <a:t>of Memory representation </a:t>
            </a:r>
            <a:br>
              <a:rPr lang="en-US" dirty="0"/>
            </a:br>
            <a:endParaRPr lang="en-US" dirty="0"/>
          </a:p>
        </p:txBody>
      </p:sp>
      <p:sp>
        <p:nvSpPr>
          <p:cNvPr id="3" name="Content Placeholder 2"/>
          <p:cNvSpPr>
            <a:spLocks noGrp="1"/>
          </p:cNvSpPr>
          <p:nvPr>
            <p:ph idx="1"/>
          </p:nvPr>
        </p:nvSpPr>
        <p:spPr>
          <a:xfrm>
            <a:off x="277167" y="742950"/>
            <a:ext cx="3304233" cy="2654645"/>
          </a:xfrm>
        </p:spPr>
        <p:txBody>
          <a:bodyPr/>
          <a:lstStyle/>
          <a:p>
            <a:pPr marL="214313" lvl="1"/>
            <a:r>
              <a:rPr lang="en-US" sz="2000" b="1" dirty="0"/>
              <a:t>Semantic </a:t>
            </a:r>
            <a:r>
              <a:rPr lang="en-US" sz="2000" b="1" dirty="0" smtClean="0"/>
              <a:t>network:</a:t>
            </a:r>
          </a:p>
          <a:p>
            <a:pPr marL="342900" lvl="2" indent="0" algn="just">
              <a:buNone/>
            </a:pPr>
            <a:r>
              <a:rPr lang="en-US" sz="2000" b="1" dirty="0" smtClean="0"/>
              <a:t>-</a:t>
            </a:r>
            <a:r>
              <a:rPr lang="en-US" sz="2000" dirty="0" smtClean="0"/>
              <a:t>Items </a:t>
            </a:r>
            <a:r>
              <a:rPr lang="en-US" sz="2000" dirty="0"/>
              <a:t>are associated to </a:t>
            </a:r>
            <a:endParaRPr lang="en-US" sz="2000" dirty="0" smtClean="0"/>
          </a:p>
          <a:p>
            <a:pPr marL="342900" lvl="2" indent="0" algn="just">
              <a:buNone/>
            </a:pPr>
            <a:r>
              <a:rPr lang="en-US" sz="2000" dirty="0" smtClean="0"/>
              <a:t>each </a:t>
            </a:r>
            <a:r>
              <a:rPr lang="en-US" sz="2000" dirty="0"/>
              <a:t>other in classes </a:t>
            </a:r>
            <a:endParaRPr lang="en-US" sz="2000" dirty="0" smtClean="0"/>
          </a:p>
          <a:p>
            <a:pPr marL="342900" lvl="2" indent="0" algn="just">
              <a:buNone/>
            </a:pPr>
            <a:r>
              <a:rPr lang="en-US" sz="2000" dirty="0" smtClean="0"/>
              <a:t>and </a:t>
            </a:r>
            <a:r>
              <a:rPr lang="en-US" sz="2000" dirty="0"/>
              <a:t>may inherit </a:t>
            </a:r>
            <a:r>
              <a:rPr lang="en-US" sz="2000" dirty="0" smtClean="0"/>
              <a:t>attributes</a:t>
            </a:r>
          </a:p>
          <a:p>
            <a:pPr marL="342900" lvl="2" indent="0" algn="just">
              <a:buNone/>
            </a:pPr>
            <a:r>
              <a:rPr lang="en-US" sz="2000" dirty="0" smtClean="0"/>
              <a:t> </a:t>
            </a:r>
            <a:r>
              <a:rPr lang="en-US" sz="2000" dirty="0"/>
              <a:t>from parent classes. </a:t>
            </a:r>
            <a:endParaRPr lang="en-US" sz="2000" dirty="0" smtClean="0"/>
          </a:p>
          <a:p>
            <a:pPr marL="342900" lvl="2" indent="0" algn="just">
              <a:buNone/>
            </a:pPr>
            <a:r>
              <a:rPr lang="en-US" sz="2000" dirty="0" smtClean="0"/>
              <a:t>This </a:t>
            </a:r>
            <a:r>
              <a:rPr lang="en-US" sz="2000" dirty="0"/>
              <a:t>model is known </a:t>
            </a:r>
            <a:r>
              <a:rPr lang="en-US" sz="2000" dirty="0" smtClean="0"/>
              <a:t>as</a:t>
            </a:r>
          </a:p>
          <a:p>
            <a:pPr marL="342900" lvl="2" indent="0" algn="just">
              <a:buNone/>
            </a:pPr>
            <a:r>
              <a:rPr lang="en-US" sz="2000" dirty="0" smtClean="0"/>
              <a:t> </a:t>
            </a:r>
            <a:r>
              <a:rPr lang="en-US" sz="2000" dirty="0"/>
              <a:t>semantic network.</a:t>
            </a:r>
          </a:p>
          <a:p>
            <a:pPr marL="214313" lvl="1"/>
            <a:endParaRPr lang="en-US" dirty="0"/>
          </a:p>
          <a:p>
            <a:endParaRPr lang="en-US" dirty="0"/>
          </a:p>
        </p:txBody>
      </p:sp>
      <p:sp>
        <p:nvSpPr>
          <p:cNvPr id="5" name="Slide Number Placeholder 4"/>
          <p:cNvSpPr>
            <a:spLocks noGrp="1"/>
          </p:cNvSpPr>
          <p:nvPr>
            <p:ph type="sldNum" sz="quarter" idx="12"/>
          </p:nvPr>
        </p:nvSpPr>
        <p:spPr/>
        <p:txBody>
          <a:bodyPr/>
          <a:lstStyle/>
          <a:p>
            <a:fld id="{E97799C9-84D9-46D2-A11E-BCF8A720529D}" type="slidenum">
              <a:rPr lang="en-US" smtClean="0"/>
              <a:pPr/>
              <a:t>23</a:t>
            </a:fld>
            <a:endParaRPr lang="en-US" dirty="0"/>
          </a:p>
        </p:txBody>
      </p:sp>
      <p:pic>
        <p:nvPicPr>
          <p:cNvPr id="6" name="Picture 5"/>
          <p:cNvPicPr/>
          <p:nvPr/>
        </p:nvPicPr>
        <p:blipFill>
          <a:blip r:embed="rId2"/>
          <a:srcRect/>
          <a:stretch>
            <a:fillRect/>
          </a:stretch>
        </p:blipFill>
        <p:spPr bwMode="auto">
          <a:xfrm>
            <a:off x="3934767" y="819150"/>
            <a:ext cx="4646054" cy="3253174"/>
          </a:xfrm>
          <a:prstGeom prst="rect">
            <a:avLst/>
          </a:prstGeom>
          <a:noFill/>
        </p:spPr>
      </p:pic>
      <p:sp>
        <p:nvSpPr>
          <p:cNvPr id="8" name="TextBox 7"/>
          <p:cNvSpPr txBox="1"/>
          <p:nvPr/>
        </p:nvSpPr>
        <p:spPr>
          <a:xfrm>
            <a:off x="13649" y="3412257"/>
            <a:ext cx="3921118" cy="1608133"/>
          </a:xfrm>
          <a:prstGeom prst="rect">
            <a:avLst/>
          </a:prstGeom>
          <a:noFill/>
        </p:spPr>
        <p:txBody>
          <a:bodyPr wrap="square" lIns="68580" tIns="34290" rIns="68580" bIns="34290" rtlCol="0">
            <a:spAutoFit/>
          </a:bodyPr>
          <a:lstStyle/>
          <a:p>
            <a:r>
              <a:rPr lang="en-US" b="1" dirty="0" smtClean="0"/>
              <a:t>Source: </a:t>
            </a:r>
            <a:endParaRPr lang="en-US" dirty="0"/>
          </a:p>
          <a:p>
            <a:r>
              <a:rPr lang="en-US" sz="1400" dirty="0"/>
              <a:t>1. A Dix, Janet Finlay, G D </a:t>
            </a:r>
            <a:r>
              <a:rPr lang="en-US" sz="1400" dirty="0" err="1"/>
              <a:t>Abowd</a:t>
            </a:r>
            <a:r>
              <a:rPr lang="en-US" sz="1400" dirty="0"/>
              <a:t>, R Beale., Human-Computer Interaction, 3rd Edition, Pearson Publishers</a:t>
            </a:r>
            <a:r>
              <a:rPr lang="en-US" sz="1400" dirty="0" smtClean="0"/>
              <a:t>, 2008</a:t>
            </a:r>
            <a:r>
              <a:rPr lang="en-US" dirty="0"/>
              <a:t>. </a:t>
            </a:r>
          </a:p>
          <a:p>
            <a:r>
              <a:rPr lang="en-US" dirty="0"/>
              <a:t>	</a:t>
            </a:r>
          </a:p>
          <a:p>
            <a:endParaRPr lang="en-US" b="1" dirty="0"/>
          </a:p>
        </p:txBody>
      </p:sp>
    </p:spTree>
    <p:extLst>
      <p:ext uri="{BB962C8B-B14F-4D97-AF65-F5344CB8AC3E}">
        <p14:creationId xmlns="" xmlns:p14="http://schemas.microsoft.com/office/powerpoint/2010/main" val="393203804"/>
      </p:ext>
    </p:extLst>
  </p:cSld>
  <p:clrMapOvr>
    <a:masterClrMapping/>
  </p:clrMapOvr>
  <p:transition spd="slow">
    <p:wip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61950"/>
            <a:ext cx="7315200" cy="865573"/>
          </a:xfrm>
        </p:spPr>
        <p:txBody>
          <a:bodyPr>
            <a:normAutofit fontScale="90000"/>
          </a:bodyPr>
          <a:lstStyle/>
          <a:p>
            <a:r>
              <a:rPr lang="en-US" dirty="0"/>
              <a:t>Structure of Memory representation </a:t>
            </a:r>
            <a:br>
              <a:rPr lang="en-US" dirty="0"/>
            </a:br>
            <a:endParaRPr lang="en-US" dirty="0"/>
          </a:p>
        </p:txBody>
      </p:sp>
      <p:sp>
        <p:nvSpPr>
          <p:cNvPr id="3" name="Content Placeholder 2"/>
          <p:cNvSpPr>
            <a:spLocks noGrp="1"/>
          </p:cNvSpPr>
          <p:nvPr>
            <p:ph idx="1"/>
          </p:nvPr>
        </p:nvSpPr>
        <p:spPr>
          <a:xfrm>
            <a:off x="914400" y="1047751"/>
            <a:ext cx="4876800" cy="3684270"/>
          </a:xfrm>
        </p:spPr>
        <p:txBody>
          <a:bodyPr/>
          <a:lstStyle/>
          <a:p>
            <a:pPr lvl="1"/>
            <a:r>
              <a:rPr lang="en-US" sz="2000" b="1" dirty="0" smtClean="0"/>
              <a:t>Frames</a:t>
            </a:r>
          </a:p>
          <a:p>
            <a:pPr marL="342900" lvl="1" indent="0">
              <a:buNone/>
            </a:pPr>
            <a:r>
              <a:rPr lang="en-US" sz="2000" b="1" dirty="0" smtClean="0"/>
              <a:t>    -Frames </a:t>
            </a:r>
            <a:r>
              <a:rPr lang="en-US" sz="2000" b="1" dirty="0"/>
              <a:t>extend semantic </a:t>
            </a:r>
            <a:r>
              <a:rPr lang="en-US" sz="2000" b="1" dirty="0" smtClean="0"/>
              <a:t>networks</a:t>
            </a:r>
          </a:p>
          <a:p>
            <a:pPr marL="342900" lvl="1" indent="0">
              <a:buNone/>
            </a:pPr>
            <a:r>
              <a:rPr lang="en-US" sz="2000" b="1" dirty="0" smtClean="0"/>
              <a:t>      to </a:t>
            </a:r>
            <a:r>
              <a:rPr lang="en-US" sz="2000" b="1" dirty="0"/>
              <a:t>include structured </a:t>
            </a:r>
            <a:r>
              <a:rPr lang="en-US" sz="2000" b="1" dirty="0" smtClean="0"/>
              <a:t>hierarchical</a:t>
            </a:r>
          </a:p>
          <a:p>
            <a:pPr marL="342900" lvl="1" indent="0">
              <a:buNone/>
            </a:pPr>
            <a:r>
              <a:rPr lang="en-US" sz="2000" b="1" dirty="0"/>
              <a:t> </a:t>
            </a:r>
            <a:r>
              <a:rPr lang="en-US" sz="2000" b="1" dirty="0" smtClean="0"/>
              <a:t>     information.</a:t>
            </a:r>
            <a:endParaRPr lang="en-US" sz="2000" dirty="0"/>
          </a:p>
          <a:p>
            <a:pPr lvl="1"/>
            <a:endParaRPr lang="en-US" sz="2000" b="1" dirty="0"/>
          </a:p>
          <a:p>
            <a:pPr lvl="1"/>
            <a:endParaRPr lang="en-US" sz="2000" dirty="0"/>
          </a:p>
          <a:p>
            <a:endParaRPr lang="en-US" dirty="0"/>
          </a:p>
        </p:txBody>
      </p:sp>
      <p:sp>
        <p:nvSpPr>
          <p:cNvPr id="5" name="Slide Number Placeholder 4"/>
          <p:cNvSpPr>
            <a:spLocks noGrp="1"/>
          </p:cNvSpPr>
          <p:nvPr>
            <p:ph type="sldNum" sz="quarter" idx="12"/>
          </p:nvPr>
        </p:nvSpPr>
        <p:spPr/>
        <p:txBody>
          <a:bodyPr/>
          <a:lstStyle/>
          <a:p>
            <a:fld id="{E97799C9-84D9-46D2-A11E-BCF8A720529D}" type="slidenum">
              <a:rPr lang="en-US" smtClean="0"/>
              <a:pPr/>
              <a:t>24</a:t>
            </a:fld>
            <a:endParaRPr lang="en-US" dirty="0"/>
          </a:p>
        </p:txBody>
      </p:sp>
      <p:pic>
        <p:nvPicPr>
          <p:cNvPr id="7" name="Picture 6"/>
          <p:cNvPicPr/>
          <p:nvPr/>
        </p:nvPicPr>
        <p:blipFill>
          <a:blip r:embed="rId2"/>
          <a:srcRect/>
          <a:stretch>
            <a:fillRect/>
          </a:stretch>
        </p:blipFill>
        <p:spPr bwMode="auto">
          <a:xfrm>
            <a:off x="5925124" y="1656942"/>
            <a:ext cx="2959418" cy="2514600"/>
          </a:xfrm>
          <a:prstGeom prst="rect">
            <a:avLst/>
          </a:prstGeom>
          <a:noFill/>
          <a:ln w="9525">
            <a:noFill/>
            <a:miter lim="800000"/>
            <a:headEnd/>
            <a:tailEnd/>
          </a:ln>
        </p:spPr>
      </p:pic>
    </p:spTree>
    <p:extLst>
      <p:ext uri="{BB962C8B-B14F-4D97-AF65-F5344CB8AC3E}">
        <p14:creationId xmlns="" xmlns:p14="http://schemas.microsoft.com/office/powerpoint/2010/main" val="448398351"/>
      </p:ext>
    </p:extLst>
  </p:cSld>
  <p:clrMapOvr>
    <a:masterClrMapping/>
  </p:clrMapOvr>
  <p:transition spd="slow">
    <p:wip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7315200" cy="865573"/>
          </a:xfrm>
        </p:spPr>
        <p:txBody>
          <a:bodyPr>
            <a:normAutofit fontScale="90000"/>
          </a:bodyPr>
          <a:lstStyle/>
          <a:p>
            <a:r>
              <a:rPr lang="en-US" dirty="0"/>
              <a:t>Structure of Memory representation </a:t>
            </a:r>
          </a:p>
        </p:txBody>
      </p:sp>
      <p:sp>
        <p:nvSpPr>
          <p:cNvPr id="3" name="Content Placeholder 2"/>
          <p:cNvSpPr>
            <a:spLocks noGrp="1"/>
          </p:cNvSpPr>
          <p:nvPr>
            <p:ph idx="1"/>
          </p:nvPr>
        </p:nvSpPr>
        <p:spPr>
          <a:xfrm>
            <a:off x="609600" y="819150"/>
            <a:ext cx="7848600" cy="4324350"/>
          </a:xfrm>
        </p:spPr>
        <p:txBody>
          <a:bodyPr>
            <a:normAutofit lnSpcReduction="10000"/>
          </a:bodyPr>
          <a:lstStyle/>
          <a:p>
            <a:r>
              <a:rPr lang="en-US" b="1" dirty="0" smtClean="0"/>
              <a:t>Scripts- </a:t>
            </a:r>
            <a:r>
              <a:rPr lang="en-US" b="1" dirty="0"/>
              <a:t>attempt to model the representation of stereotypical knowledge about </a:t>
            </a:r>
            <a:r>
              <a:rPr lang="en-US" b="1" dirty="0" smtClean="0"/>
              <a:t>situations.</a:t>
            </a:r>
          </a:p>
          <a:p>
            <a:r>
              <a:rPr lang="en-US" b="1" i="1" dirty="0" err="1"/>
              <a:t>Eg</a:t>
            </a:r>
            <a:r>
              <a:rPr lang="en-US" b="1" i="1" dirty="0" smtClean="0"/>
              <a:t>. Yesterday late night Sam came to the room. He is sleeping now I think he will not come for breakfast.</a:t>
            </a:r>
            <a:endParaRPr lang="en-US" b="1" i="1" dirty="0"/>
          </a:p>
          <a:p>
            <a:r>
              <a:rPr lang="en-US" b="1" dirty="0"/>
              <a:t> </a:t>
            </a:r>
            <a:r>
              <a:rPr lang="en-US" b="1" dirty="0" smtClean="0"/>
              <a:t>A </a:t>
            </a:r>
            <a:r>
              <a:rPr lang="en-US" b="1" dirty="0"/>
              <a:t>script consists of no. of elements</a:t>
            </a:r>
            <a:endParaRPr lang="en-US" dirty="0"/>
          </a:p>
          <a:p>
            <a:r>
              <a:rPr lang="en-US" b="1" dirty="0"/>
              <a:t>1.Entry conditions </a:t>
            </a:r>
            <a:r>
              <a:rPr lang="en-IN" b="1" dirty="0"/>
              <a:t>- </a:t>
            </a:r>
            <a:r>
              <a:rPr lang="en-IN" dirty="0"/>
              <a:t>Conditions that must be satisfied for the script to be activated.</a:t>
            </a:r>
            <a:endParaRPr lang="en-US" dirty="0"/>
          </a:p>
          <a:p>
            <a:r>
              <a:rPr lang="en-IN" b="1" dirty="0"/>
              <a:t>2.Result -</a:t>
            </a:r>
            <a:r>
              <a:rPr lang="en-IN" dirty="0"/>
              <a:t>Conditions that will be true after the script is terminated.</a:t>
            </a:r>
            <a:endParaRPr lang="en-US" dirty="0"/>
          </a:p>
          <a:p>
            <a:r>
              <a:rPr lang="en-IN" b="1" dirty="0"/>
              <a:t>3.Props -</a:t>
            </a:r>
            <a:r>
              <a:rPr lang="en-IN" dirty="0"/>
              <a:t>Objects involved in the events described in the script.</a:t>
            </a:r>
            <a:endParaRPr lang="en-US" dirty="0"/>
          </a:p>
          <a:p>
            <a:r>
              <a:rPr lang="en-IN" b="1" dirty="0"/>
              <a:t>4.Roles -</a:t>
            </a:r>
            <a:r>
              <a:rPr lang="en-IN" dirty="0"/>
              <a:t>Actions performed by particular participants.</a:t>
            </a:r>
            <a:endParaRPr lang="en-US" dirty="0"/>
          </a:p>
          <a:p>
            <a:r>
              <a:rPr lang="en-IN" b="1" dirty="0"/>
              <a:t>5.Scenes- </a:t>
            </a:r>
            <a:r>
              <a:rPr lang="en-IN" dirty="0"/>
              <a:t>The sequences of events that occur.</a:t>
            </a:r>
            <a:endParaRPr lang="en-US" dirty="0"/>
          </a:p>
          <a:p>
            <a:r>
              <a:rPr lang="en-IN" b="1" dirty="0"/>
              <a:t>6.Tracks -</a:t>
            </a:r>
            <a:r>
              <a:rPr lang="en-IN" dirty="0"/>
              <a:t>A variation on the general pattern representing an alternative scenario.</a:t>
            </a:r>
            <a:endParaRPr lang="en-US" dirty="0"/>
          </a:p>
          <a:p>
            <a:endParaRPr lang="en-US" b="1" dirty="0"/>
          </a:p>
        </p:txBody>
      </p:sp>
      <p:sp>
        <p:nvSpPr>
          <p:cNvPr id="5" name="Slide Number Placeholder 4"/>
          <p:cNvSpPr>
            <a:spLocks noGrp="1"/>
          </p:cNvSpPr>
          <p:nvPr>
            <p:ph type="sldNum" sz="quarter" idx="12"/>
          </p:nvPr>
        </p:nvSpPr>
        <p:spPr/>
        <p:txBody>
          <a:bodyPr/>
          <a:lstStyle/>
          <a:p>
            <a:fld id="{E97799C9-84D9-46D2-A11E-BCF8A720529D}" type="slidenum">
              <a:rPr lang="en-US" smtClean="0"/>
              <a:pPr/>
              <a:t>25</a:t>
            </a:fld>
            <a:endParaRPr lang="en-US" dirty="0"/>
          </a:p>
        </p:txBody>
      </p:sp>
    </p:spTree>
    <p:extLst>
      <p:ext uri="{BB962C8B-B14F-4D97-AF65-F5344CB8AC3E}">
        <p14:creationId xmlns="" xmlns:p14="http://schemas.microsoft.com/office/powerpoint/2010/main" val="1272880971"/>
      </p:ext>
    </p:extLst>
  </p:cSld>
  <p:clrMapOvr>
    <a:masterClrMapping/>
  </p:clrMapOvr>
  <p:transition spd="slow">
    <p:wip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1"/>
            <a:ext cx="7315200" cy="609600"/>
          </a:xfrm>
        </p:spPr>
        <p:txBody>
          <a:bodyPr>
            <a:normAutofit/>
          </a:bodyPr>
          <a:lstStyle/>
          <a:p>
            <a:r>
              <a:rPr lang="en-US" sz="2400" dirty="0"/>
              <a:t>THINKING: REASONING AND PROBLEM SOLVING</a:t>
            </a:r>
          </a:p>
        </p:txBody>
      </p:sp>
      <p:sp>
        <p:nvSpPr>
          <p:cNvPr id="3" name="Content Placeholder 2"/>
          <p:cNvSpPr>
            <a:spLocks noGrp="1"/>
          </p:cNvSpPr>
          <p:nvPr>
            <p:ph idx="1"/>
          </p:nvPr>
        </p:nvSpPr>
        <p:spPr>
          <a:xfrm>
            <a:off x="533400" y="1325880"/>
            <a:ext cx="7696200" cy="3531870"/>
          </a:xfrm>
        </p:spPr>
        <p:txBody>
          <a:bodyPr>
            <a:normAutofit/>
          </a:bodyPr>
          <a:lstStyle/>
          <a:p>
            <a:pPr algn="just"/>
            <a:r>
              <a:rPr lang="en-US" sz="2400" dirty="0"/>
              <a:t>Humans, on the other hand, are able to use information to </a:t>
            </a:r>
            <a:r>
              <a:rPr lang="en-US" sz="2400" dirty="0">
                <a:solidFill>
                  <a:schemeClr val="tx2">
                    <a:lumMod val="40000"/>
                    <a:lumOff val="60000"/>
                  </a:schemeClr>
                </a:solidFill>
              </a:rPr>
              <a:t>reason and solve problems</a:t>
            </a:r>
            <a:r>
              <a:rPr lang="en-US" sz="2400" dirty="0"/>
              <a:t>, and indeed do these activities when the information is partial or unavailable</a:t>
            </a:r>
            <a:r>
              <a:rPr lang="en-US" sz="2400" dirty="0" smtClean="0"/>
              <a:t>.</a:t>
            </a:r>
          </a:p>
          <a:p>
            <a:pPr algn="just"/>
            <a:endParaRPr lang="en-US" sz="2400" dirty="0" smtClean="0"/>
          </a:p>
          <a:p>
            <a:pPr algn="just"/>
            <a:r>
              <a:rPr lang="en-US" sz="2400" dirty="0"/>
              <a:t>Thinking can require different amounts of knowledge. Some thinking activities are much </a:t>
            </a:r>
            <a:r>
              <a:rPr lang="en-US" sz="2400" dirty="0">
                <a:solidFill>
                  <a:schemeClr val="tx2">
                    <a:lumMod val="40000"/>
                    <a:lumOff val="60000"/>
                  </a:schemeClr>
                </a:solidFill>
              </a:rPr>
              <a:t>directed</a:t>
            </a:r>
            <a:r>
              <a:rPr lang="en-US" sz="2400" dirty="0"/>
              <a:t> and the knowledge required is </a:t>
            </a:r>
            <a:r>
              <a:rPr lang="en-US" sz="2400" dirty="0">
                <a:solidFill>
                  <a:schemeClr val="tx2">
                    <a:lumMod val="40000"/>
                    <a:lumOff val="60000"/>
                  </a:schemeClr>
                </a:solidFill>
              </a:rPr>
              <a:t>constrained</a:t>
            </a:r>
            <a:r>
              <a:rPr lang="en-US" sz="2400" dirty="0"/>
              <a:t>. Others require </a:t>
            </a:r>
            <a:r>
              <a:rPr lang="en-US" sz="2400" dirty="0">
                <a:solidFill>
                  <a:schemeClr val="tx2">
                    <a:lumMod val="40000"/>
                    <a:lumOff val="60000"/>
                  </a:schemeClr>
                </a:solidFill>
              </a:rPr>
              <a:t>vast amounts of knowledge</a:t>
            </a:r>
            <a:r>
              <a:rPr lang="en-US" sz="2400" dirty="0"/>
              <a:t> from different domains. </a:t>
            </a:r>
          </a:p>
        </p:txBody>
      </p:sp>
      <p:sp>
        <p:nvSpPr>
          <p:cNvPr id="5" name="Slide Number Placeholder 4"/>
          <p:cNvSpPr>
            <a:spLocks noGrp="1"/>
          </p:cNvSpPr>
          <p:nvPr>
            <p:ph type="sldNum" sz="quarter" idx="12"/>
          </p:nvPr>
        </p:nvSpPr>
        <p:spPr/>
        <p:txBody>
          <a:bodyPr/>
          <a:lstStyle/>
          <a:p>
            <a:fld id="{E97799C9-84D9-46D2-A11E-BCF8A720529D}" type="slidenum">
              <a:rPr lang="en-US" smtClean="0"/>
              <a:pPr/>
              <a:t>26</a:t>
            </a:fld>
            <a:endParaRPr lang="en-US" dirty="0"/>
          </a:p>
        </p:txBody>
      </p:sp>
      <p:pic>
        <p:nvPicPr>
          <p:cNvPr id="29698" name="Picture 2" descr="Knowledge | Free Vectors, Stock Photos &amp; PSD"/>
          <p:cNvPicPr>
            <a:picLocks noChangeAspect="1" noChangeArrowheads="1"/>
          </p:cNvPicPr>
          <p:nvPr/>
        </p:nvPicPr>
        <p:blipFill>
          <a:blip r:embed="rId2" cstate="print"/>
          <a:srcRect/>
          <a:stretch>
            <a:fillRect/>
          </a:stretch>
        </p:blipFill>
        <p:spPr bwMode="auto">
          <a:xfrm>
            <a:off x="6781800" y="209550"/>
            <a:ext cx="1009651" cy="1009651"/>
          </a:xfrm>
          <a:prstGeom prst="rect">
            <a:avLst/>
          </a:prstGeom>
          <a:noFill/>
        </p:spPr>
      </p:pic>
    </p:spTree>
    <p:extLst>
      <p:ext uri="{BB962C8B-B14F-4D97-AF65-F5344CB8AC3E}">
        <p14:creationId xmlns="" xmlns:p14="http://schemas.microsoft.com/office/powerpoint/2010/main" val="2807819238"/>
      </p:ext>
    </p:extLst>
  </p:cSld>
  <p:clrMapOvr>
    <a:masterClrMapping/>
  </p:clrMapOvr>
  <p:transition spd="slow">
    <p:wip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3350"/>
            <a:ext cx="7315200" cy="865573"/>
          </a:xfrm>
        </p:spPr>
        <p:txBody>
          <a:bodyPr/>
          <a:lstStyle/>
          <a:p>
            <a:r>
              <a:rPr lang="en-US" b="1" dirty="0"/>
              <a:t>Reasoning</a:t>
            </a:r>
            <a:endParaRPr lang="en-US" dirty="0"/>
          </a:p>
        </p:txBody>
      </p:sp>
      <p:sp>
        <p:nvSpPr>
          <p:cNvPr id="3" name="Content Placeholder 2"/>
          <p:cNvSpPr>
            <a:spLocks noGrp="1"/>
          </p:cNvSpPr>
          <p:nvPr>
            <p:ph idx="1"/>
          </p:nvPr>
        </p:nvSpPr>
        <p:spPr>
          <a:xfrm>
            <a:off x="533400" y="1200151"/>
            <a:ext cx="7696200" cy="3531870"/>
          </a:xfrm>
        </p:spPr>
        <p:txBody>
          <a:bodyPr>
            <a:normAutofit/>
          </a:bodyPr>
          <a:lstStyle/>
          <a:p>
            <a:r>
              <a:rPr lang="en-US" sz="2400" dirty="0" smtClean="0"/>
              <a:t>Reasoning </a:t>
            </a:r>
            <a:r>
              <a:rPr lang="en-US" sz="2400" dirty="0"/>
              <a:t>is the process by which we use the knowledge we have to draw conclusions or infer something new about the domain of interest. There are a number of different</a:t>
            </a:r>
          </a:p>
          <a:p>
            <a:r>
              <a:rPr lang="en-US" sz="2400" dirty="0"/>
              <a:t> </a:t>
            </a:r>
            <a:r>
              <a:rPr lang="en-US" sz="2400" dirty="0" smtClean="0"/>
              <a:t>Types </a:t>
            </a:r>
            <a:r>
              <a:rPr lang="en-US" sz="2400" dirty="0"/>
              <a:t>of reasoning: </a:t>
            </a:r>
            <a:endParaRPr lang="en-US" sz="2400" dirty="0" smtClean="0"/>
          </a:p>
          <a:p>
            <a:pPr lvl="1"/>
            <a:r>
              <a:rPr lang="en-US" sz="2400" dirty="0"/>
              <a:t>D</a:t>
            </a:r>
            <a:r>
              <a:rPr lang="en-US" sz="2400" dirty="0" smtClean="0"/>
              <a:t>eductive,</a:t>
            </a:r>
          </a:p>
          <a:p>
            <a:pPr lvl="1"/>
            <a:r>
              <a:rPr lang="en-US" sz="2400" dirty="0"/>
              <a:t>I</a:t>
            </a:r>
            <a:r>
              <a:rPr lang="en-US" sz="2400" dirty="0" smtClean="0"/>
              <a:t>nductive </a:t>
            </a:r>
          </a:p>
          <a:p>
            <a:pPr lvl="1"/>
            <a:r>
              <a:rPr lang="en-US" sz="2400" dirty="0" err="1" smtClean="0"/>
              <a:t>Abductive</a:t>
            </a:r>
            <a:endParaRPr lang="en-US" sz="2400" dirty="0"/>
          </a:p>
        </p:txBody>
      </p:sp>
      <p:sp>
        <p:nvSpPr>
          <p:cNvPr id="5" name="Slide Number Placeholder 4"/>
          <p:cNvSpPr>
            <a:spLocks noGrp="1"/>
          </p:cNvSpPr>
          <p:nvPr>
            <p:ph type="sldNum" sz="quarter" idx="12"/>
          </p:nvPr>
        </p:nvSpPr>
        <p:spPr/>
        <p:txBody>
          <a:bodyPr/>
          <a:lstStyle/>
          <a:p>
            <a:fld id="{E97799C9-84D9-46D2-A11E-BCF8A720529D}" type="slidenum">
              <a:rPr lang="en-US" smtClean="0"/>
              <a:pPr/>
              <a:t>27</a:t>
            </a:fld>
            <a:endParaRPr lang="en-US" dirty="0"/>
          </a:p>
        </p:txBody>
      </p:sp>
      <p:pic>
        <p:nvPicPr>
          <p:cNvPr id="28674" name="Picture 2" descr="Human head as a set of puzzles on the wooden background"/>
          <p:cNvPicPr>
            <a:picLocks noChangeAspect="1" noChangeArrowheads="1"/>
          </p:cNvPicPr>
          <p:nvPr/>
        </p:nvPicPr>
        <p:blipFill>
          <a:blip r:embed="rId2" cstate="print"/>
          <a:srcRect/>
          <a:stretch>
            <a:fillRect/>
          </a:stretch>
        </p:blipFill>
        <p:spPr bwMode="auto">
          <a:xfrm>
            <a:off x="5943600" y="2800350"/>
            <a:ext cx="2013858" cy="1409701"/>
          </a:xfrm>
          <a:prstGeom prst="rect">
            <a:avLst/>
          </a:prstGeom>
          <a:noFill/>
        </p:spPr>
      </p:pic>
    </p:spTree>
    <p:extLst>
      <p:ext uri="{BB962C8B-B14F-4D97-AF65-F5344CB8AC3E}">
        <p14:creationId xmlns="" xmlns:p14="http://schemas.microsoft.com/office/powerpoint/2010/main" val="266492666"/>
      </p:ext>
    </p:extLst>
  </p:cSld>
  <p:clrMapOvr>
    <a:masterClrMapping/>
  </p:clrMapOvr>
  <p:transition spd="slow">
    <p:wip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33350"/>
            <a:ext cx="7315200" cy="865573"/>
          </a:xfrm>
        </p:spPr>
        <p:txBody>
          <a:bodyPr/>
          <a:lstStyle/>
          <a:p>
            <a:r>
              <a:rPr lang="en-US" dirty="0" smtClean="0"/>
              <a:t>Reasoning</a:t>
            </a:r>
            <a:endParaRPr lang="en-US" dirty="0"/>
          </a:p>
        </p:txBody>
      </p:sp>
      <p:sp>
        <p:nvSpPr>
          <p:cNvPr id="3" name="Content Placeholder 2"/>
          <p:cNvSpPr>
            <a:spLocks noGrp="1"/>
          </p:cNvSpPr>
          <p:nvPr>
            <p:ph idx="1"/>
          </p:nvPr>
        </p:nvSpPr>
        <p:spPr>
          <a:xfrm>
            <a:off x="533400" y="1123951"/>
            <a:ext cx="7696200" cy="3608070"/>
          </a:xfrm>
        </p:spPr>
        <p:txBody>
          <a:bodyPr>
            <a:normAutofit lnSpcReduction="10000"/>
          </a:bodyPr>
          <a:lstStyle/>
          <a:p>
            <a:r>
              <a:rPr lang="en-US" sz="2400" b="1" dirty="0"/>
              <a:t>Deductive reasoning</a:t>
            </a:r>
            <a:endParaRPr lang="en-US" sz="2400" dirty="0"/>
          </a:p>
          <a:p>
            <a:pPr lvl="1"/>
            <a:r>
              <a:rPr lang="en-US" sz="2400" dirty="0" smtClean="0"/>
              <a:t>Deductive </a:t>
            </a:r>
            <a:r>
              <a:rPr lang="en-US" sz="2400" dirty="0"/>
              <a:t>reasoning derives the logically necessary conclusion from the given premises</a:t>
            </a:r>
            <a:r>
              <a:rPr lang="en-US" sz="2400" dirty="0" smtClean="0"/>
              <a:t>.</a:t>
            </a:r>
          </a:p>
          <a:p>
            <a:pPr lvl="1"/>
            <a:r>
              <a:rPr lang="en-US" sz="2400" dirty="0" smtClean="0"/>
              <a:t>Like algebra a=b &amp; b=c then a=c.</a:t>
            </a:r>
            <a:endParaRPr lang="en-US" sz="2400" dirty="0"/>
          </a:p>
          <a:p>
            <a:pPr lvl="2"/>
            <a:r>
              <a:rPr lang="en-US" sz="2400" b="1" dirty="0" smtClean="0"/>
              <a:t>For </a:t>
            </a:r>
            <a:r>
              <a:rPr lang="en-US" sz="2400" b="1" dirty="0"/>
              <a:t>example,</a:t>
            </a:r>
            <a:endParaRPr lang="en-US" sz="2400" dirty="0"/>
          </a:p>
          <a:p>
            <a:pPr marL="1285875" lvl="4" indent="0">
              <a:buNone/>
            </a:pPr>
            <a:r>
              <a:rPr lang="en-US" sz="2400" dirty="0"/>
              <a:t>If it is Friday then she will go to work</a:t>
            </a:r>
            <a:r>
              <a:rPr lang="en-US" sz="2400" dirty="0" smtClean="0"/>
              <a:t>. It </a:t>
            </a:r>
            <a:r>
              <a:rPr lang="en-US" sz="2400" dirty="0"/>
              <a:t>is Friday.</a:t>
            </a:r>
          </a:p>
          <a:p>
            <a:pPr marL="1285875" lvl="4" indent="0">
              <a:buNone/>
            </a:pPr>
            <a:r>
              <a:rPr lang="en-US" sz="2400" dirty="0"/>
              <a:t>Therefore she will go to </a:t>
            </a:r>
            <a:r>
              <a:rPr lang="en-US" sz="2400" dirty="0" smtClean="0"/>
              <a:t>work</a:t>
            </a:r>
          </a:p>
          <a:p>
            <a:pPr marL="1285875" lvl="4" indent="0">
              <a:buNone/>
            </a:pPr>
            <a:r>
              <a:rPr lang="en-US" sz="2400" dirty="0" smtClean="0"/>
              <a:t>Red meat has iron in it, and beef is red meat. Therefore, beef has iron in it.</a:t>
            </a:r>
            <a:endParaRPr lang="en-US" sz="2400" dirty="0"/>
          </a:p>
          <a:p>
            <a:pPr marL="1285875" lvl="4" indent="0">
              <a:buNone/>
            </a:pPr>
            <a:endParaRPr lang="en-US" sz="2400" dirty="0" smtClean="0"/>
          </a:p>
        </p:txBody>
      </p:sp>
      <p:sp>
        <p:nvSpPr>
          <p:cNvPr id="5" name="Slide Number Placeholder 4"/>
          <p:cNvSpPr>
            <a:spLocks noGrp="1"/>
          </p:cNvSpPr>
          <p:nvPr>
            <p:ph type="sldNum" sz="quarter" idx="12"/>
          </p:nvPr>
        </p:nvSpPr>
        <p:spPr/>
        <p:txBody>
          <a:bodyPr/>
          <a:lstStyle/>
          <a:p>
            <a:fld id="{E97799C9-84D9-46D2-A11E-BCF8A720529D}" type="slidenum">
              <a:rPr lang="en-US" smtClean="0"/>
              <a:pPr/>
              <a:t>28</a:t>
            </a:fld>
            <a:endParaRPr lang="en-US" dirty="0"/>
          </a:p>
        </p:txBody>
      </p:sp>
    </p:spTree>
    <p:extLst>
      <p:ext uri="{BB962C8B-B14F-4D97-AF65-F5344CB8AC3E}">
        <p14:creationId xmlns="" xmlns:p14="http://schemas.microsoft.com/office/powerpoint/2010/main" val="1890310935"/>
      </p:ext>
    </p:extLst>
  </p:cSld>
  <p:clrMapOvr>
    <a:masterClrMapping/>
  </p:clrMapOvr>
  <p:transition spd="slow">
    <p:wip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85750"/>
            <a:ext cx="7315200" cy="865573"/>
          </a:xfrm>
        </p:spPr>
        <p:txBody>
          <a:bodyPr/>
          <a:lstStyle/>
          <a:p>
            <a:r>
              <a:rPr lang="en-US" dirty="0" smtClean="0"/>
              <a:t>Reasoning</a:t>
            </a:r>
            <a:endParaRPr lang="en-US" dirty="0"/>
          </a:p>
        </p:txBody>
      </p:sp>
      <p:sp>
        <p:nvSpPr>
          <p:cNvPr id="3" name="Content Placeholder 2"/>
          <p:cNvSpPr>
            <a:spLocks noGrp="1"/>
          </p:cNvSpPr>
          <p:nvPr>
            <p:ph idx="1"/>
          </p:nvPr>
        </p:nvSpPr>
        <p:spPr>
          <a:xfrm>
            <a:off x="381000" y="1276351"/>
            <a:ext cx="7848600" cy="3455670"/>
          </a:xfrm>
        </p:spPr>
        <p:txBody>
          <a:bodyPr>
            <a:normAutofit/>
          </a:bodyPr>
          <a:lstStyle/>
          <a:p>
            <a:r>
              <a:rPr lang="en-US" sz="3200" b="1" dirty="0"/>
              <a:t>Inductive reasoning</a:t>
            </a:r>
            <a:endParaRPr lang="en-US" sz="3200" dirty="0"/>
          </a:p>
          <a:p>
            <a:pPr lvl="2"/>
            <a:r>
              <a:rPr lang="en-US" sz="2800" dirty="0" smtClean="0"/>
              <a:t>Induction </a:t>
            </a:r>
            <a:r>
              <a:rPr lang="en-US" sz="2800" dirty="0"/>
              <a:t>is generalizing from cases we have seen to infer information about cases we have not seen. Induction is a useful process, which we use constantly in learning about our environment</a:t>
            </a:r>
            <a:r>
              <a:rPr lang="en-US" sz="2800" dirty="0" smtClean="0"/>
              <a:t>.</a:t>
            </a:r>
          </a:p>
          <a:p>
            <a:pPr lvl="1"/>
            <a:endParaRPr lang="en-US" sz="3200" dirty="0"/>
          </a:p>
        </p:txBody>
      </p:sp>
      <p:sp>
        <p:nvSpPr>
          <p:cNvPr id="5" name="Slide Number Placeholder 4"/>
          <p:cNvSpPr>
            <a:spLocks noGrp="1"/>
          </p:cNvSpPr>
          <p:nvPr>
            <p:ph type="sldNum" sz="quarter" idx="12"/>
          </p:nvPr>
        </p:nvSpPr>
        <p:spPr/>
        <p:txBody>
          <a:bodyPr/>
          <a:lstStyle/>
          <a:p>
            <a:fld id="{E97799C9-84D9-46D2-A11E-BCF8A720529D}" type="slidenum">
              <a:rPr lang="en-US" smtClean="0"/>
              <a:pPr/>
              <a:t>29</a:t>
            </a:fld>
            <a:endParaRPr lang="en-US" dirty="0"/>
          </a:p>
        </p:txBody>
      </p:sp>
    </p:spTree>
    <p:extLst>
      <p:ext uri="{BB962C8B-B14F-4D97-AF65-F5344CB8AC3E}">
        <p14:creationId xmlns="" xmlns:p14="http://schemas.microsoft.com/office/powerpoint/2010/main" val="28473165"/>
      </p:ext>
    </p:extLst>
  </p:cSld>
  <p:clrMapOvr>
    <a:masterClrMapping/>
  </p:clrMapOvr>
  <p:transition spd="slow">
    <p:wip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33350"/>
            <a:ext cx="7315200" cy="865573"/>
          </a:xfrm>
        </p:spPr>
        <p:txBody>
          <a:bodyPr/>
          <a:lstStyle/>
          <a:p>
            <a:r>
              <a:rPr lang="en-US" dirty="0" smtClean="0"/>
              <a:t>Reasoning</a:t>
            </a:r>
            <a:endParaRPr lang="en-US" dirty="0"/>
          </a:p>
        </p:txBody>
      </p:sp>
      <p:sp>
        <p:nvSpPr>
          <p:cNvPr id="3" name="Content Placeholder 2"/>
          <p:cNvSpPr>
            <a:spLocks noGrp="1"/>
          </p:cNvSpPr>
          <p:nvPr>
            <p:ph idx="1"/>
          </p:nvPr>
        </p:nvSpPr>
        <p:spPr>
          <a:xfrm>
            <a:off x="304800" y="1047751"/>
            <a:ext cx="7924800" cy="3684270"/>
          </a:xfrm>
        </p:spPr>
        <p:txBody>
          <a:bodyPr>
            <a:normAutofit/>
          </a:bodyPr>
          <a:lstStyle/>
          <a:p>
            <a:pPr algn="just"/>
            <a:r>
              <a:rPr lang="en-US" sz="2800" b="1" dirty="0" err="1" smtClean="0"/>
              <a:t>Abductive</a:t>
            </a:r>
            <a:r>
              <a:rPr lang="en-US" sz="2800" b="1" dirty="0" smtClean="0"/>
              <a:t> </a:t>
            </a:r>
            <a:r>
              <a:rPr lang="en-US" sz="2800" b="1" dirty="0"/>
              <a:t>reasoning</a:t>
            </a:r>
            <a:endParaRPr lang="en-US" sz="2800" dirty="0"/>
          </a:p>
          <a:p>
            <a:pPr lvl="1" algn="just"/>
            <a:r>
              <a:rPr lang="en-US" sz="2800" dirty="0" smtClean="0"/>
              <a:t>is when you take a set of observations and use a theory to explain them. This is very similar to how doctors work on patients by taking symptoms to make a diagnosis</a:t>
            </a:r>
          </a:p>
          <a:p>
            <a:pPr lvl="1" algn="just"/>
            <a:r>
              <a:rPr lang="en-US" sz="2800" dirty="0" smtClean="0"/>
              <a:t>For </a:t>
            </a:r>
            <a:r>
              <a:rPr lang="en-US" sz="2800" dirty="0"/>
              <a:t>example, suppose we know that Sam always drives too fast when she has been drinking.</a:t>
            </a:r>
          </a:p>
        </p:txBody>
      </p:sp>
      <p:sp>
        <p:nvSpPr>
          <p:cNvPr id="5" name="Slide Number Placeholder 4"/>
          <p:cNvSpPr>
            <a:spLocks noGrp="1"/>
          </p:cNvSpPr>
          <p:nvPr>
            <p:ph type="sldNum" sz="quarter" idx="12"/>
          </p:nvPr>
        </p:nvSpPr>
        <p:spPr/>
        <p:txBody>
          <a:bodyPr/>
          <a:lstStyle/>
          <a:p>
            <a:fld id="{E97799C9-84D9-46D2-A11E-BCF8A720529D}" type="slidenum">
              <a:rPr lang="en-US" smtClean="0"/>
              <a:pPr/>
              <a:t>30</a:t>
            </a:fld>
            <a:endParaRPr lang="en-US" dirty="0"/>
          </a:p>
        </p:txBody>
      </p:sp>
    </p:spTree>
    <p:extLst>
      <p:ext uri="{BB962C8B-B14F-4D97-AF65-F5344CB8AC3E}">
        <p14:creationId xmlns="" xmlns:p14="http://schemas.microsoft.com/office/powerpoint/2010/main" val="1422355306"/>
      </p:ext>
    </p:extLst>
  </p:cSld>
  <p:clrMapOvr>
    <a:masterClrMapping/>
  </p:clrMapOvr>
  <p:transition spd="slow">
    <p:wip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33350"/>
            <a:ext cx="7315200" cy="865573"/>
          </a:xfrm>
        </p:spPr>
        <p:txBody>
          <a:bodyPr>
            <a:normAutofit/>
          </a:bodyPr>
          <a:lstStyle/>
          <a:p>
            <a:r>
              <a:rPr lang="en-US" b="1" dirty="0"/>
              <a:t>Problem </a:t>
            </a:r>
            <a:r>
              <a:rPr lang="en-US" b="1" dirty="0" smtClean="0"/>
              <a:t>solving</a:t>
            </a:r>
            <a:endParaRPr lang="en-US" dirty="0"/>
          </a:p>
        </p:txBody>
      </p:sp>
      <p:sp>
        <p:nvSpPr>
          <p:cNvPr id="3" name="Content Placeholder 2"/>
          <p:cNvSpPr>
            <a:spLocks noGrp="1"/>
          </p:cNvSpPr>
          <p:nvPr>
            <p:ph idx="1"/>
          </p:nvPr>
        </p:nvSpPr>
        <p:spPr>
          <a:xfrm>
            <a:off x="457200" y="1123950"/>
            <a:ext cx="8382000" cy="4019549"/>
          </a:xfrm>
        </p:spPr>
        <p:txBody>
          <a:bodyPr>
            <a:normAutofit/>
          </a:bodyPr>
          <a:lstStyle/>
          <a:p>
            <a:r>
              <a:rPr lang="en-US" sz="2400" b="1" dirty="0"/>
              <a:t>Problem solving</a:t>
            </a:r>
            <a:endParaRPr lang="en-US" sz="2400" dirty="0"/>
          </a:p>
          <a:p>
            <a:pPr lvl="1" algn="just"/>
            <a:r>
              <a:rPr lang="en-US" sz="2400" dirty="0" smtClean="0"/>
              <a:t>If reasoning is a means of inferring new information from what is already known, problem solving is the process of finding a solution to an unfamiliar task, using the knowledge we have.</a:t>
            </a:r>
          </a:p>
          <a:p>
            <a:pPr lvl="1" algn="just"/>
            <a:endParaRPr lang="en-US" sz="2400" dirty="0" smtClean="0"/>
          </a:p>
          <a:p>
            <a:pPr lvl="1" algn="just"/>
            <a:r>
              <a:rPr lang="en-US" sz="2400" dirty="0" smtClean="0"/>
              <a:t>Human </a:t>
            </a:r>
            <a:r>
              <a:rPr lang="en-US" sz="2400" dirty="0"/>
              <a:t>problem solving is characterized by the ability to adapt the information we have to deal with new situations often solutions seem to be original and creative. There are a number of different views of how people solve problems</a:t>
            </a:r>
            <a:r>
              <a:rPr lang="en-US" sz="2400" dirty="0" smtClean="0"/>
              <a:t>.</a:t>
            </a:r>
          </a:p>
          <a:p>
            <a:pPr lvl="1" algn="just"/>
            <a:endParaRPr lang="en-US" dirty="0"/>
          </a:p>
          <a:p>
            <a:endParaRPr lang="en-US" dirty="0"/>
          </a:p>
        </p:txBody>
      </p:sp>
      <p:sp>
        <p:nvSpPr>
          <p:cNvPr id="5" name="Slide Number Placeholder 4"/>
          <p:cNvSpPr>
            <a:spLocks noGrp="1"/>
          </p:cNvSpPr>
          <p:nvPr>
            <p:ph type="sldNum" sz="quarter" idx="12"/>
          </p:nvPr>
        </p:nvSpPr>
        <p:spPr/>
        <p:txBody>
          <a:bodyPr/>
          <a:lstStyle/>
          <a:p>
            <a:fld id="{E97799C9-84D9-46D2-A11E-BCF8A720529D}" type="slidenum">
              <a:rPr lang="en-US" smtClean="0"/>
              <a:pPr/>
              <a:t>31</a:t>
            </a:fld>
            <a:endParaRPr lang="en-US" dirty="0"/>
          </a:p>
        </p:txBody>
      </p:sp>
    </p:spTree>
    <p:extLst>
      <p:ext uri="{BB962C8B-B14F-4D97-AF65-F5344CB8AC3E}">
        <p14:creationId xmlns="" xmlns:p14="http://schemas.microsoft.com/office/powerpoint/2010/main" val="4076196445"/>
      </p:ext>
    </p:extLst>
  </p:cSld>
  <p:clrMapOvr>
    <a:masterClrMapping/>
  </p:clrMapOvr>
  <p:transition spd="slow">
    <p:wip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33350"/>
            <a:ext cx="7315200" cy="865573"/>
          </a:xfrm>
        </p:spPr>
        <p:txBody>
          <a:bodyPr>
            <a:normAutofit/>
          </a:bodyPr>
          <a:lstStyle/>
          <a:p>
            <a:r>
              <a:rPr lang="en-US" b="1" dirty="0"/>
              <a:t>Problem </a:t>
            </a:r>
            <a:r>
              <a:rPr lang="en-US" b="1" dirty="0" smtClean="0"/>
              <a:t>solving</a:t>
            </a:r>
            <a:endParaRPr lang="en-US" dirty="0"/>
          </a:p>
        </p:txBody>
      </p:sp>
      <p:sp>
        <p:nvSpPr>
          <p:cNvPr id="3" name="Content Placeholder 2"/>
          <p:cNvSpPr>
            <a:spLocks noGrp="1"/>
          </p:cNvSpPr>
          <p:nvPr>
            <p:ph idx="1"/>
          </p:nvPr>
        </p:nvSpPr>
        <p:spPr>
          <a:xfrm>
            <a:off x="457200" y="1123950"/>
            <a:ext cx="8382000" cy="4019549"/>
          </a:xfrm>
        </p:spPr>
        <p:txBody>
          <a:bodyPr>
            <a:normAutofit/>
          </a:bodyPr>
          <a:lstStyle/>
          <a:p>
            <a:pPr lvl="1" algn="just"/>
            <a:r>
              <a:rPr lang="en-US" sz="2400" b="1" dirty="0" smtClean="0"/>
              <a:t>Gestalt theory</a:t>
            </a:r>
          </a:p>
          <a:p>
            <a:pPr lvl="2" algn="just"/>
            <a:r>
              <a:rPr lang="en-US" sz="2400" dirty="0"/>
              <a:t>P</a:t>
            </a:r>
            <a:r>
              <a:rPr lang="en-US" sz="2400" dirty="0" smtClean="0"/>
              <a:t>roblem </a:t>
            </a:r>
            <a:r>
              <a:rPr lang="en-US" sz="2400" dirty="0"/>
              <a:t>solving is both productive and reproductive. </a:t>
            </a:r>
            <a:endParaRPr lang="en-US" sz="2400" dirty="0" smtClean="0"/>
          </a:p>
          <a:p>
            <a:pPr lvl="2" algn="just"/>
            <a:endParaRPr lang="en-US" sz="2400" dirty="0" smtClean="0"/>
          </a:p>
          <a:p>
            <a:pPr lvl="2" algn="just"/>
            <a:r>
              <a:rPr lang="en-US" sz="2400" dirty="0" smtClean="0"/>
              <a:t>Reproductive </a:t>
            </a:r>
            <a:r>
              <a:rPr lang="en-US" sz="2400" dirty="0"/>
              <a:t>problem solving draws on previous experience as the behaviorists claimed, but productive problem solving involves insight and restructuring of the problem.</a:t>
            </a:r>
          </a:p>
          <a:p>
            <a:pPr lvl="1" algn="just"/>
            <a:endParaRPr lang="en-US" sz="2000" dirty="0"/>
          </a:p>
          <a:p>
            <a:endParaRPr lang="en-US" sz="2400" dirty="0"/>
          </a:p>
        </p:txBody>
      </p:sp>
      <p:sp>
        <p:nvSpPr>
          <p:cNvPr id="5" name="Slide Number Placeholder 4"/>
          <p:cNvSpPr>
            <a:spLocks noGrp="1"/>
          </p:cNvSpPr>
          <p:nvPr>
            <p:ph type="sldNum" sz="quarter" idx="12"/>
          </p:nvPr>
        </p:nvSpPr>
        <p:spPr/>
        <p:txBody>
          <a:bodyPr/>
          <a:lstStyle/>
          <a:p>
            <a:fld id="{E97799C9-84D9-46D2-A11E-BCF8A720529D}" type="slidenum">
              <a:rPr lang="en-US" smtClean="0"/>
              <a:pPr/>
              <a:t>32</a:t>
            </a:fld>
            <a:endParaRPr lang="en-US" dirty="0"/>
          </a:p>
        </p:txBody>
      </p:sp>
    </p:spTree>
    <p:extLst>
      <p:ext uri="{BB962C8B-B14F-4D97-AF65-F5344CB8AC3E}">
        <p14:creationId xmlns="" xmlns:p14="http://schemas.microsoft.com/office/powerpoint/2010/main" val="4076196445"/>
      </p:ext>
    </p:extLst>
  </p:cSld>
  <p:clrMapOvr>
    <a:masterClrMapping/>
  </p:clrMapOvr>
  <p:transition spd="slow">
    <p:wip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33350"/>
            <a:ext cx="7315200" cy="865573"/>
          </a:xfrm>
        </p:spPr>
        <p:txBody>
          <a:bodyPr/>
          <a:lstStyle/>
          <a:p>
            <a:r>
              <a:rPr lang="en-US" dirty="0"/>
              <a:t>Problem </a:t>
            </a:r>
            <a:r>
              <a:rPr lang="en-US" dirty="0" smtClean="0"/>
              <a:t>solving</a:t>
            </a:r>
            <a:endParaRPr lang="en-US" dirty="0"/>
          </a:p>
        </p:txBody>
      </p:sp>
      <p:sp>
        <p:nvSpPr>
          <p:cNvPr id="3" name="Content Placeholder 2"/>
          <p:cNvSpPr>
            <a:spLocks noGrp="1"/>
          </p:cNvSpPr>
          <p:nvPr>
            <p:ph idx="1"/>
          </p:nvPr>
        </p:nvSpPr>
        <p:spPr>
          <a:xfrm>
            <a:off x="457200" y="1047750"/>
            <a:ext cx="8077200" cy="4095749"/>
          </a:xfrm>
        </p:spPr>
        <p:txBody>
          <a:bodyPr>
            <a:normAutofit/>
          </a:bodyPr>
          <a:lstStyle/>
          <a:p>
            <a:pPr marL="214313" lvl="1" algn="just"/>
            <a:r>
              <a:rPr lang="en-US" sz="2100" b="1" dirty="0"/>
              <a:t>Problem space </a:t>
            </a:r>
            <a:r>
              <a:rPr lang="en-US" sz="2100" b="1" dirty="0" smtClean="0"/>
              <a:t>theory (</a:t>
            </a:r>
            <a:r>
              <a:rPr lang="en-US" sz="2100" dirty="0" smtClean="0"/>
              <a:t>Newell and Simon proposed)</a:t>
            </a:r>
            <a:endParaRPr lang="en-US" sz="2100" b="1" dirty="0" smtClean="0"/>
          </a:p>
          <a:p>
            <a:pPr marL="557213" lvl="2" algn="just"/>
            <a:r>
              <a:rPr lang="en-US" sz="2100" dirty="0"/>
              <a:t>The problem space comprises problem states, and problem solving involves generating these states using legal state transition operators. The problem has an initial state and a goal state and people use the operators to move from the former to the latter</a:t>
            </a:r>
            <a:r>
              <a:rPr lang="en-US" sz="2100" dirty="0" smtClean="0"/>
              <a:t>. </a:t>
            </a:r>
          </a:p>
          <a:p>
            <a:pPr marL="557213" lvl="2" algn="just"/>
            <a:r>
              <a:rPr lang="en-US" sz="2100" dirty="0" smtClean="0"/>
              <a:t>Such problem spaces may be huge, and so heuristics are employed to select appropriate operators to reach the goal. </a:t>
            </a:r>
          </a:p>
          <a:p>
            <a:pPr marL="557213" lvl="2" algn="just"/>
            <a:r>
              <a:rPr lang="en-US" sz="2100" dirty="0" err="1" smtClean="0"/>
              <a:t>Eg</a:t>
            </a:r>
            <a:r>
              <a:rPr lang="en-US" sz="2100" dirty="0" smtClean="0"/>
              <a:t>: Solving puzzles</a:t>
            </a:r>
          </a:p>
          <a:p>
            <a:pPr marL="557213" lvl="2" algn="just"/>
            <a:endParaRPr lang="en-US" dirty="0"/>
          </a:p>
          <a:p>
            <a:endParaRPr lang="en-US" dirty="0"/>
          </a:p>
        </p:txBody>
      </p:sp>
      <p:sp>
        <p:nvSpPr>
          <p:cNvPr id="5" name="Slide Number Placeholder 4"/>
          <p:cNvSpPr>
            <a:spLocks noGrp="1"/>
          </p:cNvSpPr>
          <p:nvPr>
            <p:ph type="sldNum" sz="quarter" idx="12"/>
          </p:nvPr>
        </p:nvSpPr>
        <p:spPr/>
        <p:txBody>
          <a:bodyPr/>
          <a:lstStyle/>
          <a:p>
            <a:fld id="{E97799C9-84D9-46D2-A11E-BCF8A720529D}" type="slidenum">
              <a:rPr lang="en-US" smtClean="0"/>
              <a:pPr/>
              <a:t>33</a:t>
            </a:fld>
            <a:endParaRPr lang="en-US" dirty="0"/>
          </a:p>
        </p:txBody>
      </p:sp>
    </p:spTree>
    <p:extLst>
      <p:ext uri="{BB962C8B-B14F-4D97-AF65-F5344CB8AC3E}">
        <p14:creationId xmlns="" xmlns:p14="http://schemas.microsoft.com/office/powerpoint/2010/main" val="4120931455"/>
      </p:ext>
    </p:extLst>
  </p:cSld>
  <p:clrMapOvr>
    <a:masterClrMapping/>
  </p:clrMapOvr>
  <p:transition spd="slow">
    <p:wip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33350"/>
            <a:ext cx="7315200" cy="865573"/>
          </a:xfrm>
        </p:spPr>
        <p:txBody>
          <a:bodyPr/>
          <a:lstStyle/>
          <a:p>
            <a:r>
              <a:rPr lang="en-US" dirty="0"/>
              <a:t>Problem </a:t>
            </a:r>
            <a:r>
              <a:rPr lang="en-US" dirty="0" smtClean="0"/>
              <a:t>solving</a:t>
            </a:r>
            <a:endParaRPr lang="en-US" dirty="0"/>
          </a:p>
        </p:txBody>
      </p:sp>
      <p:sp>
        <p:nvSpPr>
          <p:cNvPr id="3" name="Content Placeholder 2"/>
          <p:cNvSpPr>
            <a:spLocks noGrp="1"/>
          </p:cNvSpPr>
          <p:nvPr>
            <p:ph idx="1"/>
          </p:nvPr>
        </p:nvSpPr>
        <p:spPr>
          <a:xfrm>
            <a:off x="457200" y="1047750"/>
            <a:ext cx="8077200" cy="4095749"/>
          </a:xfrm>
        </p:spPr>
        <p:txBody>
          <a:bodyPr>
            <a:normAutofit/>
          </a:bodyPr>
          <a:lstStyle/>
          <a:p>
            <a:pPr marL="214313" lvl="1" algn="just"/>
            <a:r>
              <a:rPr lang="en-US" sz="2100" b="1" dirty="0" smtClean="0"/>
              <a:t>Means–ends analysis  (heuristic)</a:t>
            </a:r>
          </a:p>
          <a:p>
            <a:pPr marL="397193" lvl="2" algn="just"/>
            <a:r>
              <a:rPr lang="en-US" sz="1900" b="1" dirty="0" smtClean="0"/>
              <a:t> </a:t>
            </a:r>
            <a:r>
              <a:rPr lang="en-US" sz="1900" dirty="0" smtClean="0"/>
              <a:t>In means–ends analysis the initial state is compared with the goal state and an operator chosen to reduce the difference between the two. </a:t>
            </a:r>
          </a:p>
          <a:p>
            <a:pPr marL="214313" lvl="1" algn="just"/>
            <a:endParaRPr lang="en-US" sz="2100" dirty="0" smtClean="0"/>
          </a:p>
          <a:p>
            <a:pPr marL="214313" lvl="1" algn="just"/>
            <a:r>
              <a:rPr lang="en-US" sz="2100" b="1" dirty="0" smtClean="0"/>
              <a:t>Analogy </a:t>
            </a:r>
            <a:r>
              <a:rPr lang="en-US" sz="2100" b="1" dirty="0"/>
              <a:t>in problem solving</a:t>
            </a:r>
          </a:p>
          <a:p>
            <a:pPr marL="557213" lvl="2" algn="just"/>
            <a:r>
              <a:rPr lang="en-US" sz="2100" dirty="0"/>
              <a:t>A third element of problem solving is the use of analogy. Similarities between the known domain and the new one are noted and operators from the known domain are transferred to the new one.</a:t>
            </a:r>
          </a:p>
          <a:p>
            <a:pPr marL="557213" lvl="2" algn="just"/>
            <a:endParaRPr lang="en-US" dirty="0"/>
          </a:p>
          <a:p>
            <a:endParaRPr lang="en-US" dirty="0"/>
          </a:p>
        </p:txBody>
      </p:sp>
      <p:sp>
        <p:nvSpPr>
          <p:cNvPr id="5" name="Slide Number Placeholder 4"/>
          <p:cNvSpPr>
            <a:spLocks noGrp="1"/>
          </p:cNvSpPr>
          <p:nvPr>
            <p:ph type="sldNum" sz="quarter" idx="12"/>
          </p:nvPr>
        </p:nvSpPr>
        <p:spPr/>
        <p:txBody>
          <a:bodyPr/>
          <a:lstStyle/>
          <a:p>
            <a:fld id="{E97799C9-84D9-46D2-A11E-BCF8A720529D}" type="slidenum">
              <a:rPr lang="en-US" smtClean="0"/>
              <a:pPr/>
              <a:t>34</a:t>
            </a:fld>
            <a:endParaRPr lang="en-US" dirty="0"/>
          </a:p>
        </p:txBody>
      </p:sp>
    </p:spTree>
    <p:extLst>
      <p:ext uri="{BB962C8B-B14F-4D97-AF65-F5344CB8AC3E}">
        <p14:creationId xmlns="" xmlns:p14="http://schemas.microsoft.com/office/powerpoint/2010/main" val="4120931455"/>
      </p:ext>
    </p:extLst>
  </p:cSld>
  <p:clrMapOvr>
    <a:masterClrMapping/>
  </p:clrMapOvr>
  <p:transition spd="slow">
    <p:wip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09550"/>
            <a:ext cx="7315200" cy="865573"/>
          </a:xfrm>
        </p:spPr>
        <p:txBody>
          <a:bodyPr/>
          <a:lstStyle/>
          <a:p>
            <a:r>
              <a:rPr lang="en-US" dirty="0"/>
              <a:t>Problem </a:t>
            </a:r>
            <a:r>
              <a:rPr lang="en-US" dirty="0" smtClean="0"/>
              <a:t>solving</a:t>
            </a:r>
            <a:endParaRPr lang="en-US" dirty="0"/>
          </a:p>
        </p:txBody>
      </p:sp>
      <p:sp>
        <p:nvSpPr>
          <p:cNvPr id="3" name="Content Placeholder 2"/>
          <p:cNvSpPr>
            <a:spLocks noGrp="1"/>
          </p:cNvSpPr>
          <p:nvPr>
            <p:ph idx="1"/>
          </p:nvPr>
        </p:nvSpPr>
        <p:spPr>
          <a:xfrm>
            <a:off x="457200" y="1123950"/>
            <a:ext cx="7315200" cy="3505200"/>
          </a:xfrm>
        </p:spPr>
        <p:txBody>
          <a:bodyPr>
            <a:normAutofit lnSpcReduction="10000"/>
          </a:bodyPr>
          <a:lstStyle/>
          <a:p>
            <a:pPr lvl="1" algn="just"/>
            <a:r>
              <a:rPr lang="en-US" sz="2000" b="1" dirty="0"/>
              <a:t>Skill acquisition</a:t>
            </a:r>
          </a:p>
          <a:p>
            <a:pPr lvl="2" algn="just"/>
            <a:r>
              <a:rPr lang="en-IN" sz="2000" dirty="0"/>
              <a:t>Gradually acquire skill in a particular domain area. </a:t>
            </a:r>
            <a:r>
              <a:rPr lang="en-IN" sz="2000" dirty="0" err="1"/>
              <a:t>Eg</a:t>
            </a:r>
            <a:r>
              <a:rPr lang="en-IN" sz="2000" dirty="0" smtClean="0"/>
              <a:t>: Chess </a:t>
            </a:r>
            <a:r>
              <a:rPr lang="en-IN" sz="2000" dirty="0"/>
              <a:t>Playing</a:t>
            </a:r>
          </a:p>
          <a:p>
            <a:pPr lvl="2"/>
            <a:r>
              <a:rPr lang="en-IN" sz="2000" dirty="0"/>
              <a:t>One model of skill acquisition is Anderson’s </a:t>
            </a:r>
            <a:r>
              <a:rPr lang="en-IN" sz="2000" i="1" dirty="0"/>
              <a:t>ACT* </a:t>
            </a:r>
            <a:r>
              <a:rPr lang="en-IN" sz="2000" dirty="0" smtClean="0"/>
              <a:t>model (Adaptive Control of Thought) </a:t>
            </a:r>
            <a:r>
              <a:rPr lang="en-IN" sz="2000" dirty="0"/>
              <a:t>. ACT* identifies three basic levels of skill:</a:t>
            </a:r>
            <a:endParaRPr lang="en-US" sz="2000" dirty="0"/>
          </a:p>
          <a:p>
            <a:pPr marL="1028700" lvl="3" indent="0">
              <a:buNone/>
            </a:pPr>
            <a:r>
              <a:rPr lang="en-IN" sz="2000" dirty="0"/>
              <a:t>1. The learner uses general-purpose rules which interpret facts about a problem. This is slow and demanding on memory access.</a:t>
            </a:r>
            <a:endParaRPr lang="en-US" sz="2000" dirty="0"/>
          </a:p>
          <a:p>
            <a:pPr marL="1028700" lvl="3" indent="0">
              <a:buNone/>
            </a:pPr>
            <a:r>
              <a:rPr lang="en-IN" sz="2000" dirty="0"/>
              <a:t>2. The learner develops rules specific to the task.</a:t>
            </a:r>
            <a:endParaRPr lang="en-US" sz="2000" dirty="0"/>
          </a:p>
          <a:p>
            <a:pPr marL="1028700" lvl="3" indent="0">
              <a:buNone/>
            </a:pPr>
            <a:r>
              <a:rPr lang="en-IN" sz="2000" dirty="0"/>
              <a:t>3. The rules are tuned to speed up performance.</a:t>
            </a:r>
            <a:endParaRPr lang="en-US" sz="2000" dirty="0"/>
          </a:p>
          <a:p>
            <a:endParaRPr lang="en-US" dirty="0"/>
          </a:p>
        </p:txBody>
      </p:sp>
      <p:sp>
        <p:nvSpPr>
          <p:cNvPr id="5" name="Slide Number Placeholder 4"/>
          <p:cNvSpPr>
            <a:spLocks noGrp="1"/>
          </p:cNvSpPr>
          <p:nvPr>
            <p:ph type="sldNum" sz="quarter" idx="12"/>
          </p:nvPr>
        </p:nvSpPr>
        <p:spPr/>
        <p:txBody>
          <a:bodyPr/>
          <a:lstStyle/>
          <a:p>
            <a:fld id="{E97799C9-84D9-46D2-A11E-BCF8A720529D}" type="slidenum">
              <a:rPr lang="en-US" smtClean="0"/>
              <a:pPr/>
              <a:t>35</a:t>
            </a:fld>
            <a:endParaRPr lang="en-US" dirty="0"/>
          </a:p>
        </p:txBody>
      </p:sp>
    </p:spTree>
    <p:extLst>
      <p:ext uri="{BB962C8B-B14F-4D97-AF65-F5344CB8AC3E}">
        <p14:creationId xmlns="" xmlns:p14="http://schemas.microsoft.com/office/powerpoint/2010/main" val="276686393"/>
      </p:ext>
    </p:extLst>
  </p:cSld>
  <p:clrMapOvr>
    <a:masterClrMapping/>
  </p:clrMapOvr>
  <p:transition spd="slow">
    <p:wip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09550"/>
            <a:ext cx="7315200" cy="865573"/>
          </a:xfrm>
        </p:spPr>
        <p:txBody>
          <a:bodyPr/>
          <a:lstStyle/>
          <a:p>
            <a:r>
              <a:rPr lang="en-US" dirty="0"/>
              <a:t>Problem solving</a:t>
            </a:r>
          </a:p>
        </p:txBody>
      </p:sp>
      <p:sp>
        <p:nvSpPr>
          <p:cNvPr id="3" name="Content Placeholder 2"/>
          <p:cNvSpPr>
            <a:spLocks noGrp="1"/>
          </p:cNvSpPr>
          <p:nvPr>
            <p:ph idx="1"/>
          </p:nvPr>
        </p:nvSpPr>
        <p:spPr>
          <a:xfrm>
            <a:off x="457200" y="1276351"/>
            <a:ext cx="7772400" cy="3455670"/>
          </a:xfrm>
        </p:spPr>
        <p:txBody>
          <a:bodyPr/>
          <a:lstStyle/>
          <a:p>
            <a:pPr marL="214313" lvl="1" algn="just"/>
            <a:r>
              <a:rPr lang="en-US" sz="2000" b="1" dirty="0"/>
              <a:t>Errors and mental </a:t>
            </a:r>
            <a:r>
              <a:rPr lang="en-US" sz="2000" b="1" dirty="0" smtClean="0"/>
              <a:t>models</a:t>
            </a:r>
          </a:p>
          <a:p>
            <a:pPr marL="557213" lvl="2" algn="just"/>
            <a:r>
              <a:rPr lang="en-IN" sz="2000" b="1" dirty="0"/>
              <a:t>Error:</a:t>
            </a:r>
          </a:p>
          <a:p>
            <a:pPr marL="814388" lvl="3" algn="just"/>
            <a:r>
              <a:rPr lang="en-IN" sz="2000" dirty="0"/>
              <a:t>If a pattern of </a:t>
            </a:r>
            <a:r>
              <a:rPr lang="en-IN" sz="2000" dirty="0" err="1"/>
              <a:t>behavior</a:t>
            </a:r>
            <a:r>
              <a:rPr lang="en-IN" sz="2000" dirty="0"/>
              <a:t> has become automatic and we change some aspect of it, the more familiar pattern may break through and cause an error. Other errors result from an incorrect understanding, or model, of a situation or system. </a:t>
            </a:r>
          </a:p>
          <a:p>
            <a:pPr marL="814388" lvl="3" algn="just"/>
            <a:r>
              <a:rPr lang="en-IN" sz="2000" dirty="0"/>
              <a:t>People build their own theories to understand the causal behaviour of systems. These have been termed </a:t>
            </a:r>
            <a:r>
              <a:rPr lang="en-IN" sz="2000" i="1" dirty="0"/>
              <a:t>mental models</a:t>
            </a:r>
            <a:r>
              <a:rPr lang="en-IN" sz="2000" dirty="0"/>
              <a:t>.</a:t>
            </a:r>
            <a:endParaRPr lang="en-US" sz="2000" dirty="0"/>
          </a:p>
          <a:p>
            <a:endParaRPr lang="en-US" dirty="0"/>
          </a:p>
        </p:txBody>
      </p:sp>
      <p:sp>
        <p:nvSpPr>
          <p:cNvPr id="5" name="Slide Number Placeholder 4"/>
          <p:cNvSpPr>
            <a:spLocks noGrp="1"/>
          </p:cNvSpPr>
          <p:nvPr>
            <p:ph type="sldNum" sz="quarter" idx="12"/>
          </p:nvPr>
        </p:nvSpPr>
        <p:spPr/>
        <p:txBody>
          <a:bodyPr/>
          <a:lstStyle/>
          <a:p>
            <a:fld id="{E97799C9-84D9-46D2-A11E-BCF8A720529D}" type="slidenum">
              <a:rPr lang="en-US" smtClean="0"/>
              <a:pPr/>
              <a:t>36</a:t>
            </a:fld>
            <a:endParaRPr lang="en-US" dirty="0"/>
          </a:p>
        </p:txBody>
      </p:sp>
    </p:spTree>
    <p:extLst>
      <p:ext uri="{BB962C8B-B14F-4D97-AF65-F5344CB8AC3E}">
        <p14:creationId xmlns="" xmlns:p14="http://schemas.microsoft.com/office/powerpoint/2010/main" val="54123484"/>
      </p:ext>
    </p:extLst>
  </p:cSld>
  <p:clrMapOvr>
    <a:masterClrMapping/>
  </p:clrMapOvr>
  <p:transition spd="slow">
    <p:wip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61950"/>
            <a:ext cx="7848600" cy="1371599"/>
          </a:xfrm>
        </p:spPr>
        <p:txBody>
          <a:bodyPr>
            <a:normAutofit fontScale="90000"/>
          </a:bodyPr>
          <a:lstStyle/>
          <a:p>
            <a:r>
              <a:rPr lang="en-US" dirty="0" smtClean="0"/>
              <a:t/>
            </a:r>
            <a:br>
              <a:rPr lang="en-US" dirty="0" smtClean="0"/>
            </a:br>
            <a:r>
              <a:rPr lang="en-US" dirty="0"/>
              <a:t/>
            </a:r>
            <a:br>
              <a:rPr lang="en-US" dirty="0"/>
            </a:br>
            <a:r>
              <a:rPr lang="en-US" dirty="0" smtClean="0"/>
              <a:t>D</a:t>
            </a:r>
            <a:r>
              <a:rPr lang="en-US" sz="3100" dirty="0" smtClean="0"/>
              <a:t>esign </a:t>
            </a:r>
            <a:r>
              <a:rPr lang="en-US" sz="3100" dirty="0"/>
              <a:t>of interactive </a:t>
            </a:r>
            <a:r>
              <a:rPr lang="en-US" sz="3100" dirty="0" smtClean="0"/>
              <a:t>systems </a:t>
            </a:r>
            <a:r>
              <a:rPr lang="en-US" dirty="0"/>
              <a:t>	</a:t>
            </a:r>
            <a:br>
              <a:rPr lang="en-US" dirty="0"/>
            </a:br>
            <a:endParaRPr lang="en-US" dirty="0"/>
          </a:p>
        </p:txBody>
      </p:sp>
      <p:sp>
        <p:nvSpPr>
          <p:cNvPr id="3" name="Content Placeholder 2"/>
          <p:cNvSpPr>
            <a:spLocks noGrp="1"/>
          </p:cNvSpPr>
          <p:nvPr>
            <p:ph idx="1"/>
          </p:nvPr>
        </p:nvSpPr>
        <p:spPr>
          <a:xfrm>
            <a:off x="533400" y="1276351"/>
            <a:ext cx="8001000" cy="3455670"/>
          </a:xfrm>
        </p:spPr>
        <p:txBody>
          <a:bodyPr>
            <a:noAutofit/>
          </a:bodyPr>
          <a:lstStyle/>
          <a:p>
            <a:r>
              <a:rPr lang="en-US" sz="2400" dirty="0"/>
              <a:t>Interaction involves at least two participants: the user and the system. The interface must therefore effectively translate between them to allow the interaction to be successful. This translation can fail at a number of points and for a number of reasons. </a:t>
            </a:r>
            <a:endParaRPr lang="en-US" sz="2400" dirty="0" smtClean="0"/>
          </a:p>
          <a:p>
            <a:r>
              <a:rPr lang="en-US" sz="2400" dirty="0" smtClean="0"/>
              <a:t>The </a:t>
            </a:r>
            <a:r>
              <a:rPr lang="en-US" sz="2400" dirty="0"/>
              <a:t>use of models of interaction can help us to understand exactly what is going on in the interaction and identify the likely root of difficulties. They also provide us with a framework to compare different interaction styles and to consider interaction problems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 xmlns:p14="http://schemas.microsoft.com/office/powerpoint/2010/main" val="784953742"/>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14550"/>
            <a:ext cx="8001000" cy="2160271"/>
          </a:xfrm>
        </p:spPr>
        <p:txBody>
          <a:bodyPr>
            <a:noAutofit/>
          </a:bodyPr>
          <a:lstStyle/>
          <a:p>
            <a:r>
              <a:rPr lang="en-US" sz="2800" dirty="0" smtClean="0"/>
              <a:t>The Gulf of Execution</a:t>
            </a:r>
          </a:p>
          <a:p>
            <a:pPr lvl="1"/>
            <a:r>
              <a:rPr lang="en-US" sz="2400" dirty="0" smtClean="0"/>
              <a:t>Does the system provide actions that correspond to the user's intentions? Can the user figure out these are the right actions?</a:t>
            </a:r>
          </a:p>
          <a:p>
            <a:pPr lvl="1"/>
            <a:r>
              <a:rPr lang="en-US" sz="2400" dirty="0" smtClean="0"/>
              <a:t>The difficulty of mapping intentions to available actions is the Gulf of Execution.</a:t>
            </a:r>
            <a:endParaRPr lang="en-US" sz="20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38</a:t>
            </a:fld>
            <a:endParaRPr lang="en-US"/>
          </a:p>
        </p:txBody>
      </p:sp>
      <p:sp>
        <p:nvSpPr>
          <p:cNvPr id="6" name="Title 5"/>
          <p:cNvSpPr>
            <a:spLocks noGrp="1"/>
          </p:cNvSpPr>
          <p:nvPr>
            <p:ph type="title"/>
          </p:nvPr>
        </p:nvSpPr>
        <p:spPr>
          <a:xfrm>
            <a:off x="685800" y="285750"/>
            <a:ext cx="7315200" cy="865573"/>
          </a:xfrm>
        </p:spPr>
        <p:txBody>
          <a:bodyPr/>
          <a:lstStyle/>
          <a:p>
            <a:r>
              <a:rPr lang="en-US" dirty="0" smtClean="0"/>
              <a:t>Gulf of Execution &amp; Evaluation</a:t>
            </a:r>
            <a:endParaRPr lang="en-US" dirty="0"/>
          </a:p>
        </p:txBody>
      </p:sp>
      <p:sp>
        <p:nvSpPr>
          <p:cNvPr id="7" name="Rectangle 6"/>
          <p:cNvSpPr/>
          <p:nvPr/>
        </p:nvSpPr>
        <p:spPr>
          <a:xfrm>
            <a:off x="762000" y="1200150"/>
            <a:ext cx="6629400" cy="646331"/>
          </a:xfrm>
          <a:prstGeom prst="rect">
            <a:avLst/>
          </a:prstGeom>
          <a:ln>
            <a:solidFill>
              <a:schemeClr val="tx2"/>
            </a:solidFill>
          </a:ln>
        </p:spPr>
        <p:txBody>
          <a:bodyPr wrap="square">
            <a:spAutoFit/>
          </a:bodyPr>
          <a:lstStyle/>
          <a:p>
            <a:r>
              <a:rPr lang="en-US" dirty="0" smtClean="0"/>
              <a:t>Evaluation: Understanding the state of the system</a:t>
            </a:r>
          </a:p>
          <a:p>
            <a:r>
              <a:rPr lang="en-US" dirty="0" smtClean="0"/>
              <a:t>Execution: Taking action to accomplish a specific goal</a:t>
            </a:r>
            <a:endParaRPr lang="en-US" dirty="0"/>
          </a:p>
        </p:txBody>
      </p:sp>
    </p:spTree>
    <p:extLst>
      <p:ext uri="{BB962C8B-B14F-4D97-AF65-F5344CB8AC3E}">
        <p14:creationId xmlns="" xmlns:p14="http://schemas.microsoft.com/office/powerpoint/2010/main" val="784953742"/>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276350"/>
            <a:ext cx="8001000" cy="2160271"/>
          </a:xfrm>
        </p:spPr>
        <p:txBody>
          <a:bodyPr>
            <a:noAutofit/>
          </a:bodyPr>
          <a:lstStyle/>
          <a:p>
            <a:r>
              <a:rPr lang="en-US" sz="3200" dirty="0" smtClean="0"/>
              <a:t>The Gulf of Evaluation</a:t>
            </a:r>
          </a:p>
          <a:p>
            <a:pPr lvl="1"/>
            <a:r>
              <a:rPr lang="en-US" sz="2800" dirty="0" smtClean="0"/>
              <a:t>Does the system provide physical representations that can be easily perceived and interpreted in terms of the user's goals and intentions?</a:t>
            </a:r>
          </a:p>
          <a:p>
            <a:pPr lvl="1"/>
            <a:r>
              <a:rPr lang="en-US" sz="2800" dirty="0" smtClean="0"/>
              <a:t>The Gulf of Evaluation represents the amount of effort required to interpret the physical state of the system and determine progress towards the goal.</a:t>
            </a:r>
            <a:endParaRPr lang="en-US" sz="28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39</a:t>
            </a:fld>
            <a:endParaRPr lang="en-US"/>
          </a:p>
        </p:txBody>
      </p:sp>
      <p:sp>
        <p:nvSpPr>
          <p:cNvPr id="6" name="Title 5"/>
          <p:cNvSpPr>
            <a:spLocks noGrp="1"/>
          </p:cNvSpPr>
          <p:nvPr>
            <p:ph type="title"/>
          </p:nvPr>
        </p:nvSpPr>
        <p:spPr>
          <a:xfrm>
            <a:off x="685800" y="285750"/>
            <a:ext cx="7315200" cy="865573"/>
          </a:xfrm>
        </p:spPr>
        <p:txBody>
          <a:bodyPr/>
          <a:lstStyle/>
          <a:p>
            <a:r>
              <a:rPr lang="en-US" dirty="0" smtClean="0"/>
              <a:t>Gulf of Execution &amp; Evaluation</a:t>
            </a:r>
            <a:endParaRPr lang="en-US" dirty="0"/>
          </a:p>
        </p:txBody>
      </p:sp>
    </p:spTree>
    <p:extLst>
      <p:ext uri="{BB962C8B-B14F-4D97-AF65-F5344CB8AC3E}">
        <p14:creationId xmlns="" xmlns:p14="http://schemas.microsoft.com/office/powerpoint/2010/main" val="784953742"/>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pPr/>
              <a:t>40</a:t>
            </a:fld>
            <a:endParaRPr lang="en-US"/>
          </a:p>
        </p:txBody>
      </p:sp>
      <p:sp>
        <p:nvSpPr>
          <p:cNvPr id="6" name="Title 5"/>
          <p:cNvSpPr>
            <a:spLocks noGrp="1"/>
          </p:cNvSpPr>
          <p:nvPr>
            <p:ph type="title"/>
          </p:nvPr>
        </p:nvSpPr>
        <p:spPr>
          <a:xfrm>
            <a:off x="685800" y="285750"/>
            <a:ext cx="7315200" cy="865573"/>
          </a:xfrm>
        </p:spPr>
        <p:txBody>
          <a:bodyPr/>
          <a:lstStyle/>
          <a:p>
            <a:r>
              <a:rPr lang="en-US" dirty="0" smtClean="0"/>
              <a:t>Gulf of Execution &amp; Evaluation</a:t>
            </a:r>
            <a:endParaRPr lang="en-US" dirty="0"/>
          </a:p>
        </p:txBody>
      </p:sp>
      <p:sp>
        <p:nvSpPr>
          <p:cNvPr id="7" name="Content Placeholder 6"/>
          <p:cNvSpPr>
            <a:spLocks noGrp="1"/>
          </p:cNvSpPr>
          <p:nvPr>
            <p:ph idx="1"/>
          </p:nvPr>
        </p:nvSpPr>
        <p:spPr/>
        <p:txBody>
          <a:bodyPr/>
          <a:lstStyle/>
          <a:p>
            <a:endParaRPr lang="en-US"/>
          </a:p>
        </p:txBody>
      </p:sp>
      <p:pic>
        <p:nvPicPr>
          <p:cNvPr id="75778" name="Picture 2"/>
          <p:cNvPicPr>
            <a:picLocks noChangeAspect="1" noChangeArrowheads="1"/>
          </p:cNvPicPr>
          <p:nvPr/>
        </p:nvPicPr>
        <p:blipFill>
          <a:blip r:embed="rId2"/>
          <a:srcRect/>
          <a:stretch>
            <a:fillRect/>
          </a:stretch>
        </p:blipFill>
        <p:spPr bwMode="auto">
          <a:xfrm>
            <a:off x="1676400" y="1428750"/>
            <a:ext cx="5595938" cy="3102012"/>
          </a:xfrm>
          <a:prstGeom prst="rect">
            <a:avLst/>
          </a:prstGeom>
          <a:noFill/>
          <a:ln w="9525">
            <a:noFill/>
            <a:miter lim="800000"/>
            <a:headEnd/>
            <a:tailEnd/>
          </a:ln>
          <a:effectLst/>
        </p:spPr>
      </p:pic>
    </p:spTree>
    <p:extLst>
      <p:ext uri="{BB962C8B-B14F-4D97-AF65-F5344CB8AC3E}">
        <p14:creationId xmlns="" xmlns:p14="http://schemas.microsoft.com/office/powerpoint/2010/main" val="784953742"/>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7315200" cy="865573"/>
          </a:xfrm>
        </p:spPr>
        <p:txBody>
          <a:bodyPr>
            <a:normAutofit/>
          </a:bodyPr>
          <a:lstStyle/>
          <a:p>
            <a:r>
              <a:rPr lang="en-US" dirty="0" smtClean="0"/>
              <a:t>Models of Interaction</a:t>
            </a:r>
            <a:endParaRPr lang="en-US" dirty="0"/>
          </a:p>
        </p:txBody>
      </p:sp>
      <p:sp>
        <p:nvSpPr>
          <p:cNvPr id="3" name="Content Placeholder 2"/>
          <p:cNvSpPr>
            <a:spLocks noGrp="1"/>
          </p:cNvSpPr>
          <p:nvPr>
            <p:ph idx="1"/>
          </p:nvPr>
        </p:nvSpPr>
        <p:spPr>
          <a:xfrm>
            <a:off x="457200" y="1535429"/>
            <a:ext cx="7467600" cy="3608071"/>
          </a:xfrm>
        </p:spPr>
        <p:txBody>
          <a:bodyPr>
            <a:normAutofit lnSpcReduction="10000"/>
          </a:bodyPr>
          <a:lstStyle/>
          <a:p>
            <a:pPr>
              <a:buNone/>
            </a:pPr>
            <a:r>
              <a:rPr lang="en-US" sz="2400" dirty="0" smtClean="0"/>
              <a:t>Norman’s Execution-Evaluation Cycle :</a:t>
            </a:r>
            <a:endParaRPr lang="en-US" sz="2400" dirty="0"/>
          </a:p>
          <a:p>
            <a:pPr marL="662940" lvl="1" indent="-342900">
              <a:buFont typeface="+mj-lt"/>
              <a:buAutoNum type="arabicPeriod"/>
            </a:pPr>
            <a:r>
              <a:rPr lang="en-US" sz="2300" dirty="0" smtClean="0"/>
              <a:t>Establishing </a:t>
            </a:r>
            <a:r>
              <a:rPr lang="en-US" sz="2300" dirty="0"/>
              <a:t>the goal.</a:t>
            </a:r>
          </a:p>
          <a:p>
            <a:pPr marL="662940" lvl="1" indent="-342900">
              <a:buFont typeface="+mj-lt"/>
              <a:buAutoNum type="arabicPeriod"/>
            </a:pPr>
            <a:r>
              <a:rPr lang="en-US" sz="2300" dirty="0" smtClean="0"/>
              <a:t>Forming </a:t>
            </a:r>
            <a:r>
              <a:rPr lang="en-US" sz="2300" dirty="0"/>
              <a:t>the intention.</a:t>
            </a:r>
          </a:p>
          <a:p>
            <a:pPr marL="662940" lvl="1" indent="-342900">
              <a:buFont typeface="+mj-lt"/>
              <a:buAutoNum type="arabicPeriod"/>
            </a:pPr>
            <a:r>
              <a:rPr lang="en-US" sz="2300" dirty="0" smtClean="0"/>
              <a:t>Specifying </a:t>
            </a:r>
            <a:r>
              <a:rPr lang="en-US" sz="2300" dirty="0"/>
              <a:t>the action sequence.</a:t>
            </a:r>
          </a:p>
          <a:p>
            <a:pPr marL="662940" lvl="1" indent="-342900">
              <a:buFont typeface="+mj-lt"/>
              <a:buAutoNum type="arabicPeriod"/>
            </a:pPr>
            <a:r>
              <a:rPr lang="en-US" sz="2300" dirty="0" smtClean="0"/>
              <a:t>Executing </a:t>
            </a:r>
            <a:r>
              <a:rPr lang="en-US" sz="2300" dirty="0"/>
              <a:t>the action.</a:t>
            </a:r>
          </a:p>
          <a:p>
            <a:pPr marL="662940" lvl="1" indent="-342900">
              <a:buFont typeface="+mj-lt"/>
              <a:buAutoNum type="arabicPeriod"/>
            </a:pPr>
            <a:r>
              <a:rPr lang="en-US" sz="2300" dirty="0" smtClean="0"/>
              <a:t>Perceiving </a:t>
            </a:r>
            <a:r>
              <a:rPr lang="en-US" sz="2300" dirty="0"/>
              <a:t>the system state</a:t>
            </a:r>
            <a:r>
              <a:rPr lang="en-US" sz="2300" dirty="0" smtClean="0"/>
              <a:t>.</a:t>
            </a:r>
          </a:p>
          <a:p>
            <a:pPr marL="662940" lvl="1" indent="-342900">
              <a:buFont typeface="+mj-lt"/>
              <a:buAutoNum type="arabicPeriod"/>
            </a:pPr>
            <a:r>
              <a:rPr lang="en-US" sz="2300" dirty="0" smtClean="0"/>
              <a:t> Interpreting </a:t>
            </a:r>
            <a:r>
              <a:rPr lang="en-US" sz="2300" dirty="0"/>
              <a:t>the system state</a:t>
            </a:r>
            <a:r>
              <a:rPr lang="en-US" sz="2300" dirty="0" smtClean="0"/>
              <a:t>.</a:t>
            </a:r>
          </a:p>
          <a:p>
            <a:pPr marL="662940" lvl="1" indent="-342900">
              <a:buFont typeface="+mj-lt"/>
              <a:buAutoNum type="arabicPeriod"/>
            </a:pPr>
            <a:r>
              <a:rPr lang="en-US" sz="2300" dirty="0" smtClean="0"/>
              <a:t>Evaluating </a:t>
            </a:r>
            <a:r>
              <a:rPr lang="en-US" sz="2300" dirty="0"/>
              <a:t>the system state with respect to the goals and intentions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41</a:t>
            </a:fld>
            <a:endParaRPr lang="en-US"/>
          </a:p>
        </p:txBody>
      </p:sp>
      <p:sp>
        <p:nvSpPr>
          <p:cNvPr id="6" name="TextBox 5"/>
          <p:cNvSpPr txBox="1"/>
          <p:nvPr/>
        </p:nvSpPr>
        <p:spPr>
          <a:xfrm>
            <a:off x="2590800" y="887679"/>
            <a:ext cx="5630586" cy="464871"/>
          </a:xfrm>
          <a:prstGeom prst="rect">
            <a:avLst/>
          </a:prstGeom>
          <a:noFill/>
        </p:spPr>
        <p:style>
          <a:lnRef idx="2">
            <a:schemeClr val="accent2"/>
          </a:lnRef>
          <a:fillRef idx="1">
            <a:schemeClr val="lt1"/>
          </a:fillRef>
          <a:effectRef idx="0">
            <a:schemeClr val="accent2"/>
          </a:effectRef>
          <a:fontRef idx="minor">
            <a:schemeClr val="dk1"/>
          </a:fontRef>
        </p:style>
        <p:txBody>
          <a:bodyPr wrap="square" rtlCol="0">
            <a:spAutoFit/>
          </a:bodyPr>
          <a:lstStyle/>
          <a:p>
            <a:pPr algn="ctr">
              <a:lnSpc>
                <a:spcPct val="150000"/>
              </a:lnSpc>
            </a:pPr>
            <a:r>
              <a:rPr lang="en-US" dirty="0" smtClean="0">
                <a:solidFill>
                  <a:schemeClr val="tx1"/>
                </a:solidFill>
              </a:rPr>
              <a:t>“All models are wrong, but some are useful” -  George Box</a:t>
            </a:r>
            <a:endParaRPr lang="en-US" dirty="0"/>
          </a:p>
        </p:txBody>
      </p:sp>
      <p:sp>
        <p:nvSpPr>
          <p:cNvPr id="10" name="Curved Right Arrow 9"/>
          <p:cNvSpPr/>
          <p:nvPr/>
        </p:nvSpPr>
        <p:spPr>
          <a:xfrm rot="10800000">
            <a:off x="7772400" y="2038350"/>
            <a:ext cx="533400" cy="2514600"/>
          </a:xfrm>
          <a:prstGeom prst="curvedRightArrow">
            <a:avLst>
              <a:gd name="adj1" fmla="val 25000"/>
              <a:gd name="adj2" fmla="val 47876"/>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TextBox 10"/>
          <p:cNvSpPr txBox="1"/>
          <p:nvPr/>
        </p:nvSpPr>
        <p:spPr>
          <a:xfrm>
            <a:off x="7391400" y="3105150"/>
            <a:ext cx="1594924" cy="369332"/>
          </a:xfrm>
          <a:prstGeom prst="rect">
            <a:avLst/>
          </a:prstGeom>
          <a:noFill/>
        </p:spPr>
        <p:txBody>
          <a:bodyPr wrap="none" rtlCol="0">
            <a:spAutoFit/>
          </a:bodyPr>
          <a:lstStyle/>
          <a:p>
            <a:r>
              <a:rPr lang="en-US" dirty="0" smtClean="0"/>
              <a:t>Revise the goal</a:t>
            </a:r>
            <a:endParaRPr lang="en-US" dirty="0"/>
          </a:p>
        </p:txBody>
      </p:sp>
    </p:spTree>
    <p:extLst>
      <p:ext uri="{BB962C8B-B14F-4D97-AF65-F5344CB8AC3E}">
        <p14:creationId xmlns="" xmlns:p14="http://schemas.microsoft.com/office/powerpoint/2010/main" val="1130953729"/>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7315200" cy="865573"/>
          </a:xfrm>
        </p:spPr>
        <p:txBody>
          <a:bodyPr>
            <a:normAutofit fontScale="90000"/>
          </a:bodyPr>
          <a:lstStyle/>
          <a:p>
            <a:r>
              <a:rPr lang="en-US" dirty="0" smtClean="0"/>
              <a:t>Norman’s Execution-Evaluation Cycle</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42</a:t>
            </a:fld>
            <a:endParaRPr lang="en-US"/>
          </a:p>
        </p:txBody>
      </p:sp>
      <p:pic>
        <p:nvPicPr>
          <p:cNvPr id="73730" name="Picture 2"/>
          <p:cNvPicPr>
            <a:picLocks noChangeAspect="1" noChangeArrowheads="1"/>
          </p:cNvPicPr>
          <p:nvPr/>
        </p:nvPicPr>
        <p:blipFill>
          <a:blip r:embed="rId2"/>
          <a:srcRect/>
          <a:stretch>
            <a:fillRect/>
          </a:stretch>
        </p:blipFill>
        <p:spPr bwMode="auto">
          <a:xfrm>
            <a:off x="1395412" y="1200150"/>
            <a:ext cx="6148388" cy="3360567"/>
          </a:xfrm>
          <a:prstGeom prst="rect">
            <a:avLst/>
          </a:prstGeom>
          <a:noFill/>
          <a:ln w="9525">
            <a:noFill/>
            <a:miter lim="800000"/>
            <a:headEnd/>
            <a:tailEnd/>
          </a:ln>
          <a:effectLst/>
        </p:spPr>
      </p:pic>
    </p:spTree>
    <p:extLst>
      <p:ext uri="{BB962C8B-B14F-4D97-AF65-F5344CB8AC3E}">
        <p14:creationId xmlns="" xmlns:p14="http://schemas.microsoft.com/office/powerpoint/2010/main" val="1130953729"/>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7315200" cy="865573"/>
          </a:xfrm>
        </p:spPr>
        <p:txBody>
          <a:bodyPr>
            <a:normAutofit fontScale="90000"/>
          </a:bodyPr>
          <a:lstStyle/>
          <a:p>
            <a:r>
              <a:rPr lang="en-US" dirty="0" smtClean="0"/>
              <a:t>Norman’s Execution-Evaluation Cycle</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43</a:t>
            </a:fld>
            <a:endParaRPr lang="en-US"/>
          </a:p>
        </p:txBody>
      </p:sp>
      <p:pic>
        <p:nvPicPr>
          <p:cNvPr id="74754" name="Picture 2"/>
          <p:cNvPicPr>
            <a:picLocks noChangeAspect="1" noChangeArrowheads="1"/>
          </p:cNvPicPr>
          <p:nvPr/>
        </p:nvPicPr>
        <p:blipFill>
          <a:blip r:embed="rId2"/>
          <a:srcRect/>
          <a:stretch>
            <a:fillRect/>
          </a:stretch>
        </p:blipFill>
        <p:spPr bwMode="auto">
          <a:xfrm>
            <a:off x="1371600" y="1047750"/>
            <a:ext cx="6634163" cy="3727149"/>
          </a:xfrm>
          <a:prstGeom prst="rect">
            <a:avLst/>
          </a:prstGeom>
          <a:noFill/>
          <a:ln w="9525">
            <a:noFill/>
            <a:miter lim="800000"/>
            <a:headEnd/>
            <a:tailEnd/>
          </a:ln>
          <a:effectLst/>
        </p:spPr>
      </p:pic>
    </p:spTree>
    <p:extLst>
      <p:ext uri="{BB962C8B-B14F-4D97-AF65-F5344CB8AC3E}">
        <p14:creationId xmlns="" xmlns:p14="http://schemas.microsoft.com/office/powerpoint/2010/main" val="1130953729"/>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7315200" cy="865573"/>
          </a:xfrm>
        </p:spPr>
        <p:txBody>
          <a:bodyPr>
            <a:normAutofit fontScale="90000"/>
          </a:bodyPr>
          <a:lstStyle/>
          <a:p>
            <a:r>
              <a:rPr lang="en-US" dirty="0" smtClean="0"/>
              <a:t>Norman’s Execution-Evaluation Cycle</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44</a:t>
            </a:fld>
            <a:endParaRPr lang="en-US"/>
          </a:p>
        </p:txBody>
      </p:sp>
      <p:pic>
        <p:nvPicPr>
          <p:cNvPr id="74754" name="Picture 2"/>
          <p:cNvPicPr>
            <a:picLocks noChangeAspect="1" noChangeArrowheads="1"/>
          </p:cNvPicPr>
          <p:nvPr/>
        </p:nvPicPr>
        <p:blipFill>
          <a:blip r:embed="rId2"/>
          <a:srcRect/>
          <a:stretch>
            <a:fillRect/>
          </a:stretch>
        </p:blipFill>
        <p:spPr bwMode="auto">
          <a:xfrm>
            <a:off x="1371600" y="1047750"/>
            <a:ext cx="6634163" cy="3727149"/>
          </a:xfrm>
          <a:prstGeom prst="rect">
            <a:avLst/>
          </a:prstGeom>
          <a:noFill/>
          <a:ln w="9525">
            <a:noFill/>
            <a:miter lim="800000"/>
            <a:headEnd/>
            <a:tailEnd/>
          </a:ln>
          <a:effectLst/>
        </p:spPr>
      </p:pic>
    </p:spTree>
    <p:extLst>
      <p:ext uri="{BB962C8B-B14F-4D97-AF65-F5344CB8AC3E}">
        <p14:creationId xmlns="" xmlns:p14="http://schemas.microsoft.com/office/powerpoint/2010/main" val="1130953729"/>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834"/>
            <a:ext cx="7315200" cy="865573"/>
          </a:xfrm>
        </p:spPr>
        <p:txBody>
          <a:bodyPr/>
          <a:lstStyle/>
          <a:p>
            <a:r>
              <a:rPr lang="en-US" dirty="0" smtClean="0"/>
              <a:t>Bridging the Gap</a:t>
            </a:r>
            <a:endParaRPr lang="en-US" dirty="0"/>
          </a:p>
        </p:txBody>
      </p:sp>
      <p:sp>
        <p:nvSpPr>
          <p:cNvPr id="3" name="Content Placeholder 2"/>
          <p:cNvSpPr>
            <a:spLocks noGrp="1"/>
          </p:cNvSpPr>
          <p:nvPr>
            <p:ph idx="1"/>
          </p:nvPr>
        </p:nvSpPr>
        <p:spPr>
          <a:xfrm>
            <a:off x="457200" y="971550"/>
            <a:ext cx="7772400" cy="3989070"/>
          </a:xfrm>
        </p:spPr>
        <p:txBody>
          <a:bodyPr>
            <a:noAutofit/>
          </a:bodyPr>
          <a:lstStyle/>
          <a:p>
            <a:r>
              <a:rPr lang="en-US" sz="3200" dirty="0" smtClean="0"/>
              <a:t>Gulf of Execution: “How do I do it?” </a:t>
            </a:r>
          </a:p>
          <a:p>
            <a:pPr lvl="1"/>
            <a:r>
              <a:rPr lang="en-US" sz="2800" dirty="0" smtClean="0"/>
              <a:t>Commands and mechanisms need to match the goals, intension,  and expectations of a person </a:t>
            </a:r>
          </a:p>
          <a:p>
            <a:endParaRPr lang="en-US" sz="3200" dirty="0" smtClean="0"/>
          </a:p>
          <a:p>
            <a:r>
              <a:rPr lang="en-US" sz="3200" dirty="0" smtClean="0"/>
              <a:t>Gulf of Evaluation: “What does it mean?” </a:t>
            </a:r>
          </a:p>
          <a:p>
            <a:pPr lvl="1"/>
            <a:r>
              <a:rPr lang="en-US" sz="2800" dirty="0" smtClean="0"/>
              <a:t>Output needs to present a view of the system that is readily perceived, interpreted, and evaluated</a:t>
            </a:r>
            <a:endParaRPr lang="en-US" sz="28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45</a:t>
            </a:fld>
            <a:endParaRPr lang="en-US"/>
          </a:p>
        </p:txBody>
      </p:sp>
    </p:spTree>
    <p:extLst>
      <p:ext uri="{BB962C8B-B14F-4D97-AF65-F5344CB8AC3E}">
        <p14:creationId xmlns="" xmlns:p14="http://schemas.microsoft.com/office/powerpoint/2010/main" val="593439651"/>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09550"/>
            <a:ext cx="7315200" cy="865573"/>
          </a:xfrm>
        </p:spPr>
        <p:txBody>
          <a:bodyPr/>
          <a:lstStyle/>
          <a:p>
            <a:r>
              <a:rPr lang="en-US" b="1" u="sng" dirty="0" smtClean="0"/>
              <a:t>The Interaction Framework</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46</a:t>
            </a:fld>
            <a:endParaRPr lang="en-US"/>
          </a:p>
        </p:txBody>
      </p:sp>
      <p:pic>
        <p:nvPicPr>
          <p:cNvPr id="18433" name="Picture 1"/>
          <p:cNvPicPr>
            <a:picLocks noChangeAspect="1" noChangeArrowheads="1"/>
          </p:cNvPicPr>
          <p:nvPr/>
        </p:nvPicPr>
        <p:blipFill>
          <a:blip r:embed="rId2"/>
          <a:srcRect/>
          <a:stretch>
            <a:fillRect/>
          </a:stretch>
        </p:blipFill>
        <p:spPr bwMode="auto">
          <a:xfrm>
            <a:off x="533400" y="1504950"/>
            <a:ext cx="3028950" cy="2276475"/>
          </a:xfrm>
          <a:prstGeom prst="rect">
            <a:avLst/>
          </a:prstGeom>
          <a:noFill/>
          <a:ln w="9525">
            <a:noFill/>
            <a:miter lim="800000"/>
            <a:headEnd/>
            <a:tailEnd/>
          </a:ln>
          <a:effectLst/>
        </p:spPr>
      </p:pic>
      <p:pic>
        <p:nvPicPr>
          <p:cNvPr id="3" name="Picture 2" descr="Dix et al – HCI Chapter 3 Summary | hcc629poole"/>
          <p:cNvPicPr>
            <a:picLocks noChangeAspect="1" noChangeArrowheads="1"/>
          </p:cNvPicPr>
          <p:nvPr/>
        </p:nvPicPr>
        <p:blipFill>
          <a:blip r:embed="rId3"/>
          <a:srcRect/>
          <a:stretch>
            <a:fillRect/>
          </a:stretch>
        </p:blipFill>
        <p:spPr bwMode="auto">
          <a:xfrm>
            <a:off x="4648200" y="1428750"/>
            <a:ext cx="3914775" cy="2356656"/>
          </a:xfrm>
          <a:prstGeom prst="rect">
            <a:avLst/>
          </a:prstGeom>
          <a:noFill/>
        </p:spPr>
      </p:pic>
      <p:sp>
        <p:nvSpPr>
          <p:cNvPr id="9" name="TextBox 8"/>
          <p:cNvSpPr txBox="1"/>
          <p:nvPr/>
        </p:nvSpPr>
        <p:spPr>
          <a:xfrm>
            <a:off x="381000" y="4171950"/>
            <a:ext cx="3435556" cy="369332"/>
          </a:xfrm>
          <a:prstGeom prst="rect">
            <a:avLst/>
          </a:prstGeom>
          <a:noFill/>
        </p:spPr>
        <p:txBody>
          <a:bodyPr wrap="none" rtlCol="0">
            <a:spAutoFit/>
          </a:bodyPr>
          <a:lstStyle/>
          <a:p>
            <a:r>
              <a:rPr lang="en-US" dirty="0" smtClean="0"/>
              <a:t>The general interaction framework</a:t>
            </a:r>
            <a:endParaRPr lang="en-US" dirty="0"/>
          </a:p>
        </p:txBody>
      </p:sp>
      <p:sp>
        <p:nvSpPr>
          <p:cNvPr id="10" name="TextBox 9"/>
          <p:cNvSpPr txBox="1"/>
          <p:nvPr/>
        </p:nvSpPr>
        <p:spPr>
          <a:xfrm>
            <a:off x="4876800" y="4171950"/>
            <a:ext cx="3408690" cy="369332"/>
          </a:xfrm>
          <a:prstGeom prst="rect">
            <a:avLst/>
          </a:prstGeom>
          <a:noFill/>
        </p:spPr>
        <p:txBody>
          <a:bodyPr wrap="none" rtlCol="0">
            <a:spAutoFit/>
          </a:bodyPr>
          <a:lstStyle/>
          <a:p>
            <a:r>
              <a:rPr lang="en-US" dirty="0" smtClean="0"/>
              <a:t>Translations between components</a:t>
            </a:r>
            <a:endParaRPr lang="en-US" dirty="0"/>
          </a:p>
        </p:txBody>
      </p:sp>
    </p:spTree>
    <p:extLst>
      <p:ext uri="{BB962C8B-B14F-4D97-AF65-F5344CB8AC3E}">
        <p14:creationId xmlns="" xmlns:p14="http://schemas.microsoft.com/office/powerpoint/2010/main" val="2173985116"/>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834"/>
            <a:ext cx="7315200" cy="865573"/>
          </a:xfrm>
        </p:spPr>
        <p:txBody>
          <a:bodyPr/>
          <a:lstStyle/>
          <a:p>
            <a:r>
              <a:rPr lang="en-US" dirty="0"/>
              <a:t>Text entry devices</a:t>
            </a:r>
          </a:p>
        </p:txBody>
      </p:sp>
      <p:sp>
        <p:nvSpPr>
          <p:cNvPr id="3" name="Content Placeholder 2"/>
          <p:cNvSpPr>
            <a:spLocks noGrp="1"/>
          </p:cNvSpPr>
          <p:nvPr>
            <p:ph idx="1"/>
          </p:nvPr>
        </p:nvSpPr>
        <p:spPr>
          <a:xfrm>
            <a:off x="914400" y="971550"/>
            <a:ext cx="7315200" cy="3989070"/>
          </a:xfrm>
        </p:spPr>
        <p:txBody>
          <a:bodyPr>
            <a:normAutofit/>
          </a:bodyPr>
          <a:lstStyle/>
          <a:p>
            <a:r>
              <a:rPr lang="en-US" dirty="0"/>
              <a:t>The most obvious means of  text entry is the plain keyboard, but there are several variations on this: different keyboard layouts, ‘chord’ keyboards that use combinations of fingers to enter letters, and phone key pads. Handwriting and speech recognition offer more radical alternatives.</a:t>
            </a:r>
          </a:p>
          <a:p>
            <a:r>
              <a:rPr lang="en-US" dirty="0"/>
              <a:t>The alphanumeric keyboard The keyboard is still one of the most common input devices in use today. It is used for entering textual data and commands. The vast majority of keyboards have a standardized layout, and are known by the first six letters of the top row of alphabetical</a:t>
            </a:r>
          </a:p>
          <a:p>
            <a:r>
              <a:rPr lang="en-US" dirty="0"/>
              <a:t>keys, QWERTY. </a:t>
            </a:r>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47</a:t>
            </a:fld>
            <a:endParaRPr lang="en-US"/>
          </a:p>
        </p:txBody>
      </p:sp>
    </p:spTree>
    <p:extLst>
      <p:ext uri="{BB962C8B-B14F-4D97-AF65-F5344CB8AC3E}">
        <p14:creationId xmlns="" xmlns:p14="http://schemas.microsoft.com/office/powerpoint/2010/main" val="593439651"/>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1950"/>
            <a:ext cx="7315200" cy="865573"/>
          </a:xfrm>
        </p:spPr>
        <p:txBody>
          <a:bodyPr>
            <a:normAutofit fontScale="90000"/>
          </a:bodyPr>
          <a:lstStyle/>
          <a:p>
            <a:r>
              <a:rPr lang="en-US" b="1" dirty="0"/>
              <a:t>The QWERTY keyboard</a:t>
            </a:r>
            <a:r>
              <a:rPr lang="en-US" dirty="0"/>
              <a:t/>
            </a:r>
            <a:br>
              <a:rPr lang="en-US" dirty="0"/>
            </a:br>
            <a:endParaRPr lang="en-US" dirty="0"/>
          </a:p>
        </p:txBody>
      </p:sp>
      <p:sp>
        <p:nvSpPr>
          <p:cNvPr id="3" name="Content Placeholder 2"/>
          <p:cNvSpPr>
            <a:spLocks noGrp="1"/>
          </p:cNvSpPr>
          <p:nvPr>
            <p:ph idx="1"/>
          </p:nvPr>
        </p:nvSpPr>
        <p:spPr>
          <a:xfrm>
            <a:off x="228600" y="1047751"/>
            <a:ext cx="8001000" cy="3684270"/>
          </a:xfrm>
        </p:spPr>
        <p:txBody>
          <a:bodyPr/>
          <a:lstStyle/>
          <a:p>
            <a:r>
              <a:rPr lang="en-US" dirty="0" smtClean="0"/>
              <a:t>The </a:t>
            </a:r>
            <a:r>
              <a:rPr lang="en-US" dirty="0"/>
              <a:t>layout of the digits and letters on a QWERTY keyboard is fixed </a:t>
            </a:r>
            <a:r>
              <a:rPr lang="en-US" dirty="0" smtClean="0"/>
              <a:t>, but </a:t>
            </a:r>
            <a:r>
              <a:rPr lang="en-US" dirty="0"/>
              <a:t>non-alphanumeric keys vary between keyboards</a:t>
            </a:r>
            <a:r>
              <a:rPr lang="en-US" dirty="0" smtClean="0"/>
              <a:t>.</a:t>
            </a:r>
          </a:p>
          <a:p>
            <a:endParaRPr lang="en-US" dirty="0"/>
          </a:p>
          <a:p>
            <a:endParaRPr lang="en-US" dirty="0"/>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48</a:t>
            </a:fld>
            <a:endParaRPr lang="en-US"/>
          </a:p>
        </p:txBody>
      </p:sp>
      <p:pic>
        <p:nvPicPr>
          <p:cNvPr id="2050"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219200" y="1885950"/>
            <a:ext cx="5867400" cy="24384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825130875"/>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38150"/>
            <a:ext cx="7315200" cy="865573"/>
          </a:xfrm>
        </p:spPr>
        <p:txBody>
          <a:bodyPr/>
          <a:lstStyle/>
          <a:p>
            <a:r>
              <a:rPr lang="en-US" dirty="0" smtClean="0"/>
              <a:t>Alphabetic Layout</a:t>
            </a:r>
            <a:endParaRPr lang="en-US" dirty="0"/>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en-US" smtClean="0"/>
              <a:t>Dr.S.L.Jayalakshmi, VIT Chennai</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49</a:t>
            </a:fld>
            <a:endParaRPr lang="en-US"/>
          </a:p>
        </p:txBody>
      </p:sp>
      <p:pic>
        <p:nvPicPr>
          <p:cNvPr id="76802" name="Picture 2" descr="vector white pc keyboard, keyboard is very useful tool for personal computer, it is necessary to write words"/>
          <p:cNvPicPr>
            <a:picLocks noChangeAspect="1" noChangeArrowheads="1"/>
          </p:cNvPicPr>
          <p:nvPr/>
        </p:nvPicPr>
        <p:blipFill>
          <a:blip r:embed="rId2"/>
          <a:srcRect/>
          <a:stretch>
            <a:fillRect/>
          </a:stretch>
        </p:blipFill>
        <p:spPr bwMode="auto">
          <a:xfrm>
            <a:off x="1600200" y="2190750"/>
            <a:ext cx="5715000" cy="2247901"/>
          </a:xfrm>
          <a:prstGeom prst="rect">
            <a:avLst/>
          </a:prstGeom>
          <a:noFill/>
        </p:spPr>
      </p:pic>
    </p:spTree>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38150"/>
            <a:ext cx="7315200" cy="865573"/>
          </a:xfrm>
        </p:spPr>
        <p:txBody>
          <a:bodyPr/>
          <a:lstStyle/>
          <a:p>
            <a:r>
              <a:rPr lang="en-US" dirty="0" smtClean="0"/>
              <a:t>Dvorak Layout</a:t>
            </a:r>
            <a:endParaRPr lang="en-US" dirty="0"/>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en-US" smtClean="0"/>
              <a:t>Dr.S.L.Jayalakshmi, VIT Chennai</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50</a:t>
            </a:fld>
            <a:endParaRPr lang="en-US"/>
          </a:p>
        </p:txBody>
      </p:sp>
      <p:pic>
        <p:nvPicPr>
          <p:cNvPr id="81922" name="Picture 2" descr="The Dvorak Keyboard"/>
          <p:cNvPicPr>
            <a:picLocks noChangeAspect="1" noChangeArrowheads="1"/>
          </p:cNvPicPr>
          <p:nvPr/>
        </p:nvPicPr>
        <p:blipFill>
          <a:blip r:embed="rId2"/>
          <a:srcRect/>
          <a:stretch>
            <a:fillRect/>
          </a:stretch>
        </p:blipFill>
        <p:spPr bwMode="auto">
          <a:xfrm>
            <a:off x="1219201" y="1704737"/>
            <a:ext cx="6019800" cy="3160395"/>
          </a:xfrm>
          <a:prstGeom prst="rect">
            <a:avLst/>
          </a:prstGeom>
          <a:noFill/>
        </p:spPr>
      </p:pic>
    </p:spTree>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38150"/>
            <a:ext cx="7315200" cy="865573"/>
          </a:xfrm>
        </p:spPr>
        <p:txBody>
          <a:bodyPr/>
          <a:lstStyle/>
          <a:p>
            <a:r>
              <a:rPr lang="en-US" dirty="0" smtClean="0"/>
              <a:t>Special Keyboards</a:t>
            </a:r>
            <a:endParaRPr lang="en-US" dirty="0"/>
          </a:p>
        </p:txBody>
      </p:sp>
      <p:sp>
        <p:nvSpPr>
          <p:cNvPr id="3" name="Content Placeholder 2"/>
          <p:cNvSpPr>
            <a:spLocks noGrp="1"/>
          </p:cNvSpPr>
          <p:nvPr>
            <p:ph idx="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51</a:t>
            </a:fld>
            <a:endParaRPr lang="en-US"/>
          </a:p>
        </p:txBody>
      </p:sp>
      <p:pic>
        <p:nvPicPr>
          <p:cNvPr id="82948" name="Picture 4" descr="Maltron Keyboards - Single hand"/>
          <p:cNvPicPr>
            <a:picLocks noChangeAspect="1" noChangeArrowheads="1"/>
          </p:cNvPicPr>
          <p:nvPr/>
        </p:nvPicPr>
        <p:blipFill>
          <a:blip r:embed="rId2" cstate="print"/>
          <a:srcRect/>
          <a:stretch>
            <a:fillRect/>
          </a:stretch>
        </p:blipFill>
        <p:spPr bwMode="auto">
          <a:xfrm>
            <a:off x="6400800" y="1047750"/>
            <a:ext cx="2403384" cy="1438276"/>
          </a:xfrm>
          <a:prstGeom prst="rect">
            <a:avLst/>
          </a:prstGeom>
          <a:noFill/>
        </p:spPr>
      </p:pic>
      <p:pic>
        <p:nvPicPr>
          <p:cNvPr id="82949" name="Picture 5"/>
          <p:cNvPicPr>
            <a:picLocks noChangeAspect="1" noChangeArrowheads="1"/>
          </p:cNvPicPr>
          <p:nvPr/>
        </p:nvPicPr>
        <p:blipFill>
          <a:blip r:embed="rId3"/>
          <a:srcRect/>
          <a:stretch>
            <a:fillRect/>
          </a:stretch>
        </p:blipFill>
        <p:spPr bwMode="auto">
          <a:xfrm>
            <a:off x="228600" y="1657350"/>
            <a:ext cx="5991225" cy="2581275"/>
          </a:xfrm>
          <a:prstGeom prst="rect">
            <a:avLst/>
          </a:prstGeom>
          <a:noFill/>
          <a:ln w="9525">
            <a:noFill/>
            <a:miter lim="800000"/>
            <a:headEnd/>
            <a:tailEnd/>
          </a:ln>
          <a:effectLst/>
        </p:spPr>
      </p:pic>
      <p:pic>
        <p:nvPicPr>
          <p:cNvPr id="82950" name="Picture 6"/>
          <p:cNvPicPr>
            <a:picLocks noChangeAspect="1" noChangeArrowheads="1"/>
          </p:cNvPicPr>
          <p:nvPr/>
        </p:nvPicPr>
        <p:blipFill>
          <a:blip r:embed="rId4"/>
          <a:srcRect/>
          <a:stretch>
            <a:fillRect/>
          </a:stretch>
        </p:blipFill>
        <p:spPr bwMode="auto">
          <a:xfrm>
            <a:off x="6553200" y="2800350"/>
            <a:ext cx="2286000" cy="1754372"/>
          </a:xfrm>
          <a:prstGeom prst="rect">
            <a:avLst/>
          </a:prstGeom>
          <a:noFill/>
          <a:ln w="9525">
            <a:noFill/>
            <a:miter lim="800000"/>
            <a:headEnd/>
            <a:tailEnd/>
          </a:ln>
          <a:effectLst/>
        </p:spPr>
      </p:pic>
    </p:spTree>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38150"/>
            <a:ext cx="7315200" cy="865573"/>
          </a:xfrm>
        </p:spPr>
        <p:txBody>
          <a:bodyPr/>
          <a:lstStyle/>
          <a:p>
            <a:r>
              <a:rPr lang="en-US" dirty="0" smtClean="0"/>
              <a:t>Phone pads</a:t>
            </a:r>
            <a:endParaRPr lang="en-US" dirty="0"/>
          </a:p>
        </p:txBody>
      </p:sp>
      <p:sp>
        <p:nvSpPr>
          <p:cNvPr id="3" name="Content Placeholder 2"/>
          <p:cNvSpPr>
            <a:spLocks noGrp="1"/>
          </p:cNvSpPr>
          <p:nvPr>
            <p:ph idx="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52</a:t>
            </a:fld>
            <a:endParaRPr lang="en-US"/>
          </a:p>
        </p:txBody>
      </p:sp>
      <p:pic>
        <p:nvPicPr>
          <p:cNvPr id="83970" name="Picture 2" descr="Text Entry Using a Small Number of Buttons"/>
          <p:cNvPicPr>
            <a:picLocks noChangeAspect="1" noChangeArrowheads="1"/>
          </p:cNvPicPr>
          <p:nvPr/>
        </p:nvPicPr>
        <p:blipFill>
          <a:blip r:embed="rId2"/>
          <a:srcRect/>
          <a:stretch>
            <a:fillRect/>
          </a:stretch>
        </p:blipFill>
        <p:spPr bwMode="auto">
          <a:xfrm>
            <a:off x="3352800" y="1733550"/>
            <a:ext cx="2971800" cy="2771204"/>
          </a:xfrm>
          <a:prstGeom prst="rect">
            <a:avLst/>
          </a:prstGeom>
          <a:noFill/>
        </p:spPr>
      </p:pic>
    </p:spTree>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38150"/>
            <a:ext cx="7315200" cy="865573"/>
          </a:xfrm>
        </p:spPr>
        <p:txBody>
          <a:bodyPr/>
          <a:lstStyle/>
          <a:p>
            <a:r>
              <a:rPr lang="en-US" dirty="0" smtClean="0"/>
              <a:t>Numeric Keypad</a:t>
            </a:r>
            <a:endParaRPr lang="en-US" dirty="0"/>
          </a:p>
        </p:txBody>
      </p:sp>
      <p:sp>
        <p:nvSpPr>
          <p:cNvPr id="3" name="Content Placeholder 2"/>
          <p:cNvSpPr>
            <a:spLocks noGrp="1"/>
          </p:cNvSpPr>
          <p:nvPr>
            <p:ph idx="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53</a:t>
            </a:fld>
            <a:endParaRPr lang="en-US"/>
          </a:p>
        </p:txBody>
      </p:sp>
      <p:pic>
        <p:nvPicPr>
          <p:cNvPr id="84994" name="Picture 2"/>
          <p:cNvPicPr>
            <a:picLocks noChangeAspect="1" noChangeArrowheads="1"/>
          </p:cNvPicPr>
          <p:nvPr/>
        </p:nvPicPr>
        <p:blipFill>
          <a:blip r:embed="rId2"/>
          <a:srcRect/>
          <a:stretch>
            <a:fillRect/>
          </a:stretch>
        </p:blipFill>
        <p:spPr bwMode="auto">
          <a:xfrm>
            <a:off x="2819400" y="1885950"/>
            <a:ext cx="3057525" cy="2486025"/>
          </a:xfrm>
          <a:prstGeom prst="rect">
            <a:avLst/>
          </a:prstGeom>
          <a:noFill/>
          <a:ln w="9525">
            <a:noFill/>
            <a:miter lim="800000"/>
            <a:headEnd/>
            <a:tailEnd/>
          </a:ln>
          <a:effectLst/>
        </p:spPr>
      </p:pic>
    </p:spTree>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438150"/>
            <a:ext cx="7315200" cy="865573"/>
          </a:xfrm>
        </p:spPr>
        <p:txBody>
          <a:bodyPr>
            <a:normAutofit fontScale="90000"/>
          </a:bodyPr>
          <a:lstStyle/>
          <a:p>
            <a:r>
              <a:rPr lang="en-US" b="1" dirty="0" smtClean="0"/>
              <a:t/>
            </a:r>
            <a:br>
              <a:rPr lang="en-US" b="1" dirty="0" smtClean="0"/>
            </a:br>
            <a:r>
              <a:rPr lang="en-US" b="1" dirty="0"/>
              <a:t/>
            </a:r>
            <a:br>
              <a:rPr lang="en-US" b="1" dirty="0"/>
            </a:br>
            <a:r>
              <a:rPr lang="en-US" b="1" dirty="0" smtClean="0"/>
              <a:t/>
            </a:r>
            <a:br>
              <a:rPr lang="en-US" b="1" dirty="0" smtClean="0"/>
            </a:br>
            <a:r>
              <a:rPr lang="en-US" b="1" dirty="0"/>
              <a:t/>
            </a:r>
            <a:br>
              <a:rPr lang="en-US" b="1" dirty="0"/>
            </a:br>
            <a:r>
              <a:rPr lang="en-US" b="1" dirty="0" smtClean="0"/>
              <a:t/>
            </a:r>
            <a:br>
              <a:rPr lang="en-US" b="1" dirty="0" smtClean="0"/>
            </a:br>
            <a:r>
              <a:rPr lang="en-US" b="1" dirty="0"/>
              <a:t/>
            </a:r>
            <a:br>
              <a:rPr lang="en-US" b="1" dirty="0"/>
            </a:br>
            <a:r>
              <a:rPr lang="en-US" b="1" dirty="0" smtClean="0"/>
              <a:t>Chord </a:t>
            </a:r>
            <a:r>
              <a:rPr lang="en-US" b="1" dirty="0"/>
              <a:t>keyboards</a:t>
            </a:r>
            <a:r>
              <a:rPr lang="en-US" dirty="0"/>
              <a:t/>
            </a:r>
            <a:br>
              <a:rPr lang="en-US" dirty="0"/>
            </a:br>
            <a:endParaRPr lang="en-US" dirty="0"/>
          </a:p>
        </p:txBody>
      </p:sp>
      <p:sp>
        <p:nvSpPr>
          <p:cNvPr id="3" name="Content Placeholder 2"/>
          <p:cNvSpPr>
            <a:spLocks noGrp="1"/>
          </p:cNvSpPr>
          <p:nvPr>
            <p:ph idx="1"/>
          </p:nvPr>
        </p:nvSpPr>
        <p:spPr>
          <a:xfrm>
            <a:off x="152400" y="971551"/>
            <a:ext cx="8077200" cy="3760470"/>
          </a:xfrm>
        </p:spPr>
        <p:txBody>
          <a:bodyPr/>
          <a:lstStyle/>
          <a:p>
            <a:r>
              <a:rPr lang="en-US" dirty="0"/>
              <a:t>Chord keyboards are significantly different from normal alphanumeric keyboards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54</a:t>
            </a:fld>
            <a:endParaRPr lang="en-US"/>
          </a:p>
        </p:txBody>
      </p:sp>
      <p:pic>
        <p:nvPicPr>
          <p:cNvPr id="3074"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905000" y="1681750"/>
            <a:ext cx="6057900" cy="2775949"/>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3245873934"/>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7315200" cy="865573"/>
          </a:xfrm>
        </p:spPr>
        <p:txBody>
          <a:bodyPr/>
          <a:lstStyle/>
          <a:p>
            <a:r>
              <a:rPr lang="en-US" dirty="0"/>
              <a:t>Positioning, pointing and drawing</a:t>
            </a:r>
          </a:p>
        </p:txBody>
      </p:sp>
      <p:sp>
        <p:nvSpPr>
          <p:cNvPr id="3" name="Content Placeholder 2"/>
          <p:cNvSpPr>
            <a:spLocks noGrp="1"/>
          </p:cNvSpPr>
          <p:nvPr>
            <p:ph idx="1"/>
          </p:nvPr>
        </p:nvSpPr>
        <p:spPr>
          <a:xfrm>
            <a:off x="609600" y="1276351"/>
            <a:ext cx="7620000" cy="3455670"/>
          </a:xfrm>
        </p:spPr>
        <p:txBody>
          <a:bodyPr/>
          <a:lstStyle/>
          <a:p>
            <a:r>
              <a:rPr lang="en-US" b="1" dirty="0"/>
              <a:t>The mouse</a:t>
            </a:r>
            <a:endParaRPr lang="en-US" dirty="0"/>
          </a:p>
          <a:p>
            <a:endParaRPr lang="en-US" dirty="0"/>
          </a:p>
          <a:p>
            <a:r>
              <a:rPr lang="en-US" dirty="0"/>
              <a:t>The mouse has become a major component of the majority of desktop computer systems sold today, and is the little box with the tail connecting it to the machine in our basic computer system picture .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55</a:t>
            </a:fld>
            <a:endParaRPr lang="en-US"/>
          </a:p>
        </p:txBody>
      </p:sp>
      <p:pic>
        <p:nvPicPr>
          <p:cNvPr id="13314" name="Picture 2" descr="Computer Mouse Icon Symbol Set"/>
          <p:cNvPicPr>
            <a:picLocks noChangeAspect="1" noChangeArrowheads="1"/>
          </p:cNvPicPr>
          <p:nvPr/>
        </p:nvPicPr>
        <p:blipFill>
          <a:blip r:embed="rId2"/>
          <a:srcRect/>
          <a:stretch>
            <a:fillRect/>
          </a:stretch>
        </p:blipFill>
        <p:spPr bwMode="auto">
          <a:xfrm>
            <a:off x="5638800" y="3013710"/>
            <a:ext cx="2971800" cy="2129790"/>
          </a:xfrm>
          <a:prstGeom prst="rect">
            <a:avLst/>
          </a:prstGeom>
          <a:noFill/>
        </p:spPr>
      </p:pic>
    </p:spTree>
    <p:extLst>
      <p:ext uri="{BB962C8B-B14F-4D97-AF65-F5344CB8AC3E}">
        <p14:creationId xmlns="" xmlns:p14="http://schemas.microsoft.com/office/powerpoint/2010/main" val="868406611"/>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42950"/>
            <a:ext cx="7315200" cy="865573"/>
          </a:xfrm>
        </p:spPr>
        <p:txBody>
          <a:bodyPr>
            <a:normAutofit fontScale="90000"/>
          </a:bodyPr>
          <a:lstStyle/>
          <a:p>
            <a:r>
              <a:rPr lang="en-US" b="1" dirty="0"/>
              <a:t>Touchpad</a:t>
            </a:r>
            <a:r>
              <a:rPr lang="en-US" dirty="0"/>
              <a:t/>
            </a:r>
            <a:br>
              <a:rPr lang="en-US" dirty="0"/>
            </a:br>
            <a:endParaRPr lang="en-US" dirty="0"/>
          </a:p>
        </p:txBody>
      </p:sp>
      <p:sp>
        <p:nvSpPr>
          <p:cNvPr id="3" name="Content Placeholder 2"/>
          <p:cNvSpPr>
            <a:spLocks noGrp="1"/>
          </p:cNvSpPr>
          <p:nvPr>
            <p:ph idx="1"/>
          </p:nvPr>
        </p:nvSpPr>
        <p:spPr>
          <a:xfrm>
            <a:off x="304800" y="742950"/>
            <a:ext cx="7315200" cy="2654645"/>
          </a:xfrm>
        </p:spPr>
        <p:txBody>
          <a:bodyPr/>
          <a:lstStyle/>
          <a:p>
            <a:pPr marL="45720" indent="0">
              <a:buNone/>
            </a:pPr>
            <a:endParaRPr lang="en-US" dirty="0"/>
          </a:p>
          <a:p>
            <a:pPr marL="45720" indent="0">
              <a:buNone/>
            </a:pPr>
            <a:endParaRPr lang="en-US" dirty="0"/>
          </a:p>
          <a:p>
            <a:r>
              <a:rPr lang="en-US" dirty="0"/>
              <a:t>Touchpads are touch-sensitive tablets usually around 2–3 inches (50–75 mm) square. They were first used extensively in Apple </a:t>
            </a:r>
            <a:r>
              <a:rPr lang="en-US" dirty="0" err="1"/>
              <a:t>Powerbook</a:t>
            </a:r>
            <a:r>
              <a:rPr lang="en-US" dirty="0"/>
              <a:t> portable computers but are now used in many other notebook computers and can be obtained separately to replace the mouse on the desktop</a:t>
            </a:r>
            <a:r>
              <a:rPr lang="en-US" dirty="0" smtClean="0"/>
              <a:t>.</a:t>
            </a:r>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56</a:t>
            </a:fld>
            <a:endParaRPr lang="en-US"/>
          </a:p>
        </p:txBody>
      </p:sp>
      <p:sp>
        <p:nvSpPr>
          <p:cNvPr id="12290" name="AutoShape 2" descr="What is a Touchpa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292" name="AutoShape 4" descr="What is a Touchpa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2293" name="Picture 5"/>
          <p:cNvPicPr>
            <a:picLocks noChangeAspect="1" noChangeArrowheads="1"/>
          </p:cNvPicPr>
          <p:nvPr/>
        </p:nvPicPr>
        <p:blipFill>
          <a:blip r:embed="rId2"/>
          <a:srcRect/>
          <a:stretch>
            <a:fillRect/>
          </a:stretch>
        </p:blipFill>
        <p:spPr bwMode="auto">
          <a:xfrm>
            <a:off x="5943600" y="2800350"/>
            <a:ext cx="2143125" cy="2143125"/>
          </a:xfrm>
          <a:prstGeom prst="rect">
            <a:avLst/>
          </a:prstGeom>
          <a:noFill/>
          <a:ln w="9525">
            <a:noFill/>
            <a:miter lim="800000"/>
            <a:headEnd/>
            <a:tailEnd/>
          </a:ln>
          <a:effectLst/>
        </p:spPr>
      </p:pic>
    </p:spTree>
    <p:extLst>
      <p:ext uri="{BB962C8B-B14F-4D97-AF65-F5344CB8AC3E}">
        <p14:creationId xmlns="" xmlns:p14="http://schemas.microsoft.com/office/powerpoint/2010/main" val="4129413101"/>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Trackball and thumbwheel</a:t>
            </a:r>
            <a:r>
              <a:rPr lang="en-US" dirty="0"/>
              <a:t/>
            </a:r>
            <a:br>
              <a:rPr lang="en-US" dirty="0"/>
            </a:br>
            <a:endParaRPr lang="en-US" dirty="0"/>
          </a:p>
        </p:txBody>
      </p:sp>
      <p:sp>
        <p:nvSpPr>
          <p:cNvPr id="3" name="Content Placeholder 2"/>
          <p:cNvSpPr>
            <a:spLocks noGrp="1"/>
          </p:cNvSpPr>
          <p:nvPr>
            <p:ph idx="1"/>
          </p:nvPr>
        </p:nvSpPr>
        <p:spPr>
          <a:xfrm>
            <a:off x="762000" y="1352550"/>
            <a:ext cx="7315200" cy="2654645"/>
          </a:xfrm>
        </p:spPr>
        <p:txBody>
          <a:bodyPr/>
          <a:lstStyle/>
          <a:p>
            <a:pPr marL="45720" indent="0">
              <a:buNone/>
            </a:pPr>
            <a:r>
              <a:rPr lang="en-US" b="1" dirty="0"/>
              <a:t> </a:t>
            </a:r>
            <a:endParaRPr lang="en-US" dirty="0"/>
          </a:p>
          <a:p>
            <a:r>
              <a:rPr lang="en-US" dirty="0"/>
              <a:t>The trackball is really just an upside-down mouse! A weighted ball faces upwards and is rotated inside a static housing, the motion being detected in the same way as for a mechanical mouse, and the relative motion of the ball moves the cursor.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57</a:t>
            </a:fld>
            <a:endParaRPr lang="en-US"/>
          </a:p>
        </p:txBody>
      </p:sp>
      <p:pic>
        <p:nvPicPr>
          <p:cNvPr id="11265" name="Picture 1"/>
          <p:cNvPicPr>
            <a:picLocks noChangeAspect="1" noChangeArrowheads="1"/>
          </p:cNvPicPr>
          <p:nvPr/>
        </p:nvPicPr>
        <p:blipFill>
          <a:blip r:embed="rId2"/>
          <a:srcRect/>
          <a:stretch>
            <a:fillRect/>
          </a:stretch>
        </p:blipFill>
        <p:spPr bwMode="auto">
          <a:xfrm>
            <a:off x="2514600" y="3257550"/>
            <a:ext cx="1323975" cy="1628775"/>
          </a:xfrm>
          <a:prstGeom prst="rect">
            <a:avLst/>
          </a:prstGeom>
          <a:noFill/>
          <a:ln w="9525">
            <a:noFill/>
            <a:miter lim="800000"/>
            <a:headEnd/>
            <a:tailEnd/>
          </a:ln>
          <a:effectLst/>
        </p:spPr>
      </p:pic>
      <p:pic>
        <p:nvPicPr>
          <p:cNvPr id="11266" name="Picture 2"/>
          <p:cNvPicPr>
            <a:picLocks noChangeAspect="1" noChangeArrowheads="1"/>
          </p:cNvPicPr>
          <p:nvPr/>
        </p:nvPicPr>
        <p:blipFill>
          <a:blip r:embed="rId3"/>
          <a:srcRect/>
          <a:stretch>
            <a:fillRect/>
          </a:stretch>
        </p:blipFill>
        <p:spPr bwMode="auto">
          <a:xfrm>
            <a:off x="4648200" y="3257550"/>
            <a:ext cx="1495425" cy="1685925"/>
          </a:xfrm>
          <a:prstGeom prst="rect">
            <a:avLst/>
          </a:prstGeom>
          <a:noFill/>
          <a:ln w="9525">
            <a:noFill/>
            <a:miter lim="800000"/>
            <a:headEnd/>
            <a:tailEnd/>
          </a:ln>
          <a:effectLst/>
        </p:spPr>
      </p:pic>
    </p:spTree>
    <p:extLst>
      <p:ext uri="{BB962C8B-B14F-4D97-AF65-F5344CB8AC3E}">
        <p14:creationId xmlns="" xmlns:p14="http://schemas.microsoft.com/office/powerpoint/2010/main" val="1766741934"/>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Stylus and light pen</a:t>
            </a:r>
            <a:r>
              <a:rPr lang="en-US" dirty="0"/>
              <a:t/>
            </a:r>
            <a:br>
              <a:rPr lang="en-US" dirty="0"/>
            </a:br>
            <a:endParaRPr lang="en-US" dirty="0"/>
          </a:p>
        </p:txBody>
      </p:sp>
      <p:sp>
        <p:nvSpPr>
          <p:cNvPr id="3" name="Content Placeholder 2"/>
          <p:cNvSpPr>
            <a:spLocks noGrp="1"/>
          </p:cNvSpPr>
          <p:nvPr>
            <p:ph idx="1"/>
          </p:nvPr>
        </p:nvSpPr>
        <p:spPr>
          <a:xfrm>
            <a:off x="762000" y="1428750"/>
            <a:ext cx="5943600" cy="2654645"/>
          </a:xfrm>
        </p:spPr>
        <p:txBody>
          <a:bodyPr/>
          <a:lstStyle/>
          <a:p>
            <a:pPr marL="45720" indent="0">
              <a:buNone/>
            </a:pPr>
            <a:r>
              <a:rPr lang="en-US" dirty="0"/>
              <a:t> </a:t>
            </a:r>
          </a:p>
          <a:p>
            <a:r>
              <a:rPr lang="en-US" dirty="0"/>
              <a:t>For more accurate positioning (and to avoid greasy screens), systems with touch sensitive surfaces often </a:t>
            </a:r>
            <a:r>
              <a:rPr lang="en-US" dirty="0" err="1"/>
              <a:t>emply</a:t>
            </a:r>
            <a:r>
              <a:rPr lang="en-US" dirty="0"/>
              <a:t> a stylus. Instead of pointing at the screen directly a small pen-like plastic stick is used to point and draw on the screen. This is particularly popular in PDAs, but they are also being used in some laptop computers.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58</a:t>
            </a:fld>
            <a:endParaRPr lang="en-US"/>
          </a:p>
        </p:txBody>
      </p:sp>
      <p:pic>
        <p:nvPicPr>
          <p:cNvPr id="10241" name="Picture 1"/>
          <p:cNvPicPr>
            <a:picLocks noChangeAspect="1" noChangeArrowheads="1"/>
          </p:cNvPicPr>
          <p:nvPr/>
        </p:nvPicPr>
        <p:blipFill>
          <a:blip r:embed="rId2"/>
          <a:srcRect/>
          <a:stretch>
            <a:fillRect/>
          </a:stretch>
        </p:blipFill>
        <p:spPr bwMode="auto">
          <a:xfrm>
            <a:off x="6858000" y="1047750"/>
            <a:ext cx="1914525" cy="1457325"/>
          </a:xfrm>
          <a:prstGeom prst="rect">
            <a:avLst/>
          </a:prstGeom>
          <a:noFill/>
          <a:ln w="9525">
            <a:noFill/>
            <a:miter lim="800000"/>
            <a:headEnd/>
            <a:tailEnd/>
          </a:ln>
          <a:effectLst/>
        </p:spPr>
      </p:pic>
      <p:pic>
        <p:nvPicPr>
          <p:cNvPr id="10242" name="Picture 2"/>
          <p:cNvPicPr>
            <a:picLocks noChangeAspect="1" noChangeArrowheads="1"/>
          </p:cNvPicPr>
          <p:nvPr/>
        </p:nvPicPr>
        <p:blipFill>
          <a:blip r:embed="rId3"/>
          <a:srcRect/>
          <a:stretch>
            <a:fillRect/>
          </a:stretch>
        </p:blipFill>
        <p:spPr bwMode="auto">
          <a:xfrm>
            <a:off x="6781800" y="2724150"/>
            <a:ext cx="1857375" cy="2143125"/>
          </a:xfrm>
          <a:prstGeom prst="rect">
            <a:avLst/>
          </a:prstGeom>
          <a:noFill/>
          <a:ln w="9525">
            <a:noFill/>
            <a:miter lim="800000"/>
            <a:headEnd/>
            <a:tailEnd/>
          </a:ln>
          <a:effectLst/>
        </p:spPr>
      </p:pic>
    </p:spTree>
    <p:extLst>
      <p:ext uri="{BB962C8B-B14F-4D97-AF65-F5344CB8AC3E}">
        <p14:creationId xmlns="" xmlns:p14="http://schemas.microsoft.com/office/powerpoint/2010/main" val="3646554160"/>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pPr/>
              <a:t>59</a:t>
            </a:fld>
            <a:endParaRPr lang="en-US"/>
          </a:p>
        </p:txBody>
      </p:sp>
      <p:pic>
        <p:nvPicPr>
          <p:cNvPr id="86018" name="Picture 2"/>
          <p:cNvPicPr>
            <a:picLocks noChangeAspect="1" noChangeArrowheads="1"/>
          </p:cNvPicPr>
          <p:nvPr/>
        </p:nvPicPr>
        <p:blipFill>
          <a:blip r:embed="rId2"/>
          <a:srcRect/>
          <a:stretch>
            <a:fillRect/>
          </a:stretch>
        </p:blipFill>
        <p:spPr bwMode="auto">
          <a:xfrm>
            <a:off x="685800" y="514350"/>
            <a:ext cx="1666875" cy="1400175"/>
          </a:xfrm>
          <a:prstGeom prst="rect">
            <a:avLst/>
          </a:prstGeom>
          <a:noFill/>
          <a:ln w="9525">
            <a:noFill/>
            <a:miter lim="800000"/>
            <a:headEnd/>
            <a:tailEnd/>
          </a:ln>
          <a:effectLst/>
        </p:spPr>
      </p:pic>
      <p:sp>
        <p:nvSpPr>
          <p:cNvPr id="7" name="TextBox 6"/>
          <p:cNvSpPr txBox="1"/>
          <p:nvPr/>
        </p:nvSpPr>
        <p:spPr>
          <a:xfrm>
            <a:off x="457200" y="2190750"/>
            <a:ext cx="2279663" cy="369332"/>
          </a:xfrm>
          <a:prstGeom prst="rect">
            <a:avLst/>
          </a:prstGeom>
          <a:noFill/>
        </p:spPr>
        <p:txBody>
          <a:bodyPr wrap="none" rtlCol="0">
            <a:spAutoFit/>
          </a:bodyPr>
          <a:lstStyle/>
          <a:p>
            <a:r>
              <a:rPr lang="en-US" dirty="0" smtClean="0"/>
              <a:t>Touch sensitive screen</a:t>
            </a:r>
            <a:endParaRPr lang="en-US" dirty="0"/>
          </a:p>
        </p:txBody>
      </p:sp>
      <p:pic>
        <p:nvPicPr>
          <p:cNvPr id="86019" name="Picture 3"/>
          <p:cNvPicPr>
            <a:picLocks noChangeAspect="1" noChangeArrowheads="1"/>
          </p:cNvPicPr>
          <p:nvPr/>
        </p:nvPicPr>
        <p:blipFill>
          <a:blip r:embed="rId3"/>
          <a:srcRect/>
          <a:stretch>
            <a:fillRect/>
          </a:stretch>
        </p:blipFill>
        <p:spPr bwMode="auto">
          <a:xfrm>
            <a:off x="3505200" y="590550"/>
            <a:ext cx="2314575" cy="1571625"/>
          </a:xfrm>
          <a:prstGeom prst="rect">
            <a:avLst/>
          </a:prstGeom>
          <a:noFill/>
          <a:ln w="9525">
            <a:noFill/>
            <a:miter lim="800000"/>
            <a:headEnd/>
            <a:tailEnd/>
          </a:ln>
          <a:effectLst/>
        </p:spPr>
      </p:pic>
      <p:pic>
        <p:nvPicPr>
          <p:cNvPr id="86020" name="Picture 4"/>
          <p:cNvPicPr>
            <a:picLocks noChangeAspect="1" noChangeArrowheads="1"/>
          </p:cNvPicPr>
          <p:nvPr/>
        </p:nvPicPr>
        <p:blipFill>
          <a:blip r:embed="rId4"/>
          <a:srcRect/>
          <a:stretch>
            <a:fillRect/>
          </a:stretch>
        </p:blipFill>
        <p:spPr bwMode="auto">
          <a:xfrm>
            <a:off x="6248400" y="590550"/>
            <a:ext cx="1209675" cy="3228975"/>
          </a:xfrm>
          <a:prstGeom prst="rect">
            <a:avLst/>
          </a:prstGeom>
          <a:noFill/>
          <a:ln w="9525">
            <a:noFill/>
            <a:miter lim="800000"/>
            <a:headEnd/>
            <a:tailEnd/>
          </a:ln>
          <a:effectLst/>
        </p:spPr>
      </p:pic>
      <p:sp>
        <p:nvSpPr>
          <p:cNvPr id="10" name="TextBox 9"/>
          <p:cNvSpPr txBox="1"/>
          <p:nvPr/>
        </p:nvSpPr>
        <p:spPr>
          <a:xfrm>
            <a:off x="3505200" y="2571750"/>
            <a:ext cx="2689839" cy="369332"/>
          </a:xfrm>
          <a:prstGeom prst="rect">
            <a:avLst/>
          </a:prstGeom>
          <a:noFill/>
        </p:spPr>
        <p:txBody>
          <a:bodyPr wrap="none" rtlCol="0">
            <a:spAutoFit/>
          </a:bodyPr>
          <a:lstStyle/>
          <a:p>
            <a:r>
              <a:rPr lang="en-US" dirty="0" smtClean="0"/>
              <a:t>Display Positioning Control</a:t>
            </a:r>
            <a:endParaRPr lang="en-US" dirty="0"/>
          </a:p>
        </p:txBody>
      </p:sp>
      <p:pic>
        <p:nvPicPr>
          <p:cNvPr id="86021" name="Picture 5"/>
          <p:cNvPicPr>
            <a:picLocks noChangeAspect="1" noChangeArrowheads="1"/>
          </p:cNvPicPr>
          <p:nvPr/>
        </p:nvPicPr>
        <p:blipFill>
          <a:blip r:embed="rId5"/>
          <a:srcRect/>
          <a:stretch>
            <a:fillRect/>
          </a:stretch>
        </p:blipFill>
        <p:spPr bwMode="auto">
          <a:xfrm>
            <a:off x="0" y="3486150"/>
            <a:ext cx="5781675" cy="1381125"/>
          </a:xfrm>
          <a:prstGeom prst="rect">
            <a:avLst/>
          </a:prstGeom>
          <a:noFill/>
          <a:ln w="9525">
            <a:noFill/>
            <a:miter lim="800000"/>
            <a:headEnd/>
            <a:tailEnd/>
          </a:ln>
          <a:effectLst/>
        </p:spPr>
      </p:pic>
      <p:sp>
        <p:nvSpPr>
          <p:cNvPr id="12" name="TextBox 11"/>
          <p:cNvSpPr txBox="1"/>
          <p:nvPr/>
        </p:nvSpPr>
        <p:spPr>
          <a:xfrm>
            <a:off x="6096000" y="4248150"/>
            <a:ext cx="2318327" cy="369332"/>
          </a:xfrm>
          <a:prstGeom prst="rect">
            <a:avLst/>
          </a:prstGeom>
          <a:noFill/>
        </p:spPr>
        <p:txBody>
          <a:bodyPr wrap="none" rtlCol="0">
            <a:spAutoFit/>
          </a:bodyPr>
          <a:lstStyle/>
          <a:p>
            <a:r>
              <a:rPr lang="en-US" dirty="0" smtClean="0"/>
              <a:t>Joystick and </a:t>
            </a:r>
            <a:r>
              <a:rPr lang="en-US" dirty="0" err="1" smtClean="0"/>
              <a:t>trackpoint</a:t>
            </a:r>
            <a:endParaRPr lang="en-US" dirty="0"/>
          </a:p>
        </p:txBody>
      </p:sp>
    </p:spTree>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38150"/>
            <a:ext cx="7315200" cy="865573"/>
          </a:xfrm>
        </p:spPr>
        <p:txBody>
          <a:bodyPr>
            <a:normAutofit fontScale="90000"/>
          </a:bodyPr>
          <a:lstStyle/>
          <a:p>
            <a:r>
              <a:rPr lang="en-US" dirty="0"/>
              <a:t>Display </a:t>
            </a:r>
            <a:r>
              <a:rPr lang="en-US" dirty="0" smtClean="0"/>
              <a:t>devices</a:t>
            </a:r>
            <a:r>
              <a:rPr lang="en-US" dirty="0"/>
              <a:t/>
            </a:r>
            <a:br>
              <a:rPr lang="en-US" dirty="0"/>
            </a:br>
            <a:endParaRPr lang="en-US" dirty="0"/>
          </a:p>
        </p:txBody>
      </p:sp>
      <p:sp>
        <p:nvSpPr>
          <p:cNvPr id="3" name="Content Placeholder 2"/>
          <p:cNvSpPr>
            <a:spLocks noGrp="1"/>
          </p:cNvSpPr>
          <p:nvPr>
            <p:ph idx="1"/>
          </p:nvPr>
        </p:nvSpPr>
        <p:spPr>
          <a:xfrm>
            <a:off x="228600" y="971551"/>
            <a:ext cx="8001000" cy="3760470"/>
          </a:xfrm>
        </p:spPr>
        <p:txBody>
          <a:bodyPr>
            <a:normAutofit fontScale="92500" lnSpcReduction="20000"/>
          </a:bodyPr>
          <a:lstStyle/>
          <a:p>
            <a:r>
              <a:rPr lang="en-US" sz="2100" b="1" dirty="0"/>
              <a:t>Bitmap displays – resolution and color</a:t>
            </a:r>
            <a:endParaRPr lang="en-US" sz="2100" dirty="0"/>
          </a:p>
          <a:p>
            <a:pPr marL="45720" indent="0">
              <a:buNone/>
            </a:pPr>
            <a:r>
              <a:rPr lang="en-US" b="1" dirty="0"/>
              <a:t> </a:t>
            </a:r>
            <a:endParaRPr lang="en-US" dirty="0"/>
          </a:p>
          <a:p>
            <a:r>
              <a:rPr lang="en-US" sz="1900" dirty="0"/>
              <a:t>Virtually all computer displays are based on some sort of bitmap. That is the display is made of vast numbers of colored dots or pixels in a rectangular grid. These pixels may be limited to black and white (for example, the small display on many TV remote controls), in grayscale, or full color.</a:t>
            </a:r>
          </a:p>
          <a:p>
            <a:r>
              <a:rPr lang="en-US" sz="1900" dirty="0"/>
              <a:t>There are two numbers to consider:</a:t>
            </a:r>
          </a:p>
          <a:p>
            <a:pPr lvl="1"/>
            <a:r>
              <a:rPr lang="en-US" sz="1700" dirty="0"/>
              <a:t>The total number of pixels: in standard computer displays this is always in a 4:3 ratio, perhaps 1024 pixels across by 768 down, or 1600 ×1200; for PDAs this will be more in the order of a few hundred pixels in each direction.</a:t>
            </a:r>
          </a:p>
          <a:p>
            <a:pPr marL="320040" lvl="1" indent="0">
              <a:buNone/>
            </a:pPr>
            <a:endParaRPr lang="en-US" sz="1700" dirty="0"/>
          </a:p>
          <a:p>
            <a:pPr lvl="1"/>
            <a:r>
              <a:rPr lang="en-US" sz="1700" dirty="0"/>
              <a:t>The density of pixels: this is measured in pixels per inch. Unlike printers this density varies little between 72 and 96 pixels per inch.</a:t>
            </a:r>
          </a:p>
          <a:p>
            <a:r>
              <a:rPr lang="en-US" sz="1900" dirty="0"/>
              <a:t>When using a single color </a:t>
            </a:r>
            <a:r>
              <a:rPr lang="en-US" sz="1900" dirty="0" err="1"/>
              <a:t>jaggies</a:t>
            </a:r>
            <a:r>
              <a:rPr lang="en-US" sz="1900" dirty="0"/>
              <a:t> are inevitable. Similar effects are seen in bitmap fonts.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60</a:t>
            </a:fld>
            <a:endParaRPr lang="en-US"/>
          </a:p>
        </p:txBody>
      </p:sp>
    </p:spTree>
    <p:extLst>
      <p:ext uri="{BB962C8B-B14F-4D97-AF65-F5344CB8AC3E}">
        <p14:creationId xmlns="" xmlns:p14="http://schemas.microsoft.com/office/powerpoint/2010/main" val="1513657195"/>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1950"/>
            <a:ext cx="7315200" cy="865573"/>
          </a:xfrm>
        </p:spPr>
        <p:txBody>
          <a:bodyPr>
            <a:normAutofit fontScale="90000"/>
          </a:bodyPr>
          <a:lstStyle/>
          <a:p>
            <a:r>
              <a:rPr lang="en-US" dirty="0"/>
              <a:t>Devices for virtual reality and 3D interaction</a:t>
            </a:r>
          </a:p>
        </p:txBody>
      </p:sp>
      <p:sp>
        <p:nvSpPr>
          <p:cNvPr id="3" name="Content Placeholder 2"/>
          <p:cNvSpPr>
            <a:spLocks noGrp="1"/>
          </p:cNvSpPr>
          <p:nvPr>
            <p:ph idx="1"/>
          </p:nvPr>
        </p:nvSpPr>
        <p:spPr>
          <a:xfrm>
            <a:off x="304800" y="1200151"/>
            <a:ext cx="7924800" cy="3531870"/>
          </a:xfrm>
        </p:spPr>
        <p:txBody>
          <a:bodyPr>
            <a:normAutofit lnSpcReduction="10000"/>
          </a:bodyPr>
          <a:lstStyle/>
          <a:p>
            <a:r>
              <a:rPr lang="en-US" b="1" dirty="0"/>
              <a:t>Positioning in 3D space</a:t>
            </a:r>
            <a:endParaRPr lang="en-US" dirty="0"/>
          </a:p>
          <a:p>
            <a:pPr marL="45720" indent="0">
              <a:buNone/>
            </a:pPr>
            <a:endParaRPr lang="en-US" dirty="0"/>
          </a:p>
          <a:p>
            <a:r>
              <a:rPr lang="en-US" dirty="0"/>
              <a:t>Virtual reality systems present a 3D virtual world. Users need to navigate through these spaces and manipulate the virtual objects they find there. Navigation is not simply a matter of moving to a particular location, but also of choosing a particular orientation. In addition, when you grab an object in real space, you don’t simply move it around, but also twist and turn it, for example when opening a door. Thus the move from mice to 3D devices usually involves a change from two degrees of freedom to six degrees of freedom, not just </a:t>
            </a:r>
            <a:r>
              <a:rPr lang="en-US" dirty="0" err="1"/>
              <a:t>three.Cockpit</a:t>
            </a:r>
            <a:r>
              <a:rPr lang="en-US" dirty="0"/>
              <a:t> and virtual controls</a:t>
            </a:r>
          </a:p>
          <a:p>
            <a:r>
              <a:rPr lang="en-US" dirty="0"/>
              <a:t>Helicopter and aircraft pilots already have to navigate in real space.</a:t>
            </a:r>
          </a:p>
        </p:txBody>
      </p:sp>
      <p:sp>
        <p:nvSpPr>
          <p:cNvPr id="5" name="Slide Number Placeholder 4"/>
          <p:cNvSpPr>
            <a:spLocks noGrp="1"/>
          </p:cNvSpPr>
          <p:nvPr>
            <p:ph type="sldNum" sz="quarter" idx="12"/>
          </p:nvPr>
        </p:nvSpPr>
        <p:spPr/>
        <p:txBody>
          <a:bodyPr/>
          <a:lstStyle/>
          <a:p>
            <a:fld id="{B6F15528-21DE-4FAA-801E-634DDDAF4B2B}" type="slidenum">
              <a:rPr lang="en-US" smtClean="0"/>
              <a:pPr/>
              <a:t>61</a:t>
            </a:fld>
            <a:endParaRPr lang="en-US"/>
          </a:p>
        </p:txBody>
      </p:sp>
    </p:spTree>
    <p:extLst>
      <p:ext uri="{BB962C8B-B14F-4D97-AF65-F5344CB8AC3E}">
        <p14:creationId xmlns="" xmlns:p14="http://schemas.microsoft.com/office/powerpoint/2010/main" val="3574627313"/>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09550"/>
            <a:ext cx="7315200" cy="865573"/>
          </a:xfrm>
        </p:spPr>
        <p:txBody>
          <a:bodyPr>
            <a:normAutofit fontScale="90000"/>
          </a:bodyPr>
          <a:lstStyle/>
          <a:p>
            <a:r>
              <a:rPr lang="en-US" dirty="0"/>
              <a:t>Devices for virtual reality and 3D interaction</a:t>
            </a:r>
          </a:p>
        </p:txBody>
      </p:sp>
      <p:sp>
        <p:nvSpPr>
          <p:cNvPr id="3" name="Content Placeholder 2"/>
          <p:cNvSpPr>
            <a:spLocks noGrp="1"/>
          </p:cNvSpPr>
          <p:nvPr>
            <p:ph idx="1"/>
          </p:nvPr>
        </p:nvSpPr>
        <p:spPr>
          <a:xfrm>
            <a:off x="152400" y="1200151"/>
            <a:ext cx="8077200" cy="3531870"/>
          </a:xfrm>
        </p:spPr>
        <p:txBody>
          <a:bodyPr/>
          <a:lstStyle/>
          <a:p>
            <a:r>
              <a:rPr lang="en-US" b="1" dirty="0"/>
              <a:t>The 3D mouse</a:t>
            </a:r>
            <a:endParaRPr lang="en-US" dirty="0"/>
          </a:p>
          <a:p>
            <a:endParaRPr lang="en-US" dirty="0"/>
          </a:p>
          <a:p>
            <a:r>
              <a:rPr lang="en-US" dirty="0"/>
              <a:t>There are a variety of devices that act as 3D versions of a mouse. Rather than just moving the mouse on a tabletop, you can pick it up, move it in three dimensions, rotate the mouse and tip it forward and backward. The 3D mouse has a full six degrees of freedom as its position can be tracked (three degrees), and also its up/down angle (called pitch), its left/right orientation (called yaw) and the amount it is twisted about its own axis (called roll)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62</a:t>
            </a:fld>
            <a:endParaRPr lang="en-US"/>
          </a:p>
        </p:txBody>
      </p:sp>
    </p:spTree>
    <p:extLst>
      <p:ext uri="{BB962C8B-B14F-4D97-AF65-F5344CB8AC3E}">
        <p14:creationId xmlns="" xmlns:p14="http://schemas.microsoft.com/office/powerpoint/2010/main" val="2549610564"/>
      </p:ext>
    </p:extLst>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33350"/>
            <a:ext cx="7315200" cy="865573"/>
          </a:xfrm>
        </p:spPr>
        <p:txBody>
          <a:bodyPr/>
          <a:lstStyle/>
          <a:p>
            <a:r>
              <a:rPr lang="en-US" dirty="0" smtClean="0"/>
              <a:t>Pitch, Yaw and Roll</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63</a:t>
            </a:fld>
            <a:endParaRPr lang="en-US"/>
          </a:p>
        </p:txBody>
      </p:sp>
      <p:pic>
        <p:nvPicPr>
          <p:cNvPr id="4098" name="Picture 2"/>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bwMode="auto">
          <a:xfrm>
            <a:off x="733425" y="1590675"/>
            <a:ext cx="7143750" cy="264795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2835685021"/>
      </p:ext>
    </p:extLst>
  </p:cSld>
  <p:clrMapOvr>
    <a:masterClrMapping/>
  </p:clrMapOvr>
  <p:transition spd="slow">
    <p:wip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438150"/>
            <a:ext cx="7315200" cy="865573"/>
          </a:xfrm>
        </p:spPr>
        <p:txBody>
          <a:bodyPr>
            <a:normAutofit fontScale="90000"/>
          </a:bodyPr>
          <a:lstStyle/>
          <a:p>
            <a:r>
              <a:rPr lang="en-US" b="1" dirty="0"/>
              <a:t>3D Displays</a:t>
            </a:r>
            <a:r>
              <a:rPr lang="en-US" dirty="0"/>
              <a:t/>
            </a:r>
            <a:br>
              <a:rPr lang="en-US" dirty="0"/>
            </a:br>
            <a:endParaRPr lang="en-US" dirty="0"/>
          </a:p>
        </p:txBody>
      </p:sp>
      <p:sp>
        <p:nvSpPr>
          <p:cNvPr id="3" name="Content Placeholder 2"/>
          <p:cNvSpPr>
            <a:spLocks noGrp="1"/>
          </p:cNvSpPr>
          <p:nvPr>
            <p:ph idx="1"/>
          </p:nvPr>
        </p:nvSpPr>
        <p:spPr>
          <a:xfrm>
            <a:off x="304800" y="640079"/>
            <a:ext cx="7924800" cy="4293871"/>
          </a:xfrm>
        </p:spPr>
        <p:txBody>
          <a:bodyPr>
            <a:normAutofit fontScale="85000" lnSpcReduction="20000"/>
          </a:bodyPr>
          <a:lstStyle/>
          <a:p>
            <a:pPr marL="45720" indent="0">
              <a:buNone/>
            </a:pPr>
            <a:r>
              <a:rPr lang="en-US" dirty="0"/>
              <a:t> </a:t>
            </a:r>
          </a:p>
          <a:p>
            <a:r>
              <a:rPr lang="en-US" sz="1900" b="1" dirty="0"/>
              <a:t>Seeing in 3D</a:t>
            </a:r>
            <a:endParaRPr lang="en-US" sz="1900" dirty="0"/>
          </a:p>
          <a:p>
            <a:pPr marL="45720" indent="0">
              <a:buNone/>
            </a:pPr>
            <a:r>
              <a:rPr lang="en-US" sz="1900" b="1" dirty="0"/>
              <a:t> </a:t>
            </a:r>
            <a:endParaRPr lang="en-US" sz="1900" dirty="0"/>
          </a:p>
          <a:p>
            <a:pPr lvl="1"/>
            <a:r>
              <a:rPr lang="en-US" sz="1900" dirty="0"/>
              <a:t>Our eyes use many cues to perceive depth in the real world .It is in fact quite remarkable as each eye sees only a flattened form of the world, like a photograph. One important effect is stereoscopic vision (or simply stereo vision). The ideal would be to be able to look at a special 3D screen and see 3D images just as one does with a hologram – 3D television just like in all the best sci-fi movies.</a:t>
            </a:r>
          </a:p>
          <a:p>
            <a:r>
              <a:rPr lang="en-US" sz="1900" b="1" dirty="0"/>
              <a:t>VR motion sickness</a:t>
            </a:r>
            <a:endParaRPr lang="en-US" sz="1900" dirty="0"/>
          </a:p>
          <a:p>
            <a:pPr lvl="1"/>
            <a:r>
              <a:rPr lang="en-US" sz="1900" dirty="0"/>
              <a:t>In real life when we move our head the image our eyes see changes accordingly. VR systems produce the same effect by using sensors in the goggles or helmet and then using the position of the head to determine the right image to show.</a:t>
            </a:r>
          </a:p>
          <a:p>
            <a:pPr marL="45720" indent="0">
              <a:buNone/>
            </a:pPr>
            <a:endParaRPr lang="en-US" sz="1900" dirty="0"/>
          </a:p>
          <a:p>
            <a:r>
              <a:rPr lang="en-US" sz="1900" b="1" dirty="0"/>
              <a:t>Simulators and VR caves</a:t>
            </a:r>
            <a:endParaRPr lang="en-US" sz="1900" dirty="0"/>
          </a:p>
          <a:p>
            <a:endParaRPr lang="en-US" sz="1900" dirty="0"/>
          </a:p>
          <a:p>
            <a:pPr lvl="1"/>
            <a:r>
              <a:rPr lang="en-US" sz="1900" dirty="0"/>
              <a:t>Because of the problems of delivering a full 3D environment via head-mounted displays, some virtual reality systems work by putting the user within an environment where the virtual world is displayed upon it.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64</a:t>
            </a:fld>
            <a:endParaRPr lang="en-US"/>
          </a:p>
        </p:txBody>
      </p:sp>
    </p:spTree>
    <p:extLst>
      <p:ext uri="{BB962C8B-B14F-4D97-AF65-F5344CB8AC3E}">
        <p14:creationId xmlns="" xmlns:p14="http://schemas.microsoft.com/office/powerpoint/2010/main" val="677358153"/>
      </p:ext>
    </p:extLst>
  </p:cSld>
  <p:clrMapOvr>
    <a:masterClrMapping/>
  </p:clrMapOvr>
  <p:transition spd="slow">
    <p:wip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14350"/>
            <a:ext cx="7315200" cy="865573"/>
          </a:xfrm>
        </p:spPr>
        <p:txBody>
          <a:bodyPr>
            <a:normAutofit fontScale="90000"/>
          </a:bodyPr>
          <a:lstStyle/>
          <a:p>
            <a:r>
              <a:rPr lang="en-US" dirty="0"/>
              <a:t>Physical controls, sensors and special devices</a:t>
            </a:r>
          </a:p>
        </p:txBody>
      </p:sp>
      <p:sp>
        <p:nvSpPr>
          <p:cNvPr id="3" name="Content Placeholder 2"/>
          <p:cNvSpPr>
            <a:spLocks noGrp="1"/>
          </p:cNvSpPr>
          <p:nvPr>
            <p:ph idx="1"/>
          </p:nvPr>
        </p:nvSpPr>
        <p:spPr>
          <a:xfrm>
            <a:off x="457200" y="1428751"/>
            <a:ext cx="5257800" cy="3303270"/>
          </a:xfrm>
        </p:spPr>
        <p:txBody>
          <a:bodyPr>
            <a:normAutofit/>
          </a:bodyPr>
          <a:lstStyle/>
          <a:p>
            <a:r>
              <a:rPr lang="en-US" b="1" dirty="0"/>
              <a:t>The WIMP interface</a:t>
            </a:r>
            <a:endParaRPr lang="en-US" dirty="0"/>
          </a:p>
          <a:p>
            <a:pPr lvl="1"/>
            <a:r>
              <a:rPr lang="en-US" dirty="0" smtClean="0"/>
              <a:t>Currently </a:t>
            </a:r>
            <a:r>
              <a:rPr lang="en-US" dirty="0"/>
              <a:t>many common environments for interactive computing are examples of the WIMP interface style, often simply called windowing systems. WIMP stands for </a:t>
            </a:r>
            <a:r>
              <a:rPr lang="en-US" dirty="0">
                <a:solidFill>
                  <a:schemeClr val="tx2"/>
                </a:solidFill>
              </a:rPr>
              <a:t>windows, icons, menus and pointers </a:t>
            </a:r>
            <a:r>
              <a:rPr lang="en-US" dirty="0"/>
              <a:t>(sometimes windows, icons, mice and pull-down menus), and is the default interface style for the majority of interactive computer systems in use today, especially in the PC and desktop workstation arena.</a:t>
            </a:r>
          </a:p>
        </p:txBody>
      </p:sp>
      <p:sp>
        <p:nvSpPr>
          <p:cNvPr id="5" name="Slide Number Placeholder 4"/>
          <p:cNvSpPr>
            <a:spLocks noGrp="1"/>
          </p:cNvSpPr>
          <p:nvPr>
            <p:ph type="sldNum" sz="quarter" idx="12"/>
          </p:nvPr>
        </p:nvSpPr>
        <p:spPr/>
        <p:txBody>
          <a:bodyPr/>
          <a:lstStyle/>
          <a:p>
            <a:fld id="{B6F15528-21DE-4FAA-801E-634DDDAF4B2B}" type="slidenum">
              <a:rPr lang="en-US" smtClean="0"/>
              <a:pPr/>
              <a:t>65</a:t>
            </a:fld>
            <a:endParaRPr lang="en-US"/>
          </a:p>
        </p:txBody>
      </p:sp>
      <p:pic>
        <p:nvPicPr>
          <p:cNvPr id="4098" name="Picture 2" descr="The death spiral of the WIMPs of our Time - Enterprise Irregulars"/>
          <p:cNvPicPr>
            <a:picLocks noChangeAspect="1" noChangeArrowheads="1"/>
          </p:cNvPicPr>
          <p:nvPr/>
        </p:nvPicPr>
        <p:blipFill>
          <a:blip r:embed="rId2"/>
          <a:srcRect/>
          <a:stretch>
            <a:fillRect/>
          </a:stretch>
        </p:blipFill>
        <p:spPr bwMode="auto">
          <a:xfrm>
            <a:off x="5810250" y="1962150"/>
            <a:ext cx="3333750" cy="2162176"/>
          </a:xfrm>
          <a:prstGeom prst="rect">
            <a:avLst/>
          </a:prstGeom>
          <a:noFill/>
        </p:spPr>
      </p:pic>
    </p:spTree>
    <p:extLst>
      <p:ext uri="{BB962C8B-B14F-4D97-AF65-F5344CB8AC3E}">
        <p14:creationId xmlns="" xmlns:p14="http://schemas.microsoft.com/office/powerpoint/2010/main" val="1310437402"/>
      </p:ext>
    </p:extLst>
  </p:cSld>
  <p:clrMapOvr>
    <a:masterClrMapping/>
  </p:clrMapOvr>
  <p:transition spd="slow">
    <p:wip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09550"/>
            <a:ext cx="7315200" cy="865573"/>
          </a:xfrm>
        </p:spPr>
        <p:txBody>
          <a:bodyPr>
            <a:normAutofit/>
          </a:bodyPr>
          <a:lstStyle/>
          <a:p>
            <a:r>
              <a:rPr lang="en-US" dirty="0" smtClean="0"/>
              <a:t>Paper</a:t>
            </a:r>
            <a:r>
              <a:rPr lang="en-US" dirty="0"/>
              <a:t>: printing and scanning 	</a:t>
            </a:r>
          </a:p>
        </p:txBody>
      </p:sp>
      <p:sp>
        <p:nvSpPr>
          <p:cNvPr id="3" name="Content Placeholder 2"/>
          <p:cNvSpPr>
            <a:spLocks noGrp="1"/>
          </p:cNvSpPr>
          <p:nvPr>
            <p:ph idx="1"/>
          </p:nvPr>
        </p:nvSpPr>
        <p:spPr>
          <a:xfrm>
            <a:off x="381000" y="1200151"/>
            <a:ext cx="7848600" cy="3531870"/>
          </a:xfrm>
        </p:spPr>
        <p:txBody>
          <a:bodyPr>
            <a:normAutofit/>
          </a:bodyPr>
          <a:lstStyle/>
          <a:p>
            <a:r>
              <a:rPr lang="en-US" b="1" dirty="0" err="1"/>
              <a:t>Paper:Printing</a:t>
            </a:r>
            <a:r>
              <a:rPr lang="en-US" b="1" dirty="0"/>
              <a:t> and Scanning	</a:t>
            </a:r>
            <a:endParaRPr lang="en-US" dirty="0"/>
          </a:p>
          <a:p>
            <a:r>
              <a:rPr lang="en-IN" dirty="0"/>
              <a:t>The most common types of dot-based printers are dot-matrix printers, ink-jet printers and laser printers. </a:t>
            </a:r>
            <a:endParaRPr lang="en-IN" dirty="0" smtClean="0"/>
          </a:p>
          <a:p>
            <a:r>
              <a:rPr lang="en-IN" dirty="0" smtClean="0"/>
              <a:t>These </a:t>
            </a:r>
            <a:r>
              <a:rPr lang="en-IN" dirty="0"/>
              <a:t>are listed roughly in order of increasing resolution and quality, where dot-matrix printers typically have a resolution of 80–120 dpi rising   to about 300–600 dpi for ink-jet printers and 600–2400 dpi for laser printers. </a:t>
            </a:r>
            <a:endParaRPr lang="en-IN" dirty="0" smtClean="0"/>
          </a:p>
          <a:p>
            <a:r>
              <a:rPr lang="en-IN" dirty="0" smtClean="0"/>
              <a:t>By </a:t>
            </a:r>
            <a:r>
              <a:rPr lang="en-IN" dirty="0"/>
              <a:t>varying the quantity of ink and quality of paper, ink-jet printers can be used to print photo-quality prints from digital photographs</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66</a:t>
            </a:fld>
            <a:endParaRPr lang="en-US"/>
          </a:p>
        </p:txBody>
      </p:sp>
    </p:spTree>
    <p:extLst>
      <p:ext uri="{BB962C8B-B14F-4D97-AF65-F5344CB8AC3E}">
        <p14:creationId xmlns="" xmlns:p14="http://schemas.microsoft.com/office/powerpoint/2010/main" val="4085706371"/>
      </p:ext>
    </p:extLst>
  </p:cSld>
  <p:clrMapOvr>
    <a:masterClrMapping/>
  </p:clrMapOvr>
  <p:transition spd="slow">
    <p:wip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33350"/>
            <a:ext cx="7315200" cy="865573"/>
          </a:xfrm>
        </p:spPr>
        <p:txBody>
          <a:bodyPr/>
          <a:lstStyle/>
          <a:p>
            <a:r>
              <a:rPr lang="en-US" dirty="0" smtClean="0"/>
              <a:t>Interaction styles</a:t>
            </a:r>
            <a:endParaRPr lang="en-US" dirty="0"/>
          </a:p>
        </p:txBody>
      </p:sp>
      <p:sp>
        <p:nvSpPr>
          <p:cNvPr id="3" name="Content Placeholder 2"/>
          <p:cNvSpPr>
            <a:spLocks noGrp="1"/>
          </p:cNvSpPr>
          <p:nvPr>
            <p:ph idx="1"/>
          </p:nvPr>
        </p:nvSpPr>
        <p:spPr>
          <a:xfrm>
            <a:off x="457200" y="1047751"/>
            <a:ext cx="7772400" cy="3684270"/>
          </a:xfrm>
        </p:spPr>
        <p:txBody>
          <a:bodyPr>
            <a:normAutofit fontScale="55000" lnSpcReduction="20000"/>
          </a:bodyPr>
          <a:lstStyle/>
          <a:p>
            <a:r>
              <a:rPr lang="en-US" sz="3200" dirty="0"/>
              <a:t>Interaction can be seen as a dialog between the computer and the user. The choice of interface style can have a profound effect on the nature of this dialog. </a:t>
            </a:r>
          </a:p>
          <a:p>
            <a:r>
              <a:rPr lang="en-US" sz="3200" dirty="0"/>
              <a:t>There are a number of common interface styles including</a:t>
            </a:r>
          </a:p>
          <a:p>
            <a:endParaRPr lang="en-US" dirty="0"/>
          </a:p>
          <a:p>
            <a:pPr lvl="1"/>
            <a:r>
              <a:rPr lang="en-US" sz="3200" dirty="0"/>
              <a:t>command line interface</a:t>
            </a:r>
          </a:p>
          <a:p>
            <a:pPr lvl="1"/>
            <a:r>
              <a:rPr lang="en-US" sz="3200" dirty="0"/>
              <a:t> </a:t>
            </a:r>
            <a:r>
              <a:rPr lang="en-US" sz="3200" dirty="0" smtClean="0"/>
              <a:t>menus</a:t>
            </a:r>
            <a:endParaRPr lang="en-US" sz="3200" dirty="0"/>
          </a:p>
          <a:p>
            <a:pPr lvl="1"/>
            <a:r>
              <a:rPr lang="en-US" sz="3200" dirty="0"/>
              <a:t> </a:t>
            </a:r>
            <a:r>
              <a:rPr lang="en-US" sz="3200" dirty="0" smtClean="0"/>
              <a:t>natural </a:t>
            </a:r>
            <a:r>
              <a:rPr lang="en-US" sz="3200" dirty="0"/>
              <a:t>language</a:t>
            </a:r>
          </a:p>
          <a:p>
            <a:pPr lvl="1"/>
            <a:r>
              <a:rPr lang="en-US" sz="3200" dirty="0"/>
              <a:t> </a:t>
            </a:r>
            <a:r>
              <a:rPr lang="en-US" sz="3200" dirty="0" smtClean="0"/>
              <a:t>question/answer </a:t>
            </a:r>
            <a:r>
              <a:rPr lang="en-US" sz="3200" dirty="0"/>
              <a:t>and query dialog</a:t>
            </a:r>
          </a:p>
          <a:p>
            <a:pPr lvl="1"/>
            <a:r>
              <a:rPr lang="en-US" sz="3200" dirty="0"/>
              <a:t> </a:t>
            </a:r>
            <a:r>
              <a:rPr lang="en-US" sz="3200" dirty="0" smtClean="0"/>
              <a:t>form-fills </a:t>
            </a:r>
            <a:r>
              <a:rPr lang="en-US" sz="3200" dirty="0"/>
              <a:t>and spreadsheets</a:t>
            </a:r>
          </a:p>
          <a:p>
            <a:pPr lvl="1"/>
            <a:r>
              <a:rPr lang="en-US" sz="3200" dirty="0"/>
              <a:t> </a:t>
            </a:r>
            <a:r>
              <a:rPr lang="en-US" sz="3200" dirty="0" smtClean="0"/>
              <a:t>WIMP</a:t>
            </a:r>
            <a:endParaRPr lang="en-US" sz="3200" dirty="0"/>
          </a:p>
          <a:p>
            <a:pPr lvl="1"/>
            <a:r>
              <a:rPr lang="en-US" sz="3200" dirty="0"/>
              <a:t> </a:t>
            </a:r>
            <a:r>
              <a:rPr lang="en-US" sz="3200" dirty="0" smtClean="0"/>
              <a:t>point </a:t>
            </a:r>
            <a:r>
              <a:rPr lang="en-US" sz="3200" dirty="0"/>
              <a:t>and click</a:t>
            </a:r>
          </a:p>
          <a:p>
            <a:pPr lvl="1"/>
            <a:r>
              <a:rPr lang="en-US" sz="3200" dirty="0"/>
              <a:t> </a:t>
            </a:r>
            <a:r>
              <a:rPr lang="en-US" sz="3200" dirty="0" smtClean="0"/>
              <a:t>three-dimensional </a:t>
            </a:r>
            <a:r>
              <a:rPr lang="en-US" sz="3200" dirty="0"/>
              <a:t>interfaces.</a:t>
            </a:r>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67</a:t>
            </a:fld>
            <a:endParaRPr lang="en-US"/>
          </a:p>
        </p:txBody>
      </p:sp>
    </p:spTree>
    <p:extLst>
      <p:ext uri="{BB962C8B-B14F-4D97-AF65-F5344CB8AC3E}">
        <p14:creationId xmlns="" xmlns:p14="http://schemas.microsoft.com/office/powerpoint/2010/main" val="1391930883"/>
      </p:ext>
    </p:extLst>
  </p:cSld>
  <p:clrMapOvr>
    <a:masterClrMapping/>
  </p:clrMapOvr>
  <p:transition spd="slow">
    <p:wip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Hints:</a:t>
            </a:r>
            <a:endParaRPr lang="en-US" dirty="0"/>
          </a:p>
        </p:txBody>
      </p:sp>
      <p:sp>
        <p:nvSpPr>
          <p:cNvPr id="3" name="Content Placeholder 2"/>
          <p:cNvSpPr>
            <a:spLocks noGrp="1"/>
          </p:cNvSpPr>
          <p:nvPr>
            <p:ph idx="1"/>
          </p:nvPr>
        </p:nvSpPr>
        <p:spPr/>
        <p:txBody>
          <a:bodyPr/>
          <a:lstStyle/>
          <a:p>
            <a:r>
              <a:rPr lang="en-US" dirty="0" smtClean="0"/>
              <a:t>Batch processing is a method of processing data where a group of transactions is collected over a period of time and processed all at once. </a:t>
            </a:r>
            <a:endParaRPr lang="en-US" dirty="0" smtClean="0"/>
          </a:p>
          <a:p>
            <a:r>
              <a:rPr lang="en-US" dirty="0" smtClean="0"/>
              <a:t>Some </a:t>
            </a:r>
            <a:r>
              <a:rPr lang="en-US" dirty="0" smtClean="0"/>
              <a:t>examples of batch processing include payroll processing, billing systems, end-of-day reports in banking, and processing of credit card transactions</a:t>
            </a:r>
            <a:r>
              <a:rPr lang="en-US" dirty="0" smtClean="0"/>
              <a:t>. </a:t>
            </a:r>
            <a:r>
              <a:rPr lang="en-US" dirty="0" smtClean="0">
                <a:hlinkClick r:id="rId2" action="ppaction://hlinksldjump"/>
              </a:rPr>
              <a:t>back</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68</a:t>
            </a:fld>
            <a:endParaRPr lang="en-US"/>
          </a:p>
        </p:txBody>
      </p:sp>
    </p:spTree>
  </p:cSld>
  <p:clrMapOvr>
    <a:masterClrMapping/>
  </p:clrMapOvr>
  <p:transition spd="slow">
    <p:wip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erspective">
  <a:themeElements>
    <a:clrScheme name="Perspective">
      <a:dk1>
        <a:sysClr val="windowText" lastClr="000000"/>
      </a:dk1>
      <a:lt1>
        <a:sysClr val="window" lastClr="FFFFFF"/>
      </a:lt1>
      <a:dk2>
        <a:srgbClr val="283138"/>
      </a:dk2>
      <a:lt2>
        <a:srgbClr val="FF8600"/>
      </a:lt2>
      <a:accent1>
        <a:srgbClr val="838D9B"/>
      </a:accent1>
      <a:accent2>
        <a:srgbClr val="D2610C"/>
      </a:accent2>
      <a:accent3>
        <a:srgbClr val="80716A"/>
      </a:accent3>
      <a:accent4>
        <a:srgbClr val="94147C"/>
      </a:accent4>
      <a:accent5>
        <a:srgbClr val="5D5AD2"/>
      </a:accent5>
      <a:accent6>
        <a:srgbClr val="6F6C7D"/>
      </a:accent6>
      <a:hlink>
        <a:srgbClr val="6187E3"/>
      </a:hlink>
      <a:folHlink>
        <a:srgbClr val="7B8EB8"/>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erspective">
      <a:fillStyleLst>
        <a:solidFill>
          <a:schemeClr val="phClr"/>
        </a:solidFill>
        <a:gradFill rotWithShape="1">
          <a:gsLst>
            <a:gs pos="0">
              <a:schemeClr val="phClr">
                <a:tint val="50000"/>
                <a:alpha val="100000"/>
                <a:satMod val="160000"/>
                <a:lumMod val="105000"/>
              </a:schemeClr>
            </a:gs>
            <a:gs pos="41000">
              <a:schemeClr val="phClr">
                <a:tint val="57000"/>
                <a:satMod val="180000"/>
                <a:lumMod val="99000"/>
              </a:schemeClr>
            </a:gs>
            <a:gs pos="100000">
              <a:schemeClr val="phClr">
                <a:tint val="80000"/>
                <a:satMod val="200000"/>
                <a:lumMod val="104000"/>
              </a:schemeClr>
            </a:gs>
          </a:gsLst>
          <a:lin ang="5400000" scaled="1"/>
        </a:gradFill>
        <a:gradFill rotWithShape="1">
          <a:gsLst>
            <a:gs pos="0">
              <a:schemeClr val="phClr">
                <a:tint val="96000"/>
                <a:satMod val="130000"/>
                <a:lumMod val="114000"/>
              </a:schemeClr>
            </a:gs>
            <a:gs pos="60000">
              <a:schemeClr val="phClr">
                <a:tint val="100000"/>
                <a:satMod val="106000"/>
                <a:lumMod val="110000"/>
              </a:schemeClr>
            </a:gs>
            <a:gs pos="100000">
              <a:schemeClr val="ph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50800" dist="38100" dir="5400000" rotWithShape="0">
              <a:srgbClr val="000000">
                <a:alpha val="28000"/>
              </a:srgbClr>
            </a:outerShdw>
          </a:effectLst>
        </a:effectStyle>
        <a:effectStyle>
          <a:effectLst>
            <a:outerShdw blurRad="47625" dist="38100" dir="5400000" sy="98000" rotWithShape="0">
              <a:srgbClr val="000000">
                <a:alpha val="48000"/>
              </a:srgbClr>
            </a:outerShdw>
          </a:effectLst>
          <a:scene3d>
            <a:camera prst="orthographicFront">
              <a:rot lat="0" lon="0" rev="0"/>
            </a:camera>
            <a:lightRig rig="twoPt" dir="br">
              <a:rot lat="0" lon="0" rev="8700000"/>
            </a:lightRig>
          </a:scene3d>
          <a:sp3d prstMaterial="matte">
            <a:bevelT w="25400" h="53975"/>
          </a:sp3d>
        </a:effectStyle>
        <a:effectStyle>
          <a:effectLst>
            <a:reflection blurRad="12700" stA="24000" endPos="28000" dist="50800" dir="5400000" sy="-100000" rotWithShape="0"/>
          </a:effectLst>
          <a:scene3d>
            <a:camera prst="orthographicFront">
              <a:rot lat="0" lon="0" rev="0"/>
            </a:camera>
            <a:lightRig rig="threePt" dir="t">
              <a:rot lat="0" lon="0" rev="4800000"/>
            </a:lightRig>
          </a:scene3d>
          <a:sp3d>
            <a:bevelT w="69850" h="31750"/>
          </a:sp3d>
        </a:effectStyle>
      </a:effectStyleLst>
      <a:bgFillStyleLst>
        <a:solidFill>
          <a:schemeClr val="phClr"/>
        </a:solidFill>
        <a:gradFill rotWithShape="1">
          <a:gsLst>
            <a:gs pos="0">
              <a:schemeClr val="phClr">
                <a:tint val="100000"/>
                <a:shade val="80000"/>
                <a:satMod val="100000"/>
                <a:lumMod val="100000"/>
              </a:schemeClr>
            </a:gs>
            <a:gs pos="65000">
              <a:schemeClr val="phClr">
                <a:tint val="100000"/>
                <a:shade val="95000"/>
                <a:satMod val="100000"/>
                <a:lumMod val="100000"/>
              </a:schemeClr>
            </a:gs>
            <a:gs pos="100000">
              <a:schemeClr val="phClr">
                <a:tint val="88000"/>
                <a:shade val="100000"/>
                <a:satMod val="400000"/>
                <a:lumMod val="100000"/>
              </a:schemeClr>
            </a:gs>
          </a:gsLst>
          <a:lin ang="5400000" scaled="0"/>
        </a:gradFill>
        <a:blipFill rotWithShape="1">
          <a:blip xmlns:r="http://schemas.openxmlformats.org/officeDocument/2006/relationships" r:embed="rId1">
            <a:duotone>
              <a:schemeClr val="phClr">
                <a:tint val="95000"/>
                <a:satMod val="90000"/>
              </a:schemeClr>
              <a:schemeClr val="phClr">
                <a:shade val="92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Perspective</Template>
  <TotalTime>10385</TotalTime>
  <Words>2854</Words>
  <Application>Microsoft Office PowerPoint</Application>
  <PresentationFormat>On-screen Show (16:9)</PresentationFormat>
  <Paragraphs>409</Paragraphs>
  <Slides>68</Slides>
  <Notes>1</Notes>
  <HiddenSlides>0</HiddenSlides>
  <MMClips>0</MMClips>
  <ScaleCrop>false</ScaleCrop>
  <HeadingPairs>
    <vt:vector size="4" baseType="variant">
      <vt:variant>
        <vt:lpstr>Theme</vt:lpstr>
      </vt:variant>
      <vt:variant>
        <vt:i4>1</vt:i4>
      </vt:variant>
      <vt:variant>
        <vt:lpstr>Slide Titles</vt:lpstr>
      </vt:variant>
      <vt:variant>
        <vt:i4>68</vt:i4>
      </vt:variant>
    </vt:vector>
  </HeadingPairs>
  <TitlesOfParts>
    <vt:vector size="69" baseType="lpstr">
      <vt:lpstr>Perspective</vt:lpstr>
      <vt:lpstr>  Human Computer                Interaction</vt:lpstr>
      <vt:lpstr>Outline</vt:lpstr>
      <vt:lpstr>Introduction</vt:lpstr>
      <vt:lpstr>Introduction</vt:lpstr>
      <vt:lpstr>Interfaces in the Real World</vt:lpstr>
      <vt:lpstr>Introduction</vt:lpstr>
      <vt:lpstr>Introduction</vt:lpstr>
      <vt:lpstr>Contd..,</vt:lpstr>
      <vt:lpstr>Introduction</vt:lpstr>
      <vt:lpstr>Input–output channels</vt:lpstr>
      <vt:lpstr>Input–output channels</vt:lpstr>
      <vt:lpstr>Input–output channels</vt:lpstr>
      <vt:lpstr>Input–output channels</vt:lpstr>
      <vt:lpstr>Input–output channels</vt:lpstr>
      <vt:lpstr>How does the eye perceive size, depth and relative distances?</vt:lpstr>
      <vt:lpstr>The capabilities and limitations of visual processing</vt:lpstr>
      <vt:lpstr>Other input–output channels</vt:lpstr>
      <vt:lpstr>HUMAN MEMORY</vt:lpstr>
      <vt:lpstr> Sensory memory </vt:lpstr>
      <vt:lpstr> Short-term memory </vt:lpstr>
      <vt:lpstr>Long-term memory </vt:lpstr>
      <vt:lpstr>Long-term memory  </vt:lpstr>
      <vt:lpstr>    Structure of Memory representation  </vt:lpstr>
      <vt:lpstr>Structure of Memory representation  </vt:lpstr>
      <vt:lpstr>Structure of Memory representation </vt:lpstr>
      <vt:lpstr>THINKING: REASONING AND PROBLEM SOLVING</vt:lpstr>
      <vt:lpstr>Reasoning</vt:lpstr>
      <vt:lpstr>Reasoning</vt:lpstr>
      <vt:lpstr>Reasoning</vt:lpstr>
      <vt:lpstr>Reasoning</vt:lpstr>
      <vt:lpstr>Problem solving</vt:lpstr>
      <vt:lpstr>Problem solving</vt:lpstr>
      <vt:lpstr>Problem solving</vt:lpstr>
      <vt:lpstr>Problem solving</vt:lpstr>
      <vt:lpstr>Problem solving</vt:lpstr>
      <vt:lpstr>Problem solving</vt:lpstr>
      <vt:lpstr>  Design of interactive systems   </vt:lpstr>
      <vt:lpstr>Gulf of Execution &amp; Evaluation</vt:lpstr>
      <vt:lpstr>Gulf of Execution &amp; Evaluation</vt:lpstr>
      <vt:lpstr>Gulf of Execution &amp; Evaluation</vt:lpstr>
      <vt:lpstr>Models of Interaction</vt:lpstr>
      <vt:lpstr>Norman’s Execution-Evaluation Cycle</vt:lpstr>
      <vt:lpstr>Norman’s Execution-Evaluation Cycle</vt:lpstr>
      <vt:lpstr>Norman’s Execution-Evaluation Cycle</vt:lpstr>
      <vt:lpstr>Bridging the Gap</vt:lpstr>
      <vt:lpstr>The Interaction Framework</vt:lpstr>
      <vt:lpstr>Text entry devices</vt:lpstr>
      <vt:lpstr>The QWERTY keyboard </vt:lpstr>
      <vt:lpstr>Alphabetic Layout</vt:lpstr>
      <vt:lpstr>Dvorak Layout</vt:lpstr>
      <vt:lpstr>Special Keyboards</vt:lpstr>
      <vt:lpstr>Phone pads</vt:lpstr>
      <vt:lpstr>Numeric Keypad</vt:lpstr>
      <vt:lpstr>      Chord keyboards </vt:lpstr>
      <vt:lpstr>Positioning, pointing and drawing</vt:lpstr>
      <vt:lpstr>Touchpad </vt:lpstr>
      <vt:lpstr>Trackball and thumbwheel </vt:lpstr>
      <vt:lpstr>Stylus and light pen </vt:lpstr>
      <vt:lpstr>Slide 59</vt:lpstr>
      <vt:lpstr>Display devices </vt:lpstr>
      <vt:lpstr>Devices for virtual reality and 3D interaction</vt:lpstr>
      <vt:lpstr>Devices for virtual reality and 3D interaction</vt:lpstr>
      <vt:lpstr>Pitch, Yaw and Roll</vt:lpstr>
      <vt:lpstr>3D Displays </vt:lpstr>
      <vt:lpstr>Physical controls, sensors and special devices</vt:lpstr>
      <vt:lpstr>Paper: printing and scanning  </vt:lpstr>
      <vt:lpstr>Interaction styles</vt:lpstr>
      <vt:lpstr>Hints: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vitbpl</dc:creator>
  <cp:lastModifiedBy>Personal</cp:lastModifiedBy>
  <cp:revision>192</cp:revision>
  <dcterms:created xsi:type="dcterms:W3CDTF">2006-08-16T00:00:00Z</dcterms:created>
  <dcterms:modified xsi:type="dcterms:W3CDTF">2024-01-03T05:03:19Z</dcterms:modified>
</cp:coreProperties>
</file>